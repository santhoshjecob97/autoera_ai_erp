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COVER
Open with energy. Let the ₹9,000 Crore number hit first before you say a word.
"India has 26,000 automotive dealerships. Every single one is losing ₹3 to 8 Lakhs every month because of missed leads, manual job cards, and zero AI. AutoEra AI is the operating system that fixes this."
Then: "I'm SJ, and I've spent 12 years watching this problem go unsolved. Today, I'm going to show you why now is the time and why AutoEra AI is the answer."
Duration: 30 seconds on this slide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PROBLEM
"Let me show you what a typical day looks like for an Indian car dealer."
Walk through each problem card top-left to bottom-right. The key emotional moment is: "70% of customers who buy a car from a dealer never come back for their second service. Not because they went to a competitor — because nobody called them."
Then: "This is not a technology problem. The data, the tools, the AI models — they all exist. The problem is nobody has built a product for India, for Tamil Nadu, that works the way dealers actually work — on WhatsApp, in Tamil."
Duration: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SOLUTION
"AutoEra AI is not another software dashboard. It is an AI workforce for your dealership."
"Today a service advisor creates a job card in 8 minutes with a pen and paper. With AutoEra AI: they speak the complaint into their phone in Tamil, the number plate is scanned automatically, and a complete digital job card is created in 90 seconds — with the customer receiving a WhatsApp message confirming their car has been received. Zero typing. Zero manual process."
"The Tamil Voice Agent makes outbound calls to Hot leads — in Tamil — without a single human being involved. It books test drives, handles objections, and logs the outcome in the CRM."
Duration: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MARKET
"The global automotive SaaS market is $39 Billion by 2030. India alone represents a ₹9,000 Crore software opportunity. And today — zero meaningful AI solutions exist for Indian dealers."
"Our initial focus is Tamil Nadu — 3,000 dealerships, every dealer we meet has the same pain. Chennai alone has 400+ car dealers within 20km of each other. That's our Year 1 cluster."
"The timing is perfect: India's EV market is growing at 55% per year. Every EV dealer needs battery intelligence. Every fleet operator needs predictive maintenance. This problem is getting bigger, not smaller."
Duration: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BUSINESS MODEL
"AutoEra AI has a simple, high-margin SaaS model. ₹2,499 to ₹9,999 per dealer per month — starting at the price of two business lunches."
"The unit economics are exceptional: Customer Acquisition Cost of ₹12,000. Lifetime Value of ₹4.32 Lakhs. LTV:CAC ratio of 36 times. Industry benchmark is 3 times. We are 12 times better."
"Why? Because dealers who integrate AutoEra AI into their service process cannot easily leave — their customer data, service history, and AI model training data are all inside AutoEra AI. This is genuine workflow lock-in, not just contract lock-in."
Duration: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TRACTION
"We are pre-revenue but post-validation. The difference matters."
"I have personally spoken to over 50 dealers in Chennai. 94% confirmed the same three pain points: missed leads, slow job cards, and uncollected insurance renewals. This is not a survey — these are face-to-face conversations with the owners and GMs of Chennai's largest dealerships."
"Five of those dealers have already signed Letters of Intent to pilot AutoEra AI. They know what's coming and they're waiting."
"Our MVP is in active development. The job card creation flow works. WhatsApp is integrated. By Month 3, the first dealer goes live."
Duration: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COMPETITIVE ADVANTAGE
"Every box in the AutoEra AI column is checked. None of them are in any competitor's column."
"Tekion is a $1.2 Billion US company. CDK is a $15 Billion US company. Neither of them speaks Tamil. Neither of them works on WhatsApp. Neither of them is priced for India. They are building for US and Europe."
"Our moat is three things that compound together: Tamil language AI takes 3 years to build properly — that's our head start. WhatsApp-first means dealers never need to change their behaviour — adoption is near-zero friction. And as we accumulate dealer data, our AI gets better — which attracts more dealers — which generates more data. This is a flywheel that compounds."
Duration: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GO-TO-MARKET
"Our go-to-market is founder-led, geographically concentrated, and relationship-driven."
"Phase 1 is not 'sell to Tamil Nadu.' Phase 1 is 'own 50 dealers in a 10km radius of Valasaravakkam.' Why? Because 50 dealers in the same cluster creates local network effects — dealers talk to each other. When dealer #12 tells dealer #13 that AutoEra AI recovered ₹4 Lakhs last month, I don't need to make a sales call."
"The FADA partnership is our unlock for Phase 2. FADA's Tamil Nadu chapter has 1,200+ dealer members. One presentation at their quarterly meeting reaches our entire Year 2 target audience."
Duration: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TEAM &amp; FINANCIALS
"I want to be direct about where we are: I am a one-founder company today, and I know what I don't know."
"What I bring: 12 years of automotive industry relationships in Tamil Nadu. I know the Dealer Principals by name. I have walked the service floors. I understand what makes a technician adopt or reject new technology."
"What I'm hiring: Engineers who build, not who plan. A Tamil-speaking CS Manager from Day 1 — because dealer retention is revenue. An AI engineer from Month 3 — because Tamil Voice is the moat."
"The 3-year financials are conservative: ₹96 Lakhs ARR in Year 1, ₹40 Crore ARR in Year 3. These are bottom-up numbers — dealer count times average MRR — not top-down market share assumptions."
Duration: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FUNDING ASK
"I'm asking for ₹2 Crore at ₹12 Crore pre-money valuation."
"Here's what that capital does: By Month 3, the product is live in 5 dealers. By Month 6, we have PMF signal — 30 paying dealers, NPS above 40. By Month 12, we have 80 dealers and ₹8 Lakhs MRR. By Month 18, we are having a Series A conversation from a position of strength."
"For every rupee you invest today, our projections suggest ₹10–20 return within 5 years as we scale to ₹40 Crore ARR and raise at a 15× revenue multiple."
"More important than the numbers: you are backing India's first Tamil-language automotive AI — in a market that is completely unserved, at the exact moment when every dealer in India needs this."
"The automotive industry has been waiting 30 years for this. AutoEra AI is the answer."
[PAUSE. Make eye contact. Let them ask questions.]
Duration: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0"/>
            <a:ext cx="12188952" cy="36576"/>
          </a:xfrm>
          <a:prstGeom prst="rect">
            <a:avLst/>
          </a:prstGeom>
          <a:solidFill>
            <a:srgbClr val="CC4500"/>
          </a:solidFill>
          <a:ln w="12700">
            <a:solidFill>
              <a:srgbClr val="CC4500"/>
            </a:solidFill>
            <a:prstDash val="solid"/>
          </a:ln>
        </p:spPr>
      </p:sp>
      <p:sp>
        <p:nvSpPr>
          <p:cNvPr id="4" name="Shape 2"/>
          <p:cNvSpPr/>
          <p:nvPr/>
        </p:nvSpPr>
        <p:spPr>
          <a:xfrm>
            <a:off x="0" y="36576"/>
            <a:ext cx="5669280" cy="6821424"/>
          </a:xfrm>
          <a:prstGeom prst="rect">
            <a:avLst/>
          </a:prstGeom>
          <a:solidFill>
            <a:srgbClr val="0A1F3F"/>
          </a:solidFill>
          <a:ln w="12700">
            <a:solidFill>
              <a:srgbClr val="0A1F3F"/>
            </a:solidFill>
            <a:prstDash val="solid"/>
          </a:ln>
        </p:spPr>
      </p:sp>
      <p:sp>
        <p:nvSpPr>
          <p:cNvPr id="5" name="Shape 3"/>
          <p:cNvSpPr/>
          <p:nvPr/>
        </p:nvSpPr>
        <p:spPr>
          <a:xfrm>
            <a:off x="5669280" y="36576"/>
            <a:ext cx="54864" cy="6821424"/>
          </a:xfrm>
          <a:prstGeom prst="rect">
            <a:avLst/>
          </a:prstGeom>
          <a:solidFill>
            <a:srgbClr val="CC4500"/>
          </a:solidFill>
          <a:ln w="12700">
            <a:solidFill>
              <a:srgbClr val="CC4500"/>
            </a:solidFill>
            <a:prstDash val="solid"/>
          </a:ln>
        </p:spPr>
      </p:sp>
      <p:sp>
        <p:nvSpPr>
          <p:cNvPr id="6" name="Text 4"/>
          <p:cNvSpPr/>
          <p:nvPr/>
        </p:nvSpPr>
        <p:spPr>
          <a:xfrm>
            <a:off x="502920" y="502920"/>
            <a:ext cx="2011680" cy="41148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AUTO</a:t>
            </a:r>
            <a:pPr indent="0" marL="0">
              <a:buNone/>
            </a:pPr>
            <a:r>
              <a:rPr lang="en-US" sz="2800" b="1" dirty="0">
                <a:solidFill>
                  <a:srgbClr val="CC4500"/>
                </a:solidFill>
                <a:latin typeface="Arial" pitchFamily="34" charset="0"/>
                <a:ea typeface="Arial" pitchFamily="34" charset="-122"/>
                <a:cs typeface="Arial" pitchFamily="34" charset="-120"/>
              </a:rPr>
              <a:t>ERA</a:t>
            </a:r>
            <a:pPr indent="0" marL="0">
              <a:buNone/>
            </a:pPr>
            <a:r>
              <a:rPr lang="en-US" sz="2800" dirty="0">
                <a:solidFill>
                  <a:srgbClr val="FFFFFF"/>
                </a:solidFill>
                <a:latin typeface="Arial" pitchFamily="34" charset="0"/>
                <a:ea typeface="Arial" pitchFamily="34" charset="-122"/>
                <a:cs typeface="Arial" pitchFamily="34" charset="-120"/>
              </a:rPr>
              <a:t> AI</a:t>
            </a:r>
            <a:endParaRPr lang="en-US" sz="2800" dirty="0"/>
          </a:p>
        </p:txBody>
      </p:sp>
      <p:sp>
        <p:nvSpPr>
          <p:cNvPr id="7" name="Text 5"/>
          <p:cNvSpPr/>
          <p:nvPr/>
        </p:nvSpPr>
        <p:spPr>
          <a:xfrm>
            <a:off x="502920" y="868680"/>
            <a:ext cx="502920" cy="274320"/>
          </a:xfrm>
          <a:prstGeom prst="rect">
            <a:avLst/>
          </a:prstGeom>
          <a:solidFill>
            <a:srgbClr val="CC4500"/>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AI</a:t>
            </a:r>
            <a:endParaRPr lang="en-US" sz="1100" dirty="0"/>
          </a:p>
        </p:txBody>
      </p:sp>
      <p:sp>
        <p:nvSpPr>
          <p:cNvPr id="8" name="Shape 6"/>
          <p:cNvSpPr/>
          <p:nvPr/>
        </p:nvSpPr>
        <p:spPr>
          <a:xfrm>
            <a:off x="502920" y="1371600"/>
            <a:ext cx="1645920" cy="36576"/>
          </a:xfrm>
          <a:prstGeom prst="rect">
            <a:avLst/>
          </a:prstGeom>
          <a:solidFill>
            <a:srgbClr val="CC4500"/>
          </a:solidFill>
          <a:ln w="12700">
            <a:solidFill>
              <a:srgbClr val="CC4500"/>
            </a:solidFill>
            <a:prstDash val="solid"/>
          </a:ln>
        </p:spPr>
      </p:sp>
      <p:sp>
        <p:nvSpPr>
          <p:cNvPr id="9" name="Text 7"/>
          <p:cNvSpPr/>
          <p:nvPr/>
        </p:nvSpPr>
        <p:spPr>
          <a:xfrm>
            <a:off x="502920" y="1508760"/>
            <a:ext cx="4846320" cy="164592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The Intelligence</a:t>
            </a:r>
            <a:endParaRPr lang="en-US" sz="3600" dirty="0"/>
          </a:p>
          <a:p>
            <a:pPr algn="l" indent="0" marL="0">
              <a:buNone/>
            </a:pPr>
            <a:r>
              <a:rPr lang="en-US" sz="3600" b="1" dirty="0">
                <a:solidFill>
                  <a:srgbClr val="FFFFFF"/>
                </a:solidFill>
                <a:latin typeface="Arial" pitchFamily="34" charset="0"/>
                <a:ea typeface="Arial" pitchFamily="34" charset="-122"/>
                <a:cs typeface="Arial" pitchFamily="34" charset="-120"/>
              </a:rPr>
              <a:t>Behind Every Drive</a:t>
            </a:r>
            <a:endParaRPr lang="en-US" sz="3600" dirty="0"/>
          </a:p>
        </p:txBody>
      </p:sp>
      <p:sp>
        <p:nvSpPr>
          <p:cNvPr id="10" name="Text 8"/>
          <p:cNvSpPr/>
          <p:nvPr/>
        </p:nvSpPr>
        <p:spPr>
          <a:xfrm>
            <a:off x="502920" y="3154680"/>
            <a:ext cx="4846320" cy="457200"/>
          </a:xfrm>
          <a:prstGeom prst="rect">
            <a:avLst/>
          </a:prstGeom>
          <a:noFill/>
          <a:ln/>
        </p:spPr>
        <p:txBody>
          <a:bodyPr wrap="square" lIns="0" tIns="0" rIns="0" bIns="0" rtlCol="0" anchor="ctr"/>
          <a:lstStyle/>
          <a:p>
            <a:pPr algn="l" indent="0" marL="0">
              <a:buNone/>
            </a:pPr>
            <a:r>
              <a:rPr lang="en-US" sz="1500" i="1" dirty="0">
                <a:solidFill>
                  <a:srgbClr val="8899BB"/>
                </a:solidFill>
                <a:latin typeface="Arial" pitchFamily="34" charset="0"/>
                <a:ea typeface="Arial" pitchFamily="34" charset="-122"/>
                <a:cs typeface="Arial" pitchFamily="34" charset="-120"/>
              </a:rPr>
              <a:t>India's First AI-Native Automotive Operating System</a:t>
            </a:r>
            <a:endParaRPr lang="en-US" sz="1500" dirty="0"/>
          </a:p>
        </p:txBody>
      </p:sp>
      <p:sp>
        <p:nvSpPr>
          <p:cNvPr id="11" name="Shape 9"/>
          <p:cNvSpPr/>
          <p:nvPr/>
        </p:nvSpPr>
        <p:spPr>
          <a:xfrm>
            <a:off x="502920" y="3749040"/>
            <a:ext cx="4754880" cy="36576"/>
          </a:xfrm>
          <a:prstGeom prst="rect">
            <a:avLst/>
          </a:prstGeom>
          <a:solidFill>
            <a:srgbClr val="CC4500"/>
          </a:solidFill>
          <a:ln w="12700">
            <a:solidFill>
              <a:srgbClr val="CC4500"/>
            </a:solidFill>
            <a:prstDash val="solid"/>
          </a:ln>
        </p:spPr>
      </p:sp>
      <p:sp>
        <p:nvSpPr>
          <p:cNvPr id="12" name="Text 10"/>
          <p:cNvSpPr/>
          <p:nvPr/>
        </p:nvSpPr>
        <p:spPr>
          <a:xfrm>
            <a:off x="502920" y="3886200"/>
            <a:ext cx="48463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SJ — Santhosh Jecob</a:t>
            </a:r>
            <a:endParaRPr lang="en-US" sz="1800" dirty="0"/>
          </a:p>
        </p:txBody>
      </p:sp>
      <p:sp>
        <p:nvSpPr>
          <p:cNvPr id="13" name="Text 11"/>
          <p:cNvSpPr/>
          <p:nvPr/>
        </p:nvSpPr>
        <p:spPr>
          <a:xfrm>
            <a:off x="502920" y="4206240"/>
            <a:ext cx="4846320" cy="274320"/>
          </a:xfrm>
          <a:prstGeom prst="rect">
            <a:avLst/>
          </a:prstGeom>
          <a:noFill/>
          <a:ln/>
        </p:spPr>
        <p:txBody>
          <a:bodyPr wrap="square" lIns="0" tIns="0" rIns="0" bIns="0" rtlCol="0" anchor="ctr"/>
          <a:lstStyle/>
          <a:p>
            <a:pPr indent="0" marL="0">
              <a:buNone/>
            </a:pPr>
            <a:r>
              <a:rPr lang="en-US" sz="1300" dirty="0">
                <a:solidFill>
                  <a:srgbClr val="CC4500"/>
                </a:solidFill>
                <a:latin typeface="Arial" pitchFamily="34" charset="0"/>
                <a:ea typeface="Arial" pitchFamily="34" charset="-122"/>
                <a:cs typeface="Arial" pitchFamily="34" charset="-120"/>
              </a:rPr>
              <a:t>Founder &amp; CEO</a:t>
            </a:r>
            <a:endParaRPr lang="en-US" sz="1300" dirty="0"/>
          </a:p>
        </p:txBody>
      </p:sp>
      <p:sp>
        <p:nvSpPr>
          <p:cNvPr id="14" name="Text 12"/>
          <p:cNvSpPr/>
          <p:nvPr/>
        </p:nvSpPr>
        <p:spPr>
          <a:xfrm>
            <a:off x="502920" y="4572000"/>
            <a:ext cx="4846320" cy="27432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sj@autoera.ai  ·  +91 [number]  ·  autoera.ai</a:t>
            </a:r>
            <a:endParaRPr lang="en-US" sz="1100" dirty="0"/>
          </a:p>
        </p:txBody>
      </p:sp>
      <p:sp>
        <p:nvSpPr>
          <p:cNvPr id="15" name="Text 13"/>
          <p:cNvSpPr/>
          <p:nvPr/>
        </p:nvSpPr>
        <p:spPr>
          <a:xfrm>
            <a:off x="502920" y="4846320"/>
            <a:ext cx="4846320" cy="27432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Chennai, Tamil Nadu  ·  Pre-Seed Stage  ·  July 2026</a:t>
            </a:r>
            <a:endParaRPr lang="en-US" sz="1100" dirty="0"/>
          </a:p>
        </p:txBody>
      </p:sp>
      <p:sp>
        <p:nvSpPr>
          <p:cNvPr id="16" name="Shape 14"/>
          <p:cNvSpPr/>
          <p:nvPr/>
        </p:nvSpPr>
        <p:spPr>
          <a:xfrm>
            <a:off x="502920" y="5303520"/>
            <a:ext cx="1078992" cy="292608"/>
          </a:xfrm>
          <a:prstGeom prst="rect">
            <a:avLst/>
          </a:prstGeom>
          <a:solidFill>
            <a:srgbClr val="1A3A5C"/>
          </a:solidFill>
          <a:ln w="12700">
            <a:solidFill>
              <a:srgbClr val="1A3A5C"/>
            </a:solidFill>
            <a:prstDash val="solid"/>
          </a:ln>
        </p:spPr>
      </p:sp>
      <p:sp>
        <p:nvSpPr>
          <p:cNvPr id="17" name="Text 15"/>
          <p:cNvSpPr/>
          <p:nvPr/>
        </p:nvSpPr>
        <p:spPr>
          <a:xfrm>
            <a:off x="502920" y="5303520"/>
            <a:ext cx="1078992" cy="292608"/>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AI-Native</a:t>
            </a:r>
            <a:endParaRPr lang="en-US" sz="900" dirty="0"/>
          </a:p>
        </p:txBody>
      </p:sp>
      <p:sp>
        <p:nvSpPr>
          <p:cNvPr id="18" name="Shape 16"/>
          <p:cNvSpPr/>
          <p:nvPr/>
        </p:nvSpPr>
        <p:spPr>
          <a:xfrm>
            <a:off x="1673352" y="5303520"/>
            <a:ext cx="1078992" cy="292608"/>
          </a:xfrm>
          <a:prstGeom prst="rect">
            <a:avLst/>
          </a:prstGeom>
          <a:solidFill>
            <a:srgbClr val="1A3A5C"/>
          </a:solidFill>
          <a:ln w="12700">
            <a:solidFill>
              <a:srgbClr val="1A3A5C"/>
            </a:solidFill>
            <a:prstDash val="solid"/>
          </a:ln>
        </p:spPr>
      </p:sp>
      <p:sp>
        <p:nvSpPr>
          <p:cNvPr id="19" name="Text 17"/>
          <p:cNvSpPr/>
          <p:nvPr/>
        </p:nvSpPr>
        <p:spPr>
          <a:xfrm>
            <a:off x="1673352" y="5303520"/>
            <a:ext cx="1078992" cy="292608"/>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Tamil-First</a:t>
            </a:r>
            <a:endParaRPr lang="en-US" sz="900" dirty="0"/>
          </a:p>
        </p:txBody>
      </p:sp>
      <p:sp>
        <p:nvSpPr>
          <p:cNvPr id="20" name="Shape 18"/>
          <p:cNvSpPr/>
          <p:nvPr/>
        </p:nvSpPr>
        <p:spPr>
          <a:xfrm>
            <a:off x="2843784" y="5303520"/>
            <a:ext cx="1078992" cy="292608"/>
          </a:xfrm>
          <a:prstGeom prst="rect">
            <a:avLst/>
          </a:prstGeom>
          <a:solidFill>
            <a:srgbClr val="1A3A5C"/>
          </a:solidFill>
          <a:ln w="12700">
            <a:solidFill>
              <a:srgbClr val="1A3A5C"/>
            </a:solidFill>
            <a:prstDash val="solid"/>
          </a:ln>
        </p:spPr>
      </p:sp>
      <p:sp>
        <p:nvSpPr>
          <p:cNvPr id="21" name="Text 19"/>
          <p:cNvSpPr/>
          <p:nvPr/>
        </p:nvSpPr>
        <p:spPr>
          <a:xfrm>
            <a:off x="2843784" y="5303520"/>
            <a:ext cx="1078992" cy="292608"/>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WhatsApp</a:t>
            </a:r>
            <a:endParaRPr lang="en-US" sz="900" dirty="0"/>
          </a:p>
        </p:txBody>
      </p:sp>
      <p:sp>
        <p:nvSpPr>
          <p:cNvPr id="22" name="Shape 20"/>
          <p:cNvSpPr/>
          <p:nvPr/>
        </p:nvSpPr>
        <p:spPr>
          <a:xfrm>
            <a:off x="4014216" y="5303520"/>
            <a:ext cx="1078992" cy="292608"/>
          </a:xfrm>
          <a:prstGeom prst="rect">
            <a:avLst/>
          </a:prstGeom>
          <a:solidFill>
            <a:srgbClr val="1A3A5C"/>
          </a:solidFill>
          <a:ln w="12700">
            <a:solidFill>
              <a:srgbClr val="1A3A5C"/>
            </a:solidFill>
            <a:prstDash val="solid"/>
          </a:ln>
        </p:spPr>
      </p:sp>
      <p:sp>
        <p:nvSpPr>
          <p:cNvPr id="23" name="Text 21"/>
          <p:cNvSpPr/>
          <p:nvPr/>
        </p:nvSpPr>
        <p:spPr>
          <a:xfrm>
            <a:off x="4014216" y="5303520"/>
            <a:ext cx="1078992" cy="292608"/>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B2B SaaS</a:t>
            </a:r>
            <a:endParaRPr lang="en-US" sz="900" dirty="0"/>
          </a:p>
        </p:txBody>
      </p:sp>
      <p:sp>
        <p:nvSpPr>
          <p:cNvPr id="24" name="Text 22"/>
          <p:cNvSpPr/>
          <p:nvPr/>
        </p:nvSpPr>
        <p:spPr>
          <a:xfrm>
            <a:off x="6035040" y="1097280"/>
            <a:ext cx="5852160" cy="731520"/>
          </a:xfrm>
          <a:prstGeom prst="rect">
            <a:avLst/>
          </a:prstGeom>
          <a:noFill/>
          <a:ln/>
        </p:spPr>
        <p:txBody>
          <a:bodyPr wrap="square" lIns="0" tIns="0" rIns="0" bIns="0" rtlCol="0" anchor="ctr"/>
          <a:lstStyle/>
          <a:p>
            <a:pPr algn="ctr" indent="0" marL="0">
              <a:buNone/>
            </a:pPr>
            <a:r>
              <a:rPr lang="en-US" sz="5200" b="1" dirty="0">
                <a:solidFill>
                  <a:srgbClr val="CC4500"/>
                </a:solidFill>
                <a:latin typeface="Arial" pitchFamily="34" charset="0"/>
                <a:ea typeface="Arial" pitchFamily="34" charset="-122"/>
                <a:cs typeface="Arial" pitchFamily="34" charset="-120"/>
              </a:rPr>
              <a:t>₹9,000 Crore</a:t>
            </a:r>
            <a:endParaRPr lang="en-US" sz="5200" dirty="0"/>
          </a:p>
        </p:txBody>
      </p:sp>
      <p:sp>
        <p:nvSpPr>
          <p:cNvPr id="25" name="Text 23"/>
          <p:cNvSpPr/>
          <p:nvPr/>
        </p:nvSpPr>
        <p:spPr>
          <a:xfrm>
            <a:off x="6035040" y="1783080"/>
            <a:ext cx="5852160" cy="365760"/>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Unaddressed Problem in Indian Automotive</a:t>
            </a:r>
            <a:endParaRPr lang="en-US" sz="1400" dirty="0"/>
          </a:p>
        </p:txBody>
      </p:sp>
      <p:sp>
        <p:nvSpPr>
          <p:cNvPr id="26" name="Shape 24"/>
          <p:cNvSpPr/>
          <p:nvPr/>
        </p:nvSpPr>
        <p:spPr>
          <a:xfrm>
            <a:off x="7772400" y="2286000"/>
            <a:ext cx="1188720" cy="36576"/>
          </a:xfrm>
          <a:prstGeom prst="rect">
            <a:avLst/>
          </a:prstGeom>
          <a:solidFill>
            <a:srgbClr val="CC4500"/>
          </a:solidFill>
          <a:ln w="12700">
            <a:solidFill>
              <a:srgbClr val="CC4500"/>
            </a:solidFill>
            <a:prstDash val="solid"/>
          </a:ln>
        </p:spPr>
      </p:sp>
      <p:sp>
        <p:nvSpPr>
          <p:cNvPr id="27" name="Shape 25"/>
          <p:cNvSpPr/>
          <p:nvPr/>
        </p:nvSpPr>
        <p:spPr>
          <a:xfrm>
            <a:off x="6126480" y="2743200"/>
            <a:ext cx="2560320" cy="1097280"/>
          </a:xfrm>
          <a:prstGeom prst="rect">
            <a:avLst/>
          </a:prstGeom>
          <a:solidFill>
            <a:srgbClr val="0A1F3F"/>
          </a:solidFill>
          <a:ln w="12700">
            <a:solidFill>
              <a:srgbClr val="1A3A5C"/>
            </a:solidFill>
            <a:prstDash val="solid"/>
          </a:ln>
        </p:spPr>
      </p:sp>
      <p:sp>
        <p:nvSpPr>
          <p:cNvPr id="28" name="Text 26"/>
          <p:cNvSpPr/>
          <p:nvPr/>
        </p:nvSpPr>
        <p:spPr>
          <a:xfrm>
            <a:off x="6126480" y="2852928"/>
            <a:ext cx="2560320" cy="54864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26,000+</a:t>
            </a:r>
            <a:endParaRPr lang="en-US" sz="2800" dirty="0"/>
          </a:p>
        </p:txBody>
      </p:sp>
      <p:sp>
        <p:nvSpPr>
          <p:cNvPr id="29" name="Text 27"/>
          <p:cNvSpPr/>
          <p:nvPr/>
        </p:nvSpPr>
        <p:spPr>
          <a:xfrm>
            <a:off x="6126480" y="3383280"/>
            <a:ext cx="2560320" cy="36576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Indian Dealerships</a:t>
            </a:r>
            <a:endParaRPr lang="en-US" sz="1000" dirty="0"/>
          </a:p>
        </p:txBody>
      </p:sp>
      <p:sp>
        <p:nvSpPr>
          <p:cNvPr id="30" name="Shape 28"/>
          <p:cNvSpPr/>
          <p:nvPr/>
        </p:nvSpPr>
        <p:spPr>
          <a:xfrm>
            <a:off x="8961120" y="2743200"/>
            <a:ext cx="2560320" cy="1097280"/>
          </a:xfrm>
          <a:prstGeom prst="rect">
            <a:avLst/>
          </a:prstGeom>
          <a:solidFill>
            <a:srgbClr val="0A1F3F"/>
          </a:solidFill>
          <a:ln w="12700">
            <a:solidFill>
              <a:srgbClr val="1A3A5C"/>
            </a:solidFill>
            <a:prstDash val="solid"/>
          </a:ln>
        </p:spPr>
      </p:sp>
      <p:sp>
        <p:nvSpPr>
          <p:cNvPr id="31" name="Text 29"/>
          <p:cNvSpPr/>
          <p:nvPr/>
        </p:nvSpPr>
        <p:spPr>
          <a:xfrm>
            <a:off x="8961120" y="2852928"/>
            <a:ext cx="2560320" cy="54864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₹3–8L</a:t>
            </a:r>
            <a:endParaRPr lang="en-US" sz="2800" dirty="0"/>
          </a:p>
        </p:txBody>
      </p:sp>
      <p:sp>
        <p:nvSpPr>
          <p:cNvPr id="32" name="Text 30"/>
          <p:cNvSpPr/>
          <p:nvPr/>
        </p:nvSpPr>
        <p:spPr>
          <a:xfrm>
            <a:off x="8961120" y="3383280"/>
            <a:ext cx="2560320" cy="36576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Revenue Lost/Dealer/Month</a:t>
            </a:r>
            <a:endParaRPr lang="en-US" sz="1000" dirty="0"/>
          </a:p>
        </p:txBody>
      </p:sp>
      <p:sp>
        <p:nvSpPr>
          <p:cNvPr id="33" name="Shape 31"/>
          <p:cNvSpPr/>
          <p:nvPr/>
        </p:nvSpPr>
        <p:spPr>
          <a:xfrm>
            <a:off x="6126480" y="4023360"/>
            <a:ext cx="2560320" cy="1097280"/>
          </a:xfrm>
          <a:prstGeom prst="rect">
            <a:avLst/>
          </a:prstGeom>
          <a:solidFill>
            <a:srgbClr val="0A1F3F"/>
          </a:solidFill>
          <a:ln w="12700">
            <a:solidFill>
              <a:srgbClr val="1A3A5C"/>
            </a:solidFill>
            <a:prstDash val="solid"/>
          </a:ln>
        </p:spPr>
      </p:sp>
      <p:sp>
        <p:nvSpPr>
          <p:cNvPr id="34" name="Text 32"/>
          <p:cNvSpPr/>
          <p:nvPr/>
        </p:nvSpPr>
        <p:spPr>
          <a:xfrm>
            <a:off x="6126480" y="4133088"/>
            <a:ext cx="2560320" cy="54864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0</a:t>
            </a:r>
            <a:endParaRPr lang="en-US" sz="2800" dirty="0"/>
          </a:p>
        </p:txBody>
      </p:sp>
      <p:sp>
        <p:nvSpPr>
          <p:cNvPr id="35" name="Text 33"/>
          <p:cNvSpPr/>
          <p:nvPr/>
        </p:nvSpPr>
        <p:spPr>
          <a:xfrm>
            <a:off x="6126480" y="4663440"/>
            <a:ext cx="2560320" cy="36576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AI Solutions for India Today</a:t>
            </a:r>
            <a:endParaRPr lang="en-US" sz="1000" dirty="0"/>
          </a:p>
        </p:txBody>
      </p:sp>
      <p:sp>
        <p:nvSpPr>
          <p:cNvPr id="36" name="Shape 34"/>
          <p:cNvSpPr/>
          <p:nvPr/>
        </p:nvSpPr>
        <p:spPr>
          <a:xfrm>
            <a:off x="8961120" y="4023360"/>
            <a:ext cx="2560320" cy="1097280"/>
          </a:xfrm>
          <a:prstGeom prst="rect">
            <a:avLst/>
          </a:prstGeom>
          <a:solidFill>
            <a:srgbClr val="0A1F3F"/>
          </a:solidFill>
          <a:ln w="12700">
            <a:solidFill>
              <a:srgbClr val="1A3A5C"/>
            </a:solidFill>
            <a:prstDash val="solid"/>
          </a:ln>
        </p:spPr>
      </p:sp>
      <p:sp>
        <p:nvSpPr>
          <p:cNvPr id="37" name="Text 35"/>
          <p:cNvSpPr/>
          <p:nvPr/>
        </p:nvSpPr>
        <p:spPr>
          <a:xfrm>
            <a:off x="8961120" y="4133088"/>
            <a:ext cx="2560320" cy="54864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10</a:t>
            </a:r>
            <a:endParaRPr lang="en-US" sz="2800" dirty="0"/>
          </a:p>
        </p:txBody>
      </p:sp>
      <p:sp>
        <p:nvSpPr>
          <p:cNvPr id="38" name="Text 36"/>
          <p:cNvSpPr/>
          <p:nvPr/>
        </p:nvSpPr>
        <p:spPr>
          <a:xfrm>
            <a:off x="8961120" y="4663440"/>
            <a:ext cx="2560320" cy="36576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AI Agents We've Built</a:t>
            </a:r>
            <a:endParaRPr lang="en-US" sz="1000" dirty="0"/>
          </a:p>
        </p:txBody>
      </p:sp>
      <p:sp>
        <p:nvSpPr>
          <p:cNvPr id="39" name="Text 37"/>
          <p:cNvSpPr/>
          <p:nvPr/>
        </p:nvSpPr>
        <p:spPr>
          <a:xfrm>
            <a:off x="5943600" y="6080760"/>
            <a:ext cx="5943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Seeking ₹2 Crore  ·  Pre-Seed  ·  SAFE / Equity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27432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THE PROBLEM</a:t>
            </a:r>
            <a:endParaRPr lang="en-US" sz="900" dirty="0"/>
          </a:p>
        </p:txBody>
      </p:sp>
      <p:sp>
        <p:nvSpPr>
          <p:cNvPr id="6" name="Text 4"/>
          <p:cNvSpPr/>
          <p:nvPr/>
        </p:nvSpPr>
        <p:spPr>
          <a:xfrm>
            <a:off x="274320" y="685800"/>
            <a:ext cx="77724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India's Auto Industry Runs on Manual Chaos</a:t>
            </a:r>
            <a:endParaRPr lang="en-US" sz="3000" dirty="0"/>
          </a:p>
        </p:txBody>
      </p:sp>
      <p:sp>
        <p:nvSpPr>
          <p:cNvPr id="7" name="Shape 5"/>
          <p:cNvSpPr/>
          <p:nvPr/>
        </p:nvSpPr>
        <p:spPr>
          <a:xfrm>
            <a:off x="274320" y="1371600"/>
            <a:ext cx="1828800" cy="36576"/>
          </a:xfrm>
          <a:prstGeom prst="rect">
            <a:avLst/>
          </a:prstGeom>
          <a:solidFill>
            <a:srgbClr val="CC4500"/>
          </a:solidFill>
          <a:ln w="12700">
            <a:solidFill>
              <a:srgbClr val="CC4500"/>
            </a:solidFill>
            <a:prstDash val="solid"/>
          </a:ln>
        </p:spPr>
      </p:sp>
      <p:sp>
        <p:nvSpPr>
          <p:cNvPr id="8" name="Text 6"/>
          <p:cNvSpPr/>
          <p:nvPr/>
        </p:nvSpPr>
        <p:spPr>
          <a:xfrm>
            <a:off x="274320" y="1463040"/>
            <a:ext cx="9144000" cy="365760"/>
          </a:xfrm>
          <a:prstGeom prst="rect">
            <a:avLst/>
          </a:prstGeom>
          <a:noFill/>
          <a:ln/>
        </p:spPr>
        <p:txBody>
          <a:bodyPr wrap="square" lIns="0" tIns="0" rIns="0" bIns="0" rtlCol="0" anchor="ctr"/>
          <a:lstStyle/>
          <a:p>
            <a:pPr algn="l" indent="0" marL="0">
              <a:buNone/>
            </a:pPr>
            <a:r>
              <a:rPr lang="en-US" sz="1300" dirty="0">
                <a:solidFill>
                  <a:srgbClr val="8899BB"/>
                </a:solidFill>
                <a:latin typeface="Arial" pitchFamily="34" charset="0"/>
                <a:ea typeface="Arial" pitchFamily="34" charset="-122"/>
                <a:cs typeface="Arial" pitchFamily="34" charset="-120"/>
              </a:rPr>
              <a:t>26,000+ dealerships. ₹9,000 Crore revenue problem. Zero meaningful AI today.</a:t>
            </a:r>
            <a:endParaRPr lang="en-US" sz="1300" dirty="0"/>
          </a:p>
        </p:txBody>
      </p:sp>
      <p:sp>
        <p:nvSpPr>
          <p:cNvPr id="9" name="Shape 7"/>
          <p:cNvSpPr/>
          <p:nvPr/>
        </p:nvSpPr>
        <p:spPr>
          <a:xfrm>
            <a:off x="228600" y="1920240"/>
            <a:ext cx="3749040" cy="1965960"/>
          </a:xfrm>
          <a:prstGeom prst="rect">
            <a:avLst/>
          </a:prstGeom>
          <a:solidFill>
            <a:srgbClr val="0A1F3F"/>
          </a:solidFill>
          <a:ln w="12700">
            <a:solidFill>
              <a:srgbClr val="1A3A5C"/>
            </a:solidFill>
            <a:prstDash val="solid"/>
          </a:ln>
        </p:spPr>
      </p:sp>
      <p:sp>
        <p:nvSpPr>
          <p:cNvPr id="10" name="Shape 8"/>
          <p:cNvSpPr/>
          <p:nvPr/>
        </p:nvSpPr>
        <p:spPr>
          <a:xfrm>
            <a:off x="228600" y="1920240"/>
            <a:ext cx="3749040" cy="54864"/>
          </a:xfrm>
          <a:prstGeom prst="rect">
            <a:avLst/>
          </a:prstGeom>
          <a:solidFill>
            <a:srgbClr val="FF3B5C"/>
          </a:solidFill>
          <a:ln w="12700">
            <a:solidFill>
              <a:srgbClr val="FF3B5C"/>
            </a:solidFill>
            <a:prstDash val="solid"/>
          </a:ln>
        </p:spPr>
      </p:sp>
      <p:sp>
        <p:nvSpPr>
          <p:cNvPr id="11" name="Text 9"/>
          <p:cNvSpPr/>
          <p:nvPr/>
        </p:nvSpPr>
        <p:spPr>
          <a:xfrm>
            <a:off x="411480" y="2084832"/>
            <a:ext cx="548640" cy="457200"/>
          </a:xfrm>
          <a:prstGeom prst="rect">
            <a:avLst/>
          </a:prstGeom>
          <a:noFill/>
          <a:ln/>
        </p:spPr>
        <p:txBody>
          <a:bodyPr wrap="square" lIns="0" tIns="0" rIns="0" bIns="0" rtlCol="0" anchor="ctr"/>
          <a:lstStyle/>
          <a:p>
            <a:pPr algn="l"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2" name="Text 10"/>
          <p:cNvSpPr/>
          <p:nvPr/>
        </p:nvSpPr>
        <p:spPr>
          <a:xfrm>
            <a:off x="1005840" y="2057400"/>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Missed Leads</a:t>
            </a:r>
            <a:endParaRPr lang="en-US" sz="1400" dirty="0"/>
          </a:p>
        </p:txBody>
      </p:sp>
      <p:sp>
        <p:nvSpPr>
          <p:cNvPr id="13" name="Text 11"/>
          <p:cNvSpPr/>
          <p:nvPr/>
        </p:nvSpPr>
        <p:spPr>
          <a:xfrm>
            <a:off x="411480" y="2542032"/>
            <a:ext cx="3383280" cy="54864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60–70%</a:t>
            </a:r>
            <a:endParaRPr lang="en-US" sz="3000" dirty="0"/>
          </a:p>
        </p:txBody>
      </p:sp>
      <p:sp>
        <p:nvSpPr>
          <p:cNvPr id="14" name="Text 12"/>
          <p:cNvSpPr/>
          <p:nvPr/>
        </p:nvSpPr>
        <p:spPr>
          <a:xfrm>
            <a:off x="411480" y="3108960"/>
            <a:ext cx="3383280" cy="54864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Hot leads go cold because no one called in 30 min</a:t>
            </a:r>
            <a:endParaRPr lang="en-US" sz="1100" dirty="0"/>
          </a:p>
        </p:txBody>
      </p:sp>
      <p:sp>
        <p:nvSpPr>
          <p:cNvPr id="15" name="Shape 13"/>
          <p:cNvSpPr/>
          <p:nvPr/>
        </p:nvSpPr>
        <p:spPr>
          <a:xfrm>
            <a:off x="4206240" y="1920240"/>
            <a:ext cx="3749040" cy="1965960"/>
          </a:xfrm>
          <a:prstGeom prst="rect">
            <a:avLst/>
          </a:prstGeom>
          <a:solidFill>
            <a:srgbClr val="0A1F3F"/>
          </a:solidFill>
          <a:ln w="12700">
            <a:solidFill>
              <a:srgbClr val="1A3A5C"/>
            </a:solidFill>
            <a:prstDash val="solid"/>
          </a:ln>
        </p:spPr>
      </p:sp>
      <p:sp>
        <p:nvSpPr>
          <p:cNvPr id="16" name="Shape 14"/>
          <p:cNvSpPr/>
          <p:nvPr/>
        </p:nvSpPr>
        <p:spPr>
          <a:xfrm>
            <a:off x="4206240" y="1920240"/>
            <a:ext cx="3749040" cy="54864"/>
          </a:xfrm>
          <a:prstGeom prst="rect">
            <a:avLst/>
          </a:prstGeom>
          <a:solidFill>
            <a:srgbClr val="CC4500"/>
          </a:solidFill>
          <a:ln w="12700">
            <a:solidFill>
              <a:srgbClr val="CC4500"/>
            </a:solidFill>
            <a:prstDash val="solid"/>
          </a:ln>
        </p:spPr>
      </p:sp>
      <p:sp>
        <p:nvSpPr>
          <p:cNvPr id="17" name="Text 15"/>
          <p:cNvSpPr/>
          <p:nvPr/>
        </p:nvSpPr>
        <p:spPr>
          <a:xfrm>
            <a:off x="4389120" y="2084832"/>
            <a:ext cx="548640" cy="457200"/>
          </a:xfrm>
          <a:prstGeom prst="rect">
            <a:avLst/>
          </a:prstGeom>
          <a:noFill/>
          <a:ln/>
        </p:spPr>
        <p:txBody>
          <a:bodyPr wrap="square" lIns="0" tIns="0" rIns="0" bIns="0" rtlCol="0" anchor="ctr"/>
          <a:lstStyle/>
          <a:p>
            <a:pPr algn="l"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8" name="Text 16"/>
          <p:cNvSpPr/>
          <p:nvPr/>
        </p:nvSpPr>
        <p:spPr>
          <a:xfrm>
            <a:off x="4983480" y="2057400"/>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Service Leakage</a:t>
            </a:r>
            <a:endParaRPr lang="en-US" sz="1400" dirty="0"/>
          </a:p>
        </p:txBody>
      </p:sp>
      <p:sp>
        <p:nvSpPr>
          <p:cNvPr id="19" name="Text 17"/>
          <p:cNvSpPr/>
          <p:nvPr/>
        </p:nvSpPr>
        <p:spPr>
          <a:xfrm>
            <a:off x="4389120" y="2542032"/>
            <a:ext cx="3383280" cy="54864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₹3L</a:t>
            </a:r>
            <a:endParaRPr lang="en-US" sz="3000" dirty="0"/>
          </a:p>
        </p:txBody>
      </p:sp>
      <p:sp>
        <p:nvSpPr>
          <p:cNvPr id="20" name="Text 18"/>
          <p:cNvSpPr/>
          <p:nvPr/>
        </p:nvSpPr>
        <p:spPr>
          <a:xfrm>
            <a:off x="4389120" y="3108960"/>
            <a:ext cx="3383280" cy="54864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Lost per dealer/month from manual job cards</a:t>
            </a:r>
            <a:endParaRPr lang="en-US" sz="1100" dirty="0"/>
          </a:p>
        </p:txBody>
      </p:sp>
      <p:sp>
        <p:nvSpPr>
          <p:cNvPr id="21" name="Shape 19"/>
          <p:cNvSpPr/>
          <p:nvPr/>
        </p:nvSpPr>
        <p:spPr>
          <a:xfrm>
            <a:off x="8183880" y="4069080"/>
            <a:ext cx="3749040" cy="1965960"/>
          </a:xfrm>
          <a:prstGeom prst="rect">
            <a:avLst/>
          </a:prstGeom>
          <a:solidFill>
            <a:srgbClr val="0A1F3F"/>
          </a:solidFill>
          <a:ln w="12700">
            <a:solidFill>
              <a:srgbClr val="1A3A5C"/>
            </a:solidFill>
            <a:prstDash val="solid"/>
          </a:ln>
        </p:spPr>
      </p:sp>
      <p:sp>
        <p:nvSpPr>
          <p:cNvPr id="22" name="Shape 20"/>
          <p:cNvSpPr/>
          <p:nvPr/>
        </p:nvSpPr>
        <p:spPr>
          <a:xfrm>
            <a:off x="8183880" y="4069080"/>
            <a:ext cx="3749040" cy="54864"/>
          </a:xfrm>
          <a:prstGeom prst="rect">
            <a:avLst/>
          </a:prstGeom>
          <a:solidFill>
            <a:srgbClr val="FF6B2B"/>
          </a:solidFill>
          <a:ln w="12700">
            <a:solidFill>
              <a:srgbClr val="FF6B2B"/>
            </a:solidFill>
            <a:prstDash val="solid"/>
          </a:ln>
        </p:spPr>
      </p:sp>
      <p:sp>
        <p:nvSpPr>
          <p:cNvPr id="23" name="Text 21"/>
          <p:cNvSpPr/>
          <p:nvPr/>
        </p:nvSpPr>
        <p:spPr>
          <a:xfrm>
            <a:off x="8366760" y="4233672"/>
            <a:ext cx="548640" cy="457200"/>
          </a:xfrm>
          <a:prstGeom prst="rect">
            <a:avLst/>
          </a:prstGeom>
          <a:noFill/>
          <a:ln/>
        </p:spPr>
        <p:txBody>
          <a:bodyPr wrap="square" lIns="0" tIns="0" rIns="0" bIns="0" rtlCol="0" anchor="ctr"/>
          <a:lstStyle/>
          <a:p>
            <a:pPr algn="l"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4" name="Text 22"/>
          <p:cNvSpPr/>
          <p:nvPr/>
        </p:nvSpPr>
        <p:spPr>
          <a:xfrm>
            <a:off x="8961120" y="4206240"/>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Insurance Gap</a:t>
            </a:r>
            <a:endParaRPr lang="en-US" sz="1400" dirty="0"/>
          </a:p>
        </p:txBody>
      </p:sp>
      <p:sp>
        <p:nvSpPr>
          <p:cNvPr id="25" name="Text 23"/>
          <p:cNvSpPr/>
          <p:nvPr/>
        </p:nvSpPr>
        <p:spPr>
          <a:xfrm>
            <a:off x="8366760" y="4690872"/>
            <a:ext cx="3383280" cy="54864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38%</a:t>
            </a:r>
            <a:endParaRPr lang="en-US" sz="3000" dirty="0"/>
          </a:p>
        </p:txBody>
      </p:sp>
      <p:sp>
        <p:nvSpPr>
          <p:cNvPr id="26" name="Text 24"/>
          <p:cNvSpPr/>
          <p:nvPr/>
        </p:nvSpPr>
        <p:spPr>
          <a:xfrm>
            <a:off x="8366760" y="5257800"/>
            <a:ext cx="3383280" cy="54864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Renewal rate without automation — should be 71%</a:t>
            </a:r>
            <a:endParaRPr lang="en-US" sz="1100" dirty="0"/>
          </a:p>
        </p:txBody>
      </p:sp>
      <p:sp>
        <p:nvSpPr>
          <p:cNvPr id="27" name="Shape 25"/>
          <p:cNvSpPr/>
          <p:nvPr/>
        </p:nvSpPr>
        <p:spPr>
          <a:xfrm>
            <a:off x="228600" y="4069080"/>
            <a:ext cx="3749040" cy="1965960"/>
          </a:xfrm>
          <a:prstGeom prst="rect">
            <a:avLst/>
          </a:prstGeom>
          <a:solidFill>
            <a:srgbClr val="0A1F3F"/>
          </a:solidFill>
          <a:ln w="12700">
            <a:solidFill>
              <a:srgbClr val="1A3A5C"/>
            </a:solidFill>
            <a:prstDash val="solid"/>
          </a:ln>
        </p:spPr>
      </p:sp>
      <p:sp>
        <p:nvSpPr>
          <p:cNvPr id="28" name="Shape 26"/>
          <p:cNvSpPr/>
          <p:nvPr/>
        </p:nvSpPr>
        <p:spPr>
          <a:xfrm>
            <a:off x="228600" y="4069080"/>
            <a:ext cx="3749040" cy="54864"/>
          </a:xfrm>
          <a:prstGeom prst="rect">
            <a:avLst/>
          </a:prstGeom>
          <a:solidFill>
            <a:srgbClr val="8899BB"/>
          </a:solidFill>
          <a:ln w="12700">
            <a:solidFill>
              <a:srgbClr val="8899BB"/>
            </a:solidFill>
            <a:prstDash val="solid"/>
          </a:ln>
        </p:spPr>
      </p:sp>
      <p:sp>
        <p:nvSpPr>
          <p:cNvPr id="29" name="Text 27"/>
          <p:cNvSpPr/>
          <p:nvPr/>
        </p:nvSpPr>
        <p:spPr>
          <a:xfrm>
            <a:off x="411480" y="4233672"/>
            <a:ext cx="548640" cy="457200"/>
          </a:xfrm>
          <a:prstGeom prst="rect">
            <a:avLst/>
          </a:prstGeom>
          <a:noFill/>
          <a:ln/>
        </p:spPr>
        <p:txBody>
          <a:bodyPr wrap="square" lIns="0" tIns="0" rIns="0" bIns="0" rtlCol="0" anchor="ctr"/>
          <a:lstStyle/>
          <a:p>
            <a:pPr algn="l"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30" name="Text 28"/>
          <p:cNvSpPr/>
          <p:nvPr/>
        </p:nvSpPr>
        <p:spPr>
          <a:xfrm>
            <a:off x="1005840" y="4206240"/>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Zero Retention</a:t>
            </a:r>
            <a:endParaRPr lang="en-US" sz="1400" dirty="0"/>
          </a:p>
        </p:txBody>
      </p:sp>
      <p:sp>
        <p:nvSpPr>
          <p:cNvPr id="31" name="Text 29"/>
          <p:cNvSpPr/>
          <p:nvPr/>
        </p:nvSpPr>
        <p:spPr>
          <a:xfrm>
            <a:off x="411480" y="4690872"/>
            <a:ext cx="3383280" cy="54864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70%</a:t>
            </a:r>
            <a:endParaRPr lang="en-US" sz="3000" dirty="0"/>
          </a:p>
        </p:txBody>
      </p:sp>
      <p:sp>
        <p:nvSpPr>
          <p:cNvPr id="32" name="Text 30"/>
          <p:cNvSpPr/>
          <p:nvPr/>
        </p:nvSpPr>
        <p:spPr>
          <a:xfrm>
            <a:off x="411480" y="5257800"/>
            <a:ext cx="3383280" cy="54864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Customers don't return for 2nd service — no follow-up</a:t>
            </a:r>
            <a:endParaRPr lang="en-US" sz="1100" dirty="0"/>
          </a:p>
        </p:txBody>
      </p:sp>
      <p:sp>
        <p:nvSpPr>
          <p:cNvPr id="33" name="Shape 31"/>
          <p:cNvSpPr/>
          <p:nvPr/>
        </p:nvSpPr>
        <p:spPr>
          <a:xfrm>
            <a:off x="4206240" y="6217920"/>
            <a:ext cx="3749040" cy="1965960"/>
          </a:xfrm>
          <a:prstGeom prst="rect">
            <a:avLst/>
          </a:prstGeom>
          <a:solidFill>
            <a:srgbClr val="0A1F3F"/>
          </a:solidFill>
          <a:ln w="12700">
            <a:solidFill>
              <a:srgbClr val="1A3A5C"/>
            </a:solidFill>
            <a:prstDash val="solid"/>
          </a:ln>
        </p:spPr>
      </p:sp>
      <p:sp>
        <p:nvSpPr>
          <p:cNvPr id="34" name="Shape 32"/>
          <p:cNvSpPr/>
          <p:nvPr/>
        </p:nvSpPr>
        <p:spPr>
          <a:xfrm>
            <a:off x="4206240" y="6217920"/>
            <a:ext cx="3749040" cy="54864"/>
          </a:xfrm>
          <a:prstGeom prst="rect">
            <a:avLst/>
          </a:prstGeom>
          <a:solidFill>
            <a:srgbClr val="15803D"/>
          </a:solidFill>
          <a:ln w="12700">
            <a:solidFill>
              <a:srgbClr val="15803D"/>
            </a:solidFill>
            <a:prstDash val="solid"/>
          </a:ln>
        </p:spPr>
      </p:sp>
      <p:sp>
        <p:nvSpPr>
          <p:cNvPr id="35" name="Text 33"/>
          <p:cNvSpPr/>
          <p:nvPr/>
        </p:nvSpPr>
        <p:spPr>
          <a:xfrm>
            <a:off x="4389120" y="6382512"/>
            <a:ext cx="548640" cy="457200"/>
          </a:xfrm>
          <a:prstGeom prst="rect">
            <a:avLst/>
          </a:prstGeom>
          <a:noFill/>
          <a:ln/>
        </p:spPr>
        <p:txBody>
          <a:bodyPr wrap="square" lIns="0" tIns="0" rIns="0" bIns="0" rtlCol="0" anchor="ctr"/>
          <a:lstStyle/>
          <a:p>
            <a:pPr algn="l"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36" name="Text 34"/>
          <p:cNvSpPr/>
          <p:nvPr/>
        </p:nvSpPr>
        <p:spPr>
          <a:xfrm>
            <a:off x="4983480" y="6355080"/>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Manual Ops</a:t>
            </a:r>
            <a:endParaRPr lang="en-US" sz="1400" dirty="0"/>
          </a:p>
        </p:txBody>
      </p:sp>
      <p:sp>
        <p:nvSpPr>
          <p:cNvPr id="37" name="Text 35"/>
          <p:cNvSpPr/>
          <p:nvPr/>
        </p:nvSpPr>
        <p:spPr>
          <a:xfrm>
            <a:off x="4389120" y="6839712"/>
            <a:ext cx="3383280" cy="54864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8 min</a:t>
            </a:r>
            <a:endParaRPr lang="en-US" sz="3000" dirty="0"/>
          </a:p>
        </p:txBody>
      </p:sp>
      <p:sp>
        <p:nvSpPr>
          <p:cNvPr id="38" name="Text 36"/>
          <p:cNvSpPr/>
          <p:nvPr/>
        </p:nvSpPr>
        <p:spPr>
          <a:xfrm>
            <a:off x="4389120" y="7406640"/>
            <a:ext cx="3383280" cy="54864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Time for 1 job card — should be 90 seconds</a:t>
            </a:r>
            <a:endParaRPr lang="en-US" sz="1100" dirty="0"/>
          </a:p>
        </p:txBody>
      </p:sp>
      <p:sp>
        <p:nvSpPr>
          <p:cNvPr id="39" name="Shape 37"/>
          <p:cNvSpPr/>
          <p:nvPr/>
        </p:nvSpPr>
        <p:spPr>
          <a:xfrm>
            <a:off x="8183880" y="6217920"/>
            <a:ext cx="3749040" cy="1965960"/>
          </a:xfrm>
          <a:prstGeom prst="rect">
            <a:avLst/>
          </a:prstGeom>
          <a:solidFill>
            <a:srgbClr val="0A1F3F"/>
          </a:solidFill>
          <a:ln w="12700">
            <a:solidFill>
              <a:srgbClr val="1A3A5C"/>
            </a:solidFill>
            <a:prstDash val="solid"/>
          </a:ln>
        </p:spPr>
      </p:sp>
      <p:sp>
        <p:nvSpPr>
          <p:cNvPr id="40" name="Shape 38"/>
          <p:cNvSpPr/>
          <p:nvPr/>
        </p:nvSpPr>
        <p:spPr>
          <a:xfrm>
            <a:off x="8183880" y="6217920"/>
            <a:ext cx="3749040" cy="54864"/>
          </a:xfrm>
          <a:prstGeom prst="rect">
            <a:avLst/>
          </a:prstGeom>
          <a:solidFill>
            <a:srgbClr val="1A3A5C"/>
          </a:solidFill>
          <a:ln w="12700">
            <a:solidFill>
              <a:srgbClr val="1A3A5C"/>
            </a:solidFill>
            <a:prstDash val="solid"/>
          </a:ln>
        </p:spPr>
      </p:sp>
      <p:sp>
        <p:nvSpPr>
          <p:cNvPr id="41" name="Text 39"/>
          <p:cNvSpPr/>
          <p:nvPr/>
        </p:nvSpPr>
        <p:spPr>
          <a:xfrm>
            <a:off x="8366760" y="6382512"/>
            <a:ext cx="548640" cy="457200"/>
          </a:xfrm>
          <a:prstGeom prst="rect">
            <a:avLst/>
          </a:prstGeom>
          <a:noFill/>
          <a:ln/>
        </p:spPr>
        <p:txBody>
          <a:bodyPr wrap="square" lIns="0" tIns="0" rIns="0" bIns="0" rtlCol="0" anchor="ctr"/>
          <a:lstStyle/>
          <a:p>
            <a:pPr algn="l"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42" name="Text 40"/>
          <p:cNvSpPr/>
          <p:nvPr/>
        </p:nvSpPr>
        <p:spPr>
          <a:xfrm>
            <a:off x="8961120" y="6355080"/>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No AI Anywhere</a:t>
            </a:r>
            <a:endParaRPr lang="en-US" sz="1400" dirty="0"/>
          </a:p>
        </p:txBody>
      </p:sp>
      <p:sp>
        <p:nvSpPr>
          <p:cNvPr id="43" name="Text 41"/>
          <p:cNvSpPr/>
          <p:nvPr/>
        </p:nvSpPr>
        <p:spPr>
          <a:xfrm>
            <a:off x="8366760" y="6839712"/>
            <a:ext cx="3383280" cy="54864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0</a:t>
            </a:r>
            <a:endParaRPr lang="en-US" sz="3000" dirty="0"/>
          </a:p>
        </p:txBody>
      </p:sp>
      <p:sp>
        <p:nvSpPr>
          <p:cNvPr id="44" name="Text 42"/>
          <p:cNvSpPr/>
          <p:nvPr/>
        </p:nvSpPr>
        <p:spPr>
          <a:xfrm>
            <a:off x="8366760" y="7406640"/>
            <a:ext cx="3383280" cy="548640"/>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Automotive AI solutions built for India today</a:t>
            </a:r>
            <a:endParaRPr lang="en-US" sz="1100" dirty="0"/>
          </a:p>
        </p:txBody>
      </p:sp>
      <p:sp>
        <p:nvSpPr>
          <p:cNvPr id="45" name="Shape 43"/>
          <p:cNvSpPr/>
          <p:nvPr/>
        </p:nvSpPr>
        <p:spPr>
          <a:xfrm>
            <a:off x="0" y="6565392"/>
            <a:ext cx="12188952" cy="18288"/>
          </a:xfrm>
          <a:prstGeom prst="rect">
            <a:avLst/>
          </a:prstGeom>
          <a:solidFill>
            <a:srgbClr val="1A3A5C"/>
          </a:solidFill>
          <a:ln w="12700">
            <a:solidFill>
              <a:srgbClr val="1A3A5C"/>
            </a:solidFill>
            <a:prstDash val="solid"/>
          </a:ln>
        </p:spPr>
      </p:sp>
      <p:sp>
        <p:nvSpPr>
          <p:cNvPr id="46" name="Text 44"/>
          <p:cNvSpPr/>
          <p:nvPr/>
        </p:nvSpPr>
        <p:spPr>
          <a:xfrm>
            <a:off x="274320" y="6583680"/>
            <a:ext cx="9144000" cy="228600"/>
          </a:xfrm>
          <a:prstGeom prst="rect">
            <a:avLst/>
          </a:prstGeom>
          <a:noFill/>
          <a:ln/>
        </p:spPr>
        <p:txBody>
          <a:bodyPr wrap="square" lIns="0" tIns="0" rIns="0" bIns="0" rtlCol="0" anchor="ctr"/>
          <a:lstStyle/>
          <a:p>
            <a:pPr indent="0" marL="0">
              <a:buNone/>
            </a:pPr>
            <a:r>
              <a:rPr lang="en-US" sz="800" dirty="0">
                <a:solidFill>
                  <a:srgbClr val="1A3A5C"/>
                </a:solidFill>
                <a:latin typeface="Arial" pitchFamily="34" charset="0"/>
                <a:ea typeface="Arial" pitchFamily="34" charset="-122"/>
                <a:cs typeface="Arial" pitchFamily="34" charset="-120"/>
              </a:rPr>
              <a:t>AutoEra AI Solutions Pvt. Ltd.  |  Chennai, Tamil Nadu  |  UDYAM-TN-24-0162449  |  CONFIDENTIAL</a:t>
            </a:r>
            <a:endParaRPr lang="en-US" sz="800" dirty="0"/>
          </a:p>
        </p:txBody>
      </p:sp>
      <p:sp>
        <p:nvSpPr>
          <p:cNvPr id="47" name="Text 45"/>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2/10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27432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THE SOLUTION</a:t>
            </a:r>
            <a:endParaRPr lang="en-US" sz="900" dirty="0"/>
          </a:p>
        </p:txBody>
      </p:sp>
      <p:sp>
        <p:nvSpPr>
          <p:cNvPr id="6" name="Text 4"/>
          <p:cNvSpPr/>
          <p:nvPr/>
        </p:nvSpPr>
        <p:spPr>
          <a:xfrm>
            <a:off x="274320" y="685800"/>
            <a:ext cx="8229600" cy="64008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AutoEra AI — The Operating System for Automotive</a:t>
            </a:r>
            <a:endParaRPr lang="en-US" sz="2600" dirty="0"/>
          </a:p>
        </p:txBody>
      </p:sp>
      <p:sp>
        <p:nvSpPr>
          <p:cNvPr id="7" name="Shape 5"/>
          <p:cNvSpPr/>
          <p:nvPr/>
        </p:nvSpPr>
        <p:spPr>
          <a:xfrm>
            <a:off x="274320" y="1280160"/>
            <a:ext cx="1828800" cy="36576"/>
          </a:xfrm>
          <a:prstGeom prst="rect">
            <a:avLst/>
          </a:prstGeom>
          <a:solidFill>
            <a:srgbClr val="CC4500"/>
          </a:solidFill>
          <a:ln w="12700">
            <a:solidFill>
              <a:srgbClr val="CC4500"/>
            </a:solidFill>
            <a:prstDash val="solid"/>
          </a:ln>
        </p:spPr>
      </p:sp>
      <p:sp>
        <p:nvSpPr>
          <p:cNvPr id="8" name="Text 6"/>
          <p:cNvSpPr/>
          <p:nvPr/>
        </p:nvSpPr>
        <p:spPr>
          <a:xfrm>
            <a:off x="274320" y="1389888"/>
            <a:ext cx="9144000" cy="320040"/>
          </a:xfrm>
          <a:prstGeom prst="rect">
            <a:avLst/>
          </a:prstGeom>
          <a:noFill/>
          <a:ln/>
        </p:spPr>
        <p:txBody>
          <a:bodyPr wrap="square" lIns="0" tIns="0" rIns="0" bIns="0" rtlCol="0" anchor="ctr"/>
          <a:lstStyle/>
          <a:p>
            <a:pPr algn="l" indent="0" marL="0">
              <a:buNone/>
            </a:pPr>
            <a:r>
              <a:rPr lang="en-US" sz="1300" dirty="0">
                <a:solidFill>
                  <a:srgbClr val="8899BB"/>
                </a:solidFill>
                <a:latin typeface="Arial" pitchFamily="34" charset="0"/>
                <a:ea typeface="Arial" pitchFamily="34" charset="-122"/>
                <a:cs typeface="Arial" pitchFamily="34" charset="-120"/>
              </a:rPr>
              <a:t>10 specialist AI agents. WhatsApp-native. Tamil-first. Autonomous. No installation required.</a:t>
            </a:r>
            <a:endParaRPr lang="en-US" sz="1300" dirty="0"/>
          </a:p>
        </p:txBody>
      </p:sp>
      <p:sp>
        <p:nvSpPr>
          <p:cNvPr id="9" name="Shape 7"/>
          <p:cNvSpPr/>
          <p:nvPr/>
        </p:nvSpPr>
        <p:spPr>
          <a:xfrm>
            <a:off x="5486400" y="3063240"/>
            <a:ext cx="1188720" cy="1188720"/>
          </a:xfrm>
          <a:prstGeom prst="ellipse">
            <a:avLst/>
          </a:prstGeom>
          <a:solidFill>
            <a:srgbClr val="CC4500"/>
          </a:solidFill>
          <a:ln w="25400">
            <a:solidFill>
              <a:srgbClr val="FF6B2B"/>
            </a:solidFill>
            <a:prstDash val="solid"/>
          </a:ln>
        </p:spPr>
      </p:sp>
      <p:sp>
        <p:nvSpPr>
          <p:cNvPr id="10" name="Text 8"/>
          <p:cNvSpPr/>
          <p:nvPr/>
        </p:nvSpPr>
        <p:spPr>
          <a:xfrm>
            <a:off x="5532120" y="3246120"/>
            <a:ext cx="109728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AutoEra</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AI</a:t>
            </a:r>
            <a:endParaRPr lang="en-US" sz="1100" dirty="0"/>
          </a:p>
        </p:txBody>
      </p:sp>
      <p:sp>
        <p:nvSpPr>
          <p:cNvPr id="11" name="Shape 9"/>
          <p:cNvSpPr/>
          <p:nvPr/>
        </p:nvSpPr>
        <p:spPr>
          <a:xfrm>
            <a:off x="274320" y="1828800"/>
            <a:ext cx="2834640" cy="960120"/>
          </a:xfrm>
          <a:prstGeom prst="rect">
            <a:avLst/>
          </a:prstGeom>
          <a:solidFill>
            <a:srgbClr val="0A1F3F"/>
          </a:solidFill>
          <a:ln w="12700">
            <a:solidFill>
              <a:srgbClr val="1A3A5C"/>
            </a:solidFill>
            <a:prstDash val="solid"/>
          </a:ln>
        </p:spPr>
      </p:sp>
      <p:sp>
        <p:nvSpPr>
          <p:cNvPr id="12" name="Text 10"/>
          <p:cNvSpPr/>
          <p:nvPr/>
        </p:nvSpPr>
        <p:spPr>
          <a:xfrm>
            <a:off x="365760" y="196596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868680" y="192024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Sales Agent</a:t>
            </a:r>
            <a:endParaRPr lang="en-US" sz="1200" dirty="0"/>
          </a:p>
        </p:txBody>
      </p:sp>
      <p:sp>
        <p:nvSpPr>
          <p:cNvPr id="14" name="Text 12"/>
          <p:cNvSpPr/>
          <p:nvPr/>
        </p:nvSpPr>
        <p:spPr>
          <a:xfrm>
            <a:off x="868680" y="228600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Lead scoring + Tamil voice follow-up</a:t>
            </a:r>
            <a:endParaRPr lang="en-US" sz="900" dirty="0"/>
          </a:p>
        </p:txBody>
      </p:sp>
      <p:sp>
        <p:nvSpPr>
          <p:cNvPr id="15" name="Shape 13"/>
          <p:cNvSpPr/>
          <p:nvPr/>
        </p:nvSpPr>
        <p:spPr>
          <a:xfrm>
            <a:off x="3108960" y="2304288"/>
            <a:ext cx="2377440" cy="0"/>
          </a:xfrm>
          <a:prstGeom prst="line">
            <a:avLst/>
          </a:prstGeom>
          <a:noFill/>
          <a:ln w="12700">
            <a:solidFill>
              <a:srgbClr val="1A3A5C"/>
            </a:solidFill>
            <a:prstDash val="sysDot"/>
          </a:ln>
        </p:spPr>
      </p:sp>
      <p:sp>
        <p:nvSpPr>
          <p:cNvPr id="16" name="Shape 14"/>
          <p:cNvSpPr/>
          <p:nvPr/>
        </p:nvSpPr>
        <p:spPr>
          <a:xfrm>
            <a:off x="274320" y="3108960"/>
            <a:ext cx="2834640" cy="960120"/>
          </a:xfrm>
          <a:prstGeom prst="rect">
            <a:avLst/>
          </a:prstGeom>
          <a:solidFill>
            <a:srgbClr val="0A1F3F"/>
          </a:solidFill>
          <a:ln w="12700">
            <a:solidFill>
              <a:srgbClr val="1A3A5C"/>
            </a:solidFill>
            <a:prstDash val="solid"/>
          </a:ln>
        </p:spPr>
      </p:sp>
      <p:sp>
        <p:nvSpPr>
          <p:cNvPr id="17" name="Text 15"/>
          <p:cNvSpPr/>
          <p:nvPr/>
        </p:nvSpPr>
        <p:spPr>
          <a:xfrm>
            <a:off x="365760" y="324612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868680" y="320040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Service Agent</a:t>
            </a:r>
            <a:endParaRPr lang="en-US" sz="1200" dirty="0"/>
          </a:p>
        </p:txBody>
      </p:sp>
      <p:sp>
        <p:nvSpPr>
          <p:cNvPr id="19" name="Text 17"/>
          <p:cNvSpPr/>
          <p:nvPr/>
        </p:nvSpPr>
        <p:spPr>
          <a:xfrm>
            <a:off x="868680" y="356616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90-sec job card + WhatsApp updates</a:t>
            </a:r>
            <a:endParaRPr lang="en-US" sz="900" dirty="0"/>
          </a:p>
        </p:txBody>
      </p:sp>
      <p:sp>
        <p:nvSpPr>
          <p:cNvPr id="20" name="Shape 18"/>
          <p:cNvSpPr/>
          <p:nvPr/>
        </p:nvSpPr>
        <p:spPr>
          <a:xfrm>
            <a:off x="3108960" y="3584448"/>
            <a:ext cx="2377440" cy="0"/>
          </a:xfrm>
          <a:prstGeom prst="line">
            <a:avLst/>
          </a:prstGeom>
          <a:noFill/>
          <a:ln w="12700">
            <a:solidFill>
              <a:srgbClr val="1A3A5C"/>
            </a:solidFill>
            <a:prstDash val="sysDot"/>
          </a:ln>
        </p:spPr>
      </p:sp>
      <p:sp>
        <p:nvSpPr>
          <p:cNvPr id="21" name="Shape 19"/>
          <p:cNvSpPr/>
          <p:nvPr/>
        </p:nvSpPr>
        <p:spPr>
          <a:xfrm>
            <a:off x="274320" y="4389120"/>
            <a:ext cx="2834640" cy="960120"/>
          </a:xfrm>
          <a:prstGeom prst="rect">
            <a:avLst/>
          </a:prstGeom>
          <a:solidFill>
            <a:srgbClr val="0A1F3F"/>
          </a:solidFill>
          <a:ln w="12700">
            <a:solidFill>
              <a:srgbClr val="1A3A5C"/>
            </a:solidFill>
            <a:prstDash val="solid"/>
          </a:ln>
        </p:spPr>
      </p:sp>
      <p:sp>
        <p:nvSpPr>
          <p:cNvPr id="22" name="Text 20"/>
          <p:cNvSpPr/>
          <p:nvPr/>
        </p:nvSpPr>
        <p:spPr>
          <a:xfrm>
            <a:off x="365760" y="452628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3" name="Text 21"/>
          <p:cNvSpPr/>
          <p:nvPr/>
        </p:nvSpPr>
        <p:spPr>
          <a:xfrm>
            <a:off x="868680" y="448056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Insurance Agent</a:t>
            </a:r>
            <a:endParaRPr lang="en-US" sz="1200" dirty="0"/>
          </a:p>
        </p:txBody>
      </p:sp>
      <p:sp>
        <p:nvSpPr>
          <p:cNvPr id="24" name="Text 22"/>
          <p:cNvSpPr/>
          <p:nvPr/>
        </p:nvSpPr>
        <p:spPr>
          <a:xfrm>
            <a:off x="868680" y="484632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Auto renewal + claim AI</a:t>
            </a:r>
            <a:endParaRPr lang="en-US" sz="900" dirty="0"/>
          </a:p>
        </p:txBody>
      </p:sp>
      <p:sp>
        <p:nvSpPr>
          <p:cNvPr id="25" name="Shape 23"/>
          <p:cNvSpPr/>
          <p:nvPr/>
        </p:nvSpPr>
        <p:spPr>
          <a:xfrm>
            <a:off x="3108960" y="4864608"/>
            <a:ext cx="2377440" cy="0"/>
          </a:xfrm>
          <a:prstGeom prst="line">
            <a:avLst/>
          </a:prstGeom>
          <a:noFill/>
          <a:ln w="12700">
            <a:solidFill>
              <a:srgbClr val="1A3A5C"/>
            </a:solidFill>
            <a:prstDash val="sysDot"/>
          </a:ln>
        </p:spPr>
      </p:sp>
      <p:sp>
        <p:nvSpPr>
          <p:cNvPr id="26" name="Shape 24"/>
          <p:cNvSpPr/>
          <p:nvPr/>
        </p:nvSpPr>
        <p:spPr>
          <a:xfrm>
            <a:off x="274320" y="5669280"/>
            <a:ext cx="2834640" cy="960120"/>
          </a:xfrm>
          <a:prstGeom prst="rect">
            <a:avLst/>
          </a:prstGeom>
          <a:solidFill>
            <a:srgbClr val="0A1F3F"/>
          </a:solidFill>
          <a:ln w="12700">
            <a:solidFill>
              <a:srgbClr val="1A3A5C"/>
            </a:solidFill>
            <a:prstDash val="solid"/>
          </a:ln>
        </p:spPr>
      </p:sp>
      <p:sp>
        <p:nvSpPr>
          <p:cNvPr id="27" name="Text 25"/>
          <p:cNvSpPr/>
          <p:nvPr/>
        </p:nvSpPr>
        <p:spPr>
          <a:xfrm>
            <a:off x="365760" y="580644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868680" y="576072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Finance Agent</a:t>
            </a:r>
            <a:endParaRPr lang="en-US" sz="1200" dirty="0"/>
          </a:p>
        </p:txBody>
      </p:sp>
      <p:sp>
        <p:nvSpPr>
          <p:cNvPr id="29" name="Text 27"/>
          <p:cNvSpPr/>
          <p:nvPr/>
        </p:nvSpPr>
        <p:spPr>
          <a:xfrm>
            <a:off x="868680" y="612648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DigiLocker + 10-bank EMI compare</a:t>
            </a:r>
            <a:endParaRPr lang="en-US" sz="900" dirty="0"/>
          </a:p>
        </p:txBody>
      </p:sp>
      <p:sp>
        <p:nvSpPr>
          <p:cNvPr id="30" name="Shape 28"/>
          <p:cNvSpPr/>
          <p:nvPr/>
        </p:nvSpPr>
        <p:spPr>
          <a:xfrm>
            <a:off x="3108960" y="6144768"/>
            <a:ext cx="2377440" cy="0"/>
          </a:xfrm>
          <a:prstGeom prst="line">
            <a:avLst/>
          </a:prstGeom>
          <a:noFill/>
          <a:ln w="12700">
            <a:solidFill>
              <a:srgbClr val="1A3A5C"/>
            </a:solidFill>
            <a:prstDash val="sysDot"/>
          </a:ln>
        </p:spPr>
      </p:sp>
      <p:sp>
        <p:nvSpPr>
          <p:cNvPr id="31" name="Shape 29"/>
          <p:cNvSpPr/>
          <p:nvPr/>
        </p:nvSpPr>
        <p:spPr>
          <a:xfrm>
            <a:off x="8961120" y="1828800"/>
            <a:ext cx="2834640" cy="960120"/>
          </a:xfrm>
          <a:prstGeom prst="rect">
            <a:avLst/>
          </a:prstGeom>
          <a:solidFill>
            <a:srgbClr val="0A1F3F"/>
          </a:solidFill>
          <a:ln w="12700">
            <a:solidFill>
              <a:srgbClr val="1A3A5C"/>
            </a:solidFill>
            <a:prstDash val="solid"/>
          </a:ln>
        </p:spPr>
      </p:sp>
      <p:sp>
        <p:nvSpPr>
          <p:cNvPr id="32" name="Text 30"/>
          <p:cNvSpPr/>
          <p:nvPr/>
        </p:nvSpPr>
        <p:spPr>
          <a:xfrm>
            <a:off x="9052560" y="196596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33" name="Text 31"/>
          <p:cNvSpPr/>
          <p:nvPr/>
        </p:nvSpPr>
        <p:spPr>
          <a:xfrm>
            <a:off x="9555480" y="192024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EV Agent</a:t>
            </a:r>
            <a:endParaRPr lang="en-US" sz="1200" dirty="0"/>
          </a:p>
        </p:txBody>
      </p:sp>
      <p:sp>
        <p:nvSpPr>
          <p:cNvPr id="34" name="Text 32"/>
          <p:cNvSpPr/>
          <p:nvPr/>
        </p:nvSpPr>
        <p:spPr>
          <a:xfrm>
            <a:off x="9555480" y="228600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Battery health + range intelligence</a:t>
            </a:r>
            <a:endParaRPr lang="en-US" sz="900" dirty="0"/>
          </a:p>
        </p:txBody>
      </p:sp>
      <p:sp>
        <p:nvSpPr>
          <p:cNvPr id="35" name="Shape 33"/>
          <p:cNvSpPr/>
          <p:nvPr/>
        </p:nvSpPr>
        <p:spPr>
          <a:xfrm>
            <a:off x="5486400" y="2304288"/>
            <a:ext cx="3474720" cy="0"/>
          </a:xfrm>
          <a:prstGeom prst="line">
            <a:avLst/>
          </a:prstGeom>
          <a:noFill/>
          <a:ln w="12700">
            <a:solidFill>
              <a:srgbClr val="1A3A5C"/>
            </a:solidFill>
            <a:prstDash val="sysDot"/>
          </a:ln>
        </p:spPr>
      </p:sp>
      <p:sp>
        <p:nvSpPr>
          <p:cNvPr id="36" name="Shape 34"/>
          <p:cNvSpPr/>
          <p:nvPr/>
        </p:nvSpPr>
        <p:spPr>
          <a:xfrm>
            <a:off x="8961120" y="3108960"/>
            <a:ext cx="2834640" cy="960120"/>
          </a:xfrm>
          <a:prstGeom prst="rect">
            <a:avLst/>
          </a:prstGeom>
          <a:solidFill>
            <a:srgbClr val="0A1F3F"/>
          </a:solidFill>
          <a:ln w="12700">
            <a:solidFill>
              <a:srgbClr val="1A3A5C"/>
            </a:solidFill>
            <a:prstDash val="solid"/>
          </a:ln>
        </p:spPr>
      </p:sp>
      <p:sp>
        <p:nvSpPr>
          <p:cNvPr id="37" name="Text 35"/>
          <p:cNvSpPr/>
          <p:nvPr/>
        </p:nvSpPr>
        <p:spPr>
          <a:xfrm>
            <a:off x="9052560" y="324612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38" name="Text 36"/>
          <p:cNvSpPr/>
          <p:nvPr/>
        </p:nvSpPr>
        <p:spPr>
          <a:xfrm>
            <a:off x="9555480" y="320040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Fleet Agent</a:t>
            </a:r>
            <a:endParaRPr lang="en-US" sz="1200" dirty="0"/>
          </a:p>
        </p:txBody>
      </p:sp>
      <p:sp>
        <p:nvSpPr>
          <p:cNvPr id="39" name="Text 37"/>
          <p:cNvSpPr/>
          <p:nvPr/>
        </p:nvSpPr>
        <p:spPr>
          <a:xfrm>
            <a:off x="9555480" y="356616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OBD-II + predictive maintenance</a:t>
            </a:r>
            <a:endParaRPr lang="en-US" sz="900" dirty="0"/>
          </a:p>
        </p:txBody>
      </p:sp>
      <p:sp>
        <p:nvSpPr>
          <p:cNvPr id="40" name="Shape 38"/>
          <p:cNvSpPr/>
          <p:nvPr/>
        </p:nvSpPr>
        <p:spPr>
          <a:xfrm>
            <a:off x="5486400" y="3584448"/>
            <a:ext cx="3474720" cy="0"/>
          </a:xfrm>
          <a:prstGeom prst="line">
            <a:avLst/>
          </a:prstGeom>
          <a:noFill/>
          <a:ln w="12700">
            <a:solidFill>
              <a:srgbClr val="1A3A5C"/>
            </a:solidFill>
            <a:prstDash val="sysDot"/>
          </a:ln>
        </p:spPr>
      </p:sp>
      <p:sp>
        <p:nvSpPr>
          <p:cNvPr id="41" name="Shape 39"/>
          <p:cNvSpPr/>
          <p:nvPr/>
        </p:nvSpPr>
        <p:spPr>
          <a:xfrm>
            <a:off x="8961120" y="4389120"/>
            <a:ext cx="2834640" cy="960120"/>
          </a:xfrm>
          <a:prstGeom prst="rect">
            <a:avLst/>
          </a:prstGeom>
          <a:solidFill>
            <a:srgbClr val="0A1F3F"/>
          </a:solidFill>
          <a:ln w="12700">
            <a:solidFill>
              <a:srgbClr val="1A3A5C"/>
            </a:solidFill>
            <a:prstDash val="solid"/>
          </a:ln>
        </p:spPr>
      </p:sp>
      <p:sp>
        <p:nvSpPr>
          <p:cNvPr id="42" name="Text 40"/>
          <p:cNvSpPr/>
          <p:nvPr/>
        </p:nvSpPr>
        <p:spPr>
          <a:xfrm>
            <a:off x="9052560" y="452628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43" name="Text 41"/>
          <p:cNvSpPr/>
          <p:nvPr/>
        </p:nvSpPr>
        <p:spPr>
          <a:xfrm>
            <a:off x="9555480" y="448056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Analytics Agent</a:t>
            </a:r>
            <a:endParaRPr lang="en-US" sz="1200" dirty="0"/>
          </a:p>
        </p:txBody>
      </p:sp>
      <p:sp>
        <p:nvSpPr>
          <p:cNvPr id="44" name="Text 42"/>
          <p:cNvSpPr/>
          <p:nvPr/>
        </p:nvSpPr>
        <p:spPr>
          <a:xfrm>
            <a:off x="9555480" y="484632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8am DP brief + real-time KPIs</a:t>
            </a:r>
            <a:endParaRPr lang="en-US" sz="900" dirty="0"/>
          </a:p>
        </p:txBody>
      </p:sp>
      <p:sp>
        <p:nvSpPr>
          <p:cNvPr id="45" name="Shape 43"/>
          <p:cNvSpPr/>
          <p:nvPr/>
        </p:nvSpPr>
        <p:spPr>
          <a:xfrm>
            <a:off x="5486400" y="4864608"/>
            <a:ext cx="3474720" cy="0"/>
          </a:xfrm>
          <a:prstGeom prst="line">
            <a:avLst/>
          </a:prstGeom>
          <a:noFill/>
          <a:ln w="12700">
            <a:solidFill>
              <a:srgbClr val="1A3A5C"/>
            </a:solidFill>
            <a:prstDash val="sysDot"/>
          </a:ln>
        </p:spPr>
      </p:sp>
      <p:sp>
        <p:nvSpPr>
          <p:cNvPr id="46" name="Shape 44"/>
          <p:cNvSpPr/>
          <p:nvPr/>
        </p:nvSpPr>
        <p:spPr>
          <a:xfrm>
            <a:off x="8961120" y="5669280"/>
            <a:ext cx="2834640" cy="960120"/>
          </a:xfrm>
          <a:prstGeom prst="rect">
            <a:avLst/>
          </a:prstGeom>
          <a:solidFill>
            <a:srgbClr val="0A1F3F"/>
          </a:solidFill>
          <a:ln w="12700">
            <a:solidFill>
              <a:srgbClr val="1A3A5C"/>
            </a:solidFill>
            <a:prstDash val="solid"/>
          </a:ln>
        </p:spPr>
      </p:sp>
      <p:sp>
        <p:nvSpPr>
          <p:cNvPr id="47" name="Text 45"/>
          <p:cNvSpPr/>
          <p:nvPr/>
        </p:nvSpPr>
        <p:spPr>
          <a:xfrm>
            <a:off x="9052560" y="5806440"/>
            <a:ext cx="457200" cy="411480"/>
          </a:xfrm>
          <a:prstGeom prst="rect">
            <a:avLst/>
          </a:prstGeom>
          <a:noFill/>
          <a:ln/>
        </p:spPr>
        <p:txBody>
          <a:bodyPr wrap="square" lIns="0" tIns="0" rIns="0" bIns="0" rtlCol="0" anchor="ctr"/>
          <a:lstStyle/>
          <a:p>
            <a:pP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48" name="Text 46"/>
          <p:cNvSpPr/>
          <p:nvPr/>
        </p:nvSpPr>
        <p:spPr>
          <a:xfrm>
            <a:off x="9555480" y="5760720"/>
            <a:ext cx="2148840" cy="347472"/>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Voice Agent</a:t>
            </a:r>
            <a:endParaRPr lang="en-US" sz="1200" dirty="0"/>
          </a:p>
        </p:txBody>
      </p:sp>
      <p:sp>
        <p:nvSpPr>
          <p:cNvPr id="49" name="Text 47"/>
          <p:cNvSpPr/>
          <p:nvPr/>
        </p:nvSpPr>
        <p:spPr>
          <a:xfrm>
            <a:off x="9555480" y="6126480"/>
            <a:ext cx="2148840" cy="36576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Outbound Tamil AI calls</a:t>
            </a:r>
            <a:endParaRPr lang="en-US" sz="900" dirty="0"/>
          </a:p>
        </p:txBody>
      </p:sp>
      <p:sp>
        <p:nvSpPr>
          <p:cNvPr id="50" name="Shape 48"/>
          <p:cNvSpPr/>
          <p:nvPr/>
        </p:nvSpPr>
        <p:spPr>
          <a:xfrm>
            <a:off x="5486400" y="6144768"/>
            <a:ext cx="3474720" cy="0"/>
          </a:xfrm>
          <a:prstGeom prst="line">
            <a:avLst/>
          </a:prstGeom>
          <a:noFill/>
          <a:ln w="12700">
            <a:solidFill>
              <a:srgbClr val="1A3A5C"/>
            </a:solidFill>
            <a:prstDash val="sysDot"/>
          </a:ln>
        </p:spPr>
      </p:sp>
      <p:sp>
        <p:nvSpPr>
          <p:cNvPr id="51" name="Shape 49"/>
          <p:cNvSpPr/>
          <p:nvPr/>
        </p:nvSpPr>
        <p:spPr>
          <a:xfrm>
            <a:off x="274320" y="6400800"/>
            <a:ext cx="11612880" cy="347472"/>
          </a:xfrm>
          <a:prstGeom prst="rect">
            <a:avLst/>
          </a:prstGeom>
          <a:solidFill>
            <a:srgbClr val="CC4500"/>
          </a:solidFill>
          <a:ln w="12700">
            <a:solidFill>
              <a:srgbClr val="CC4500"/>
            </a:solidFill>
            <a:prstDash val="solid"/>
          </a:ln>
        </p:spPr>
      </p:sp>
      <p:sp>
        <p:nvSpPr>
          <p:cNvPr id="52" name="Text 50"/>
          <p:cNvSpPr/>
          <p:nvPr/>
        </p:nvSpPr>
        <p:spPr>
          <a:xfrm>
            <a:off x="274320" y="6400800"/>
            <a:ext cx="116128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WhatsApp-Native  ·  Tamil AI  ·  No Installation  ·  90-Second Job Card  ·  Autonomous Lead Follow-Up  ·  Predictive Maintenance</a:t>
            </a:r>
            <a:endParaRPr lang="en-US" sz="1100" dirty="0"/>
          </a:p>
        </p:txBody>
      </p:sp>
      <p:sp>
        <p:nvSpPr>
          <p:cNvPr id="53" name="Text 51"/>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3/10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MARKET OPPORTUNITY</a:t>
            </a:r>
            <a:endParaRPr lang="en-US" sz="900" dirty="0"/>
          </a:p>
        </p:txBody>
      </p:sp>
      <p:sp>
        <p:nvSpPr>
          <p:cNvPr id="6" name="Text 4"/>
          <p:cNvSpPr/>
          <p:nvPr/>
        </p:nvSpPr>
        <p:spPr>
          <a:xfrm>
            <a:off x="274320" y="685800"/>
            <a:ext cx="868680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₹9,000 Crore India Market. A $39 Billion Global Opportunity.</a:t>
            </a:r>
            <a:endParaRPr lang="en-US" sz="2400" dirty="0"/>
          </a:p>
        </p:txBody>
      </p:sp>
      <p:sp>
        <p:nvSpPr>
          <p:cNvPr id="7" name="Shape 5"/>
          <p:cNvSpPr/>
          <p:nvPr/>
        </p:nvSpPr>
        <p:spPr>
          <a:xfrm>
            <a:off x="274320" y="1371600"/>
            <a:ext cx="1828800" cy="36576"/>
          </a:xfrm>
          <a:prstGeom prst="rect">
            <a:avLst/>
          </a:prstGeom>
          <a:solidFill>
            <a:srgbClr val="CC4500"/>
          </a:solidFill>
          <a:ln w="12700">
            <a:solidFill>
              <a:srgbClr val="CC4500"/>
            </a:solidFill>
            <a:prstDash val="solid"/>
          </a:ln>
        </p:spPr>
      </p:sp>
      <p:sp>
        <p:nvSpPr>
          <p:cNvPr id="8" name="Shape 6"/>
          <p:cNvSpPr/>
          <p:nvPr/>
        </p:nvSpPr>
        <p:spPr>
          <a:xfrm>
            <a:off x="457200" y="1645920"/>
            <a:ext cx="5303520" cy="4572000"/>
          </a:xfrm>
          <a:prstGeom prst="ellipse">
            <a:avLst/>
          </a:prstGeom>
          <a:solidFill>
            <a:srgbClr val="1A3A5C"/>
          </a:solidFill>
          <a:ln w="12700">
            <a:solidFill>
              <a:srgbClr val="1A3A5C"/>
            </a:solidFill>
            <a:prstDash val="solid"/>
          </a:ln>
        </p:spPr>
      </p:sp>
      <p:sp>
        <p:nvSpPr>
          <p:cNvPr id="9" name="Shape 7"/>
          <p:cNvSpPr/>
          <p:nvPr/>
        </p:nvSpPr>
        <p:spPr>
          <a:xfrm>
            <a:off x="1188720" y="2286000"/>
            <a:ext cx="3840480" cy="3291840"/>
          </a:xfrm>
          <a:prstGeom prst="ellipse">
            <a:avLst/>
          </a:prstGeom>
          <a:solidFill>
            <a:srgbClr val="0A1F3F"/>
          </a:solidFill>
          <a:ln w="12700">
            <a:solidFill>
              <a:srgbClr val="0A1F3F"/>
            </a:solidFill>
            <a:prstDash val="solid"/>
          </a:ln>
        </p:spPr>
      </p:sp>
      <p:sp>
        <p:nvSpPr>
          <p:cNvPr id="10" name="Shape 8"/>
          <p:cNvSpPr/>
          <p:nvPr/>
        </p:nvSpPr>
        <p:spPr>
          <a:xfrm>
            <a:off x="2011680" y="2926080"/>
            <a:ext cx="2194560" cy="2011680"/>
          </a:xfrm>
          <a:prstGeom prst="ellipse">
            <a:avLst/>
          </a:prstGeom>
          <a:solidFill>
            <a:srgbClr val="CC4500"/>
          </a:solidFill>
          <a:ln w="12700">
            <a:solidFill>
              <a:srgbClr val="CC4500"/>
            </a:solidFill>
            <a:prstDash val="solid"/>
          </a:ln>
        </p:spPr>
      </p:sp>
      <p:sp>
        <p:nvSpPr>
          <p:cNvPr id="11" name="Text 9"/>
          <p:cNvSpPr/>
          <p:nvPr/>
        </p:nvSpPr>
        <p:spPr>
          <a:xfrm>
            <a:off x="502920" y="1737360"/>
            <a:ext cx="1097280" cy="320040"/>
          </a:xfrm>
          <a:prstGeom prst="rect">
            <a:avLst/>
          </a:prstGeom>
          <a:noFill/>
          <a:ln/>
        </p:spPr>
        <p:txBody>
          <a:bodyPr wrap="square" lIns="0" tIns="0" rIns="0" bIns="0" rtlCol="0" anchor="ctr"/>
          <a:lstStyle/>
          <a:p>
            <a:pPr indent="0" marL="0">
              <a:buNone/>
            </a:pPr>
            <a:r>
              <a:rPr lang="en-US" sz="1100" b="1" dirty="0">
                <a:solidFill>
                  <a:srgbClr val="E8EDF5"/>
                </a:solidFill>
                <a:latin typeface="Arial" pitchFamily="34" charset="0"/>
                <a:ea typeface="Arial" pitchFamily="34" charset="-122"/>
                <a:cs typeface="Arial" pitchFamily="34" charset="-120"/>
              </a:rPr>
              <a:t>TAM</a:t>
            </a:r>
            <a:endParaRPr lang="en-US" sz="1100" dirty="0"/>
          </a:p>
        </p:txBody>
      </p:sp>
      <p:sp>
        <p:nvSpPr>
          <p:cNvPr id="12" name="Text 10"/>
          <p:cNvSpPr/>
          <p:nvPr/>
        </p:nvSpPr>
        <p:spPr>
          <a:xfrm>
            <a:off x="1234440" y="2377440"/>
            <a:ext cx="1097280" cy="320040"/>
          </a:xfrm>
          <a:prstGeom prst="rect">
            <a:avLst/>
          </a:prstGeom>
          <a:noFill/>
          <a:ln/>
        </p:spPr>
        <p:txBody>
          <a:bodyPr wrap="square" lIns="0" tIns="0" rIns="0" bIns="0" rtlCol="0" anchor="ctr"/>
          <a:lstStyle/>
          <a:p>
            <a:pPr indent="0" marL="0">
              <a:buNone/>
            </a:pPr>
            <a:r>
              <a:rPr lang="en-US" sz="1100" b="1" dirty="0">
                <a:solidFill>
                  <a:srgbClr val="8899BB"/>
                </a:solidFill>
                <a:latin typeface="Arial" pitchFamily="34" charset="0"/>
                <a:ea typeface="Arial" pitchFamily="34" charset="-122"/>
                <a:cs typeface="Arial" pitchFamily="34" charset="-120"/>
              </a:rPr>
              <a:t>SAM</a:t>
            </a:r>
            <a:endParaRPr lang="en-US" sz="1100" dirty="0"/>
          </a:p>
        </p:txBody>
      </p:sp>
      <p:sp>
        <p:nvSpPr>
          <p:cNvPr id="13" name="Text 11"/>
          <p:cNvSpPr/>
          <p:nvPr/>
        </p:nvSpPr>
        <p:spPr>
          <a:xfrm>
            <a:off x="2834640" y="3886200"/>
            <a:ext cx="640080" cy="32004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SOM</a:t>
            </a:r>
            <a:endParaRPr lang="en-US" sz="1000" dirty="0"/>
          </a:p>
        </p:txBody>
      </p:sp>
      <p:sp>
        <p:nvSpPr>
          <p:cNvPr id="14" name="Text 12"/>
          <p:cNvSpPr/>
          <p:nvPr/>
        </p:nvSpPr>
        <p:spPr>
          <a:xfrm>
            <a:off x="6035040" y="1828800"/>
            <a:ext cx="5852160" cy="457200"/>
          </a:xfrm>
          <a:prstGeom prst="rect">
            <a:avLst/>
          </a:prstGeom>
          <a:noFill/>
          <a:ln/>
        </p:spPr>
        <p:txBody>
          <a:bodyPr wrap="square" lIns="0" tIns="0" rIns="0" bIns="0" rtlCol="0" anchor="ctr"/>
          <a:lstStyle/>
          <a:p>
            <a:pPr indent="0" marL="0">
              <a:buNone/>
            </a:pPr>
            <a:r>
              <a:rPr lang="en-US" sz="1800" b="1" dirty="0">
                <a:solidFill>
                  <a:srgbClr val="E8EDF5"/>
                </a:solidFill>
                <a:latin typeface="Arial" pitchFamily="34" charset="0"/>
                <a:ea typeface="Arial" pitchFamily="34" charset="-122"/>
                <a:cs typeface="Arial" pitchFamily="34" charset="-120"/>
              </a:rPr>
              <a:t>TAM: $39 Billion</a:t>
            </a:r>
            <a:endParaRPr lang="en-US" sz="1800" dirty="0"/>
          </a:p>
        </p:txBody>
      </p:sp>
      <p:sp>
        <p:nvSpPr>
          <p:cNvPr id="15" name="Text 13"/>
          <p:cNvSpPr/>
          <p:nvPr/>
        </p:nvSpPr>
        <p:spPr>
          <a:xfrm>
            <a:off x="6035040" y="2267712"/>
            <a:ext cx="5852160" cy="347472"/>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Global Automotive SaaS by 2030</a:t>
            </a:r>
            <a:endParaRPr lang="en-US" sz="1100" dirty="0"/>
          </a:p>
        </p:txBody>
      </p:sp>
      <p:sp>
        <p:nvSpPr>
          <p:cNvPr id="16" name="Shape 14"/>
          <p:cNvSpPr/>
          <p:nvPr/>
        </p:nvSpPr>
        <p:spPr>
          <a:xfrm>
            <a:off x="6035040" y="2697480"/>
            <a:ext cx="5303520" cy="0"/>
          </a:xfrm>
          <a:prstGeom prst="line">
            <a:avLst/>
          </a:prstGeom>
          <a:noFill/>
          <a:ln w="12700">
            <a:solidFill>
              <a:srgbClr val="1A3A5C"/>
            </a:solidFill>
            <a:prstDash val="solid"/>
          </a:ln>
        </p:spPr>
      </p:sp>
      <p:sp>
        <p:nvSpPr>
          <p:cNvPr id="17" name="Text 15"/>
          <p:cNvSpPr/>
          <p:nvPr/>
        </p:nvSpPr>
        <p:spPr>
          <a:xfrm>
            <a:off x="6035040" y="3200400"/>
            <a:ext cx="5852160" cy="457200"/>
          </a:xfrm>
          <a:prstGeom prst="rect">
            <a:avLst/>
          </a:prstGeom>
          <a:noFill/>
          <a:ln/>
        </p:spPr>
        <p:txBody>
          <a:bodyPr wrap="square" lIns="0" tIns="0" rIns="0" bIns="0" rtlCol="0" anchor="ctr"/>
          <a:lstStyle/>
          <a:p>
            <a:pPr indent="0" marL="0">
              <a:buNone/>
            </a:pPr>
            <a:r>
              <a:rPr lang="en-US" sz="1800" b="1" dirty="0">
                <a:solidFill>
                  <a:srgbClr val="8899BB"/>
                </a:solidFill>
                <a:latin typeface="Arial" pitchFamily="34" charset="0"/>
                <a:ea typeface="Arial" pitchFamily="34" charset="-122"/>
                <a:cs typeface="Arial" pitchFamily="34" charset="-120"/>
              </a:rPr>
              <a:t>SAM: ₹9,000 Crore</a:t>
            </a:r>
            <a:endParaRPr lang="en-US" sz="1800" dirty="0"/>
          </a:p>
        </p:txBody>
      </p:sp>
      <p:sp>
        <p:nvSpPr>
          <p:cNvPr id="18" name="Text 16"/>
          <p:cNvSpPr/>
          <p:nvPr/>
        </p:nvSpPr>
        <p:spPr>
          <a:xfrm>
            <a:off x="6035040" y="3639312"/>
            <a:ext cx="5852160" cy="347472"/>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India — 26,000 Dealerships + Fleets + OEMs</a:t>
            </a:r>
            <a:endParaRPr lang="en-US" sz="1100" dirty="0"/>
          </a:p>
        </p:txBody>
      </p:sp>
      <p:sp>
        <p:nvSpPr>
          <p:cNvPr id="19" name="Shape 17"/>
          <p:cNvSpPr/>
          <p:nvPr/>
        </p:nvSpPr>
        <p:spPr>
          <a:xfrm>
            <a:off x="6035040" y="4069080"/>
            <a:ext cx="5303520" cy="0"/>
          </a:xfrm>
          <a:prstGeom prst="line">
            <a:avLst/>
          </a:prstGeom>
          <a:noFill/>
          <a:ln w="12700">
            <a:solidFill>
              <a:srgbClr val="1A3A5C"/>
            </a:solidFill>
            <a:prstDash val="solid"/>
          </a:ln>
        </p:spPr>
      </p:sp>
      <p:sp>
        <p:nvSpPr>
          <p:cNvPr id="20" name="Text 18"/>
          <p:cNvSpPr/>
          <p:nvPr/>
        </p:nvSpPr>
        <p:spPr>
          <a:xfrm>
            <a:off x="6035040" y="4572000"/>
            <a:ext cx="5852160" cy="457200"/>
          </a:xfrm>
          <a:prstGeom prst="rect">
            <a:avLst/>
          </a:prstGeom>
          <a:noFill/>
          <a:ln/>
        </p:spPr>
        <p:txBody>
          <a:bodyPr wrap="square" lIns="0" tIns="0" rIns="0" bIns="0" rtlCol="0" anchor="ctr"/>
          <a:lstStyle/>
          <a:p>
            <a:pPr indent="0" marL="0">
              <a:buNone/>
            </a:pPr>
            <a:r>
              <a:rPr lang="en-US" sz="1800" b="1" dirty="0">
                <a:solidFill>
                  <a:srgbClr val="CC4500"/>
                </a:solidFill>
                <a:latin typeface="Arial" pitchFamily="34" charset="0"/>
                <a:ea typeface="Arial" pitchFamily="34" charset="-122"/>
                <a:cs typeface="Arial" pitchFamily="34" charset="-120"/>
              </a:rPr>
              <a:t>SOM: ₹120 Crore</a:t>
            </a:r>
            <a:endParaRPr lang="en-US" sz="1800" dirty="0"/>
          </a:p>
        </p:txBody>
      </p:sp>
      <p:sp>
        <p:nvSpPr>
          <p:cNvPr id="21" name="Text 19"/>
          <p:cNvSpPr/>
          <p:nvPr/>
        </p:nvSpPr>
        <p:spPr>
          <a:xfrm>
            <a:off x="6035040" y="5010912"/>
            <a:ext cx="5852160" cy="347472"/>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Chennai + TN — 3,000 Dealers (Year 1–3)</a:t>
            </a:r>
            <a:endParaRPr lang="en-US" sz="1100" dirty="0"/>
          </a:p>
        </p:txBody>
      </p:sp>
      <p:sp>
        <p:nvSpPr>
          <p:cNvPr id="22" name="Shape 20"/>
          <p:cNvSpPr/>
          <p:nvPr/>
        </p:nvSpPr>
        <p:spPr>
          <a:xfrm>
            <a:off x="6035040" y="5760720"/>
            <a:ext cx="5852160" cy="868680"/>
          </a:xfrm>
          <a:prstGeom prst="rect">
            <a:avLst/>
          </a:prstGeom>
          <a:solidFill>
            <a:srgbClr val="0A1F3F"/>
          </a:solidFill>
          <a:ln w="12700">
            <a:solidFill>
              <a:srgbClr val="CC4500"/>
            </a:solidFill>
            <a:prstDash val="solid"/>
          </a:ln>
        </p:spPr>
      </p:sp>
      <p:sp>
        <p:nvSpPr>
          <p:cNvPr id="23" name="Text 21"/>
          <p:cNvSpPr/>
          <p:nvPr/>
        </p:nvSpPr>
        <p:spPr>
          <a:xfrm>
            <a:off x="6172200" y="5833872"/>
            <a:ext cx="18288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WHY NOW?</a:t>
            </a:r>
            <a:endParaRPr lang="en-US" sz="900" dirty="0"/>
          </a:p>
        </p:txBody>
      </p:sp>
      <p:sp>
        <p:nvSpPr>
          <p:cNvPr id="24" name="Text 22"/>
          <p:cNvSpPr/>
          <p:nvPr/>
        </p:nvSpPr>
        <p:spPr>
          <a:xfrm>
            <a:off x="6172200" y="6035040"/>
            <a:ext cx="5669280" cy="45720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India EV CAGR 54% · UPI penetration 80%+ · WhatsApp 500M users · Government AI Mission ₹10,372Cr · 0 Indian automotive AI today</a:t>
            </a:r>
            <a:endParaRPr lang="en-US" sz="1000" dirty="0"/>
          </a:p>
        </p:txBody>
      </p:sp>
      <p:sp>
        <p:nvSpPr>
          <p:cNvPr id="25" name="Shape 23"/>
          <p:cNvSpPr/>
          <p:nvPr/>
        </p:nvSpPr>
        <p:spPr>
          <a:xfrm>
            <a:off x="6035040" y="4480560"/>
            <a:ext cx="1371600" cy="1005840"/>
          </a:xfrm>
          <a:prstGeom prst="rect">
            <a:avLst/>
          </a:prstGeom>
          <a:solidFill>
            <a:srgbClr val="0A1F3F"/>
          </a:solidFill>
          <a:ln w="12700">
            <a:solidFill>
              <a:srgbClr val="1A3A5C"/>
            </a:solidFill>
            <a:prstDash val="solid"/>
          </a:ln>
        </p:spPr>
      </p:sp>
      <p:sp>
        <p:nvSpPr>
          <p:cNvPr id="26" name="Text 24"/>
          <p:cNvSpPr/>
          <p:nvPr/>
        </p:nvSpPr>
        <p:spPr>
          <a:xfrm>
            <a:off x="6126480" y="4572000"/>
            <a:ext cx="1188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26,000</a:t>
            </a:r>
            <a:endParaRPr lang="en-US" sz="2800" dirty="0"/>
          </a:p>
        </p:txBody>
      </p:sp>
      <p:sp>
        <p:nvSpPr>
          <p:cNvPr id="27" name="Text 25"/>
          <p:cNvSpPr/>
          <p:nvPr/>
        </p:nvSpPr>
        <p:spPr>
          <a:xfrm>
            <a:off x="6126480" y="5047488"/>
            <a:ext cx="1188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Dealerships</a:t>
            </a:r>
            <a:endParaRPr lang="en-US" sz="1000" dirty="0"/>
          </a:p>
        </p:txBody>
      </p:sp>
      <p:sp>
        <p:nvSpPr>
          <p:cNvPr id="28" name="Shape 26"/>
          <p:cNvSpPr/>
          <p:nvPr/>
        </p:nvSpPr>
        <p:spPr>
          <a:xfrm>
            <a:off x="7498080" y="4480560"/>
            <a:ext cx="1371600" cy="1005840"/>
          </a:xfrm>
          <a:prstGeom prst="rect">
            <a:avLst/>
          </a:prstGeom>
          <a:solidFill>
            <a:srgbClr val="0A1F3F"/>
          </a:solidFill>
          <a:ln w="12700">
            <a:solidFill>
              <a:srgbClr val="1A3A5C"/>
            </a:solidFill>
            <a:prstDash val="solid"/>
          </a:ln>
        </p:spPr>
      </p:sp>
      <p:sp>
        <p:nvSpPr>
          <p:cNvPr id="29" name="Text 27"/>
          <p:cNvSpPr/>
          <p:nvPr/>
        </p:nvSpPr>
        <p:spPr>
          <a:xfrm>
            <a:off x="7589520" y="4572000"/>
            <a:ext cx="1188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45,000</a:t>
            </a:r>
            <a:endParaRPr lang="en-US" sz="2800" dirty="0"/>
          </a:p>
        </p:txBody>
      </p:sp>
      <p:sp>
        <p:nvSpPr>
          <p:cNvPr id="30" name="Text 28"/>
          <p:cNvSpPr/>
          <p:nvPr/>
        </p:nvSpPr>
        <p:spPr>
          <a:xfrm>
            <a:off x="7589520" y="5047488"/>
            <a:ext cx="1188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Service Centers</a:t>
            </a:r>
            <a:endParaRPr lang="en-US" sz="1000" dirty="0"/>
          </a:p>
        </p:txBody>
      </p:sp>
      <p:sp>
        <p:nvSpPr>
          <p:cNvPr id="31" name="Shape 29"/>
          <p:cNvSpPr/>
          <p:nvPr/>
        </p:nvSpPr>
        <p:spPr>
          <a:xfrm>
            <a:off x="8961120" y="4480560"/>
            <a:ext cx="1371600" cy="1005840"/>
          </a:xfrm>
          <a:prstGeom prst="rect">
            <a:avLst/>
          </a:prstGeom>
          <a:solidFill>
            <a:srgbClr val="0A1F3F"/>
          </a:solidFill>
          <a:ln w="12700">
            <a:solidFill>
              <a:srgbClr val="1A3A5C"/>
            </a:solidFill>
            <a:prstDash val="solid"/>
          </a:ln>
        </p:spPr>
      </p:sp>
      <p:sp>
        <p:nvSpPr>
          <p:cNvPr id="32" name="Text 30"/>
          <p:cNvSpPr/>
          <p:nvPr/>
        </p:nvSpPr>
        <p:spPr>
          <a:xfrm>
            <a:off x="9052560" y="4572000"/>
            <a:ext cx="1188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3.2M</a:t>
            </a:r>
            <a:endParaRPr lang="en-US" sz="2800" dirty="0"/>
          </a:p>
        </p:txBody>
      </p:sp>
      <p:sp>
        <p:nvSpPr>
          <p:cNvPr id="33" name="Text 31"/>
          <p:cNvSpPr/>
          <p:nvPr/>
        </p:nvSpPr>
        <p:spPr>
          <a:xfrm>
            <a:off x="9052560" y="5047488"/>
            <a:ext cx="1188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Fleet Vehicles</a:t>
            </a:r>
            <a:endParaRPr lang="en-US" sz="1000" dirty="0"/>
          </a:p>
        </p:txBody>
      </p:sp>
      <p:sp>
        <p:nvSpPr>
          <p:cNvPr id="34" name="Shape 32"/>
          <p:cNvSpPr/>
          <p:nvPr/>
        </p:nvSpPr>
        <p:spPr>
          <a:xfrm>
            <a:off x="10424160" y="4480560"/>
            <a:ext cx="1371600" cy="1005840"/>
          </a:xfrm>
          <a:prstGeom prst="rect">
            <a:avLst/>
          </a:prstGeom>
          <a:solidFill>
            <a:srgbClr val="0A1F3F"/>
          </a:solidFill>
          <a:ln w="12700">
            <a:solidFill>
              <a:srgbClr val="1A3A5C"/>
            </a:solidFill>
            <a:prstDash val="solid"/>
          </a:ln>
        </p:spPr>
      </p:sp>
      <p:sp>
        <p:nvSpPr>
          <p:cNvPr id="35" name="Text 33"/>
          <p:cNvSpPr/>
          <p:nvPr/>
        </p:nvSpPr>
        <p:spPr>
          <a:xfrm>
            <a:off x="10515600" y="4572000"/>
            <a:ext cx="1188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15 OEMs</a:t>
            </a:r>
            <a:endParaRPr lang="en-US" sz="2800" dirty="0"/>
          </a:p>
        </p:txBody>
      </p:sp>
      <p:sp>
        <p:nvSpPr>
          <p:cNvPr id="36" name="Text 34"/>
          <p:cNvSpPr/>
          <p:nvPr/>
        </p:nvSpPr>
        <p:spPr>
          <a:xfrm>
            <a:off x="10515600" y="5047488"/>
            <a:ext cx="1188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(India)</a:t>
            </a:r>
            <a:endParaRPr lang="en-US" sz="1000" dirty="0"/>
          </a:p>
        </p:txBody>
      </p:sp>
      <p:sp>
        <p:nvSpPr>
          <p:cNvPr id="37" name="Shape 35"/>
          <p:cNvSpPr/>
          <p:nvPr/>
        </p:nvSpPr>
        <p:spPr>
          <a:xfrm>
            <a:off x="0" y="6565392"/>
            <a:ext cx="12188952" cy="18288"/>
          </a:xfrm>
          <a:prstGeom prst="rect">
            <a:avLst/>
          </a:prstGeom>
          <a:solidFill>
            <a:srgbClr val="1A3A5C"/>
          </a:solidFill>
          <a:ln w="12700">
            <a:solidFill>
              <a:srgbClr val="1A3A5C"/>
            </a:solidFill>
            <a:prstDash val="solid"/>
          </a:ln>
        </p:spPr>
      </p:sp>
      <p:sp>
        <p:nvSpPr>
          <p:cNvPr id="38" name="Text 36"/>
          <p:cNvSpPr/>
          <p:nvPr/>
        </p:nvSpPr>
        <p:spPr>
          <a:xfrm>
            <a:off x="274320" y="6583680"/>
            <a:ext cx="9144000" cy="228600"/>
          </a:xfrm>
          <a:prstGeom prst="rect">
            <a:avLst/>
          </a:prstGeom>
          <a:noFill/>
          <a:ln/>
        </p:spPr>
        <p:txBody>
          <a:bodyPr wrap="square" lIns="0" tIns="0" rIns="0" bIns="0" rtlCol="0" anchor="ctr"/>
          <a:lstStyle/>
          <a:p>
            <a:pPr indent="0" marL="0">
              <a:buNone/>
            </a:pPr>
            <a:r>
              <a:rPr lang="en-US" sz="800" dirty="0">
                <a:solidFill>
                  <a:srgbClr val="1A3A5C"/>
                </a:solidFill>
                <a:latin typeface="Arial" pitchFamily="34" charset="0"/>
                <a:ea typeface="Arial" pitchFamily="34" charset="-122"/>
                <a:cs typeface="Arial" pitchFamily="34" charset="-120"/>
              </a:rPr>
              <a:t>AutoEra AI Solutions Pvt. Ltd.  |  Chennai, Tamil Nadu  |  UDYAM-TN-24-0162449  |  CONFIDENTIAL</a:t>
            </a:r>
            <a:endParaRPr lang="en-US" sz="800" dirty="0"/>
          </a:p>
        </p:txBody>
      </p:sp>
      <p:sp>
        <p:nvSpPr>
          <p:cNvPr id="39" name="Text 37"/>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4/10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BUSINESS MODEL</a:t>
            </a:r>
            <a:endParaRPr lang="en-US" sz="900" dirty="0"/>
          </a:p>
        </p:txBody>
      </p:sp>
      <p:sp>
        <p:nvSpPr>
          <p:cNvPr id="6" name="Text 4"/>
          <p:cNvSpPr/>
          <p:nvPr/>
        </p:nvSpPr>
        <p:spPr>
          <a:xfrm>
            <a:off x="274320" y="685800"/>
            <a:ext cx="9144000" cy="59436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SaaS + Transactions. Predictable. Scalable. High-Margin.</a:t>
            </a:r>
            <a:endParaRPr lang="en-US" sz="2400" dirty="0"/>
          </a:p>
        </p:txBody>
      </p:sp>
      <p:sp>
        <p:nvSpPr>
          <p:cNvPr id="7" name="Shape 5"/>
          <p:cNvSpPr/>
          <p:nvPr/>
        </p:nvSpPr>
        <p:spPr>
          <a:xfrm>
            <a:off x="274320" y="1261872"/>
            <a:ext cx="1828800" cy="36576"/>
          </a:xfrm>
          <a:prstGeom prst="rect">
            <a:avLst/>
          </a:prstGeom>
          <a:solidFill>
            <a:srgbClr val="CC4500"/>
          </a:solidFill>
          <a:ln w="12700">
            <a:solidFill>
              <a:srgbClr val="CC4500"/>
            </a:solidFill>
            <a:prstDash val="solid"/>
          </a:ln>
        </p:spPr>
      </p:sp>
      <p:sp>
        <p:nvSpPr>
          <p:cNvPr id="8" name="Shape 6"/>
          <p:cNvSpPr/>
          <p:nvPr/>
        </p:nvSpPr>
        <p:spPr>
          <a:xfrm>
            <a:off x="274320" y="1463040"/>
            <a:ext cx="2788920" cy="3474720"/>
          </a:xfrm>
          <a:prstGeom prst="rect">
            <a:avLst/>
          </a:prstGeom>
          <a:solidFill>
            <a:srgbClr val="0A1F3F"/>
          </a:solidFill>
          <a:ln w="12700">
            <a:solidFill>
              <a:srgbClr val="1A3A5C"/>
            </a:solidFill>
            <a:prstDash val="solid"/>
          </a:ln>
        </p:spPr>
      </p:sp>
      <p:sp>
        <p:nvSpPr>
          <p:cNvPr id="9" name="Text 7"/>
          <p:cNvSpPr/>
          <p:nvPr/>
        </p:nvSpPr>
        <p:spPr>
          <a:xfrm>
            <a:off x="411480" y="1828800"/>
            <a:ext cx="2514600" cy="365760"/>
          </a:xfrm>
          <a:prstGeom prst="rect">
            <a:avLst/>
          </a:prstGeom>
          <a:noFill/>
          <a:ln/>
        </p:spPr>
        <p:txBody>
          <a:bodyPr wrap="square" lIns="0" tIns="0" rIns="0" bIns="0" rtlCol="0" anchor="ctr"/>
          <a:lstStyle/>
          <a:p>
            <a:pPr indent="0" marL="0">
              <a:buNone/>
            </a:pPr>
            <a:r>
              <a:rPr lang="en-US" sz="1600" b="1" dirty="0">
                <a:solidFill>
                  <a:srgbClr val="CC4500"/>
                </a:solidFill>
                <a:latin typeface="Arial" pitchFamily="34" charset="0"/>
                <a:ea typeface="Arial" pitchFamily="34" charset="-122"/>
                <a:cs typeface="Arial" pitchFamily="34" charset="-120"/>
              </a:rPr>
              <a:t>Starter</a:t>
            </a:r>
            <a:endParaRPr lang="en-US" sz="1600" dirty="0"/>
          </a:p>
        </p:txBody>
      </p:sp>
      <p:sp>
        <p:nvSpPr>
          <p:cNvPr id="10" name="Text 8"/>
          <p:cNvSpPr/>
          <p:nvPr/>
        </p:nvSpPr>
        <p:spPr>
          <a:xfrm>
            <a:off x="411480" y="2176272"/>
            <a:ext cx="2514600" cy="59436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₹2,499</a:t>
            </a:r>
            <a:endParaRPr lang="en-US" sz="3000" dirty="0"/>
          </a:p>
        </p:txBody>
      </p:sp>
      <p:sp>
        <p:nvSpPr>
          <p:cNvPr id="11" name="Text 9"/>
          <p:cNvSpPr/>
          <p:nvPr/>
        </p:nvSpPr>
        <p:spPr>
          <a:xfrm>
            <a:off x="411480" y="2724912"/>
            <a:ext cx="2514600" cy="256032"/>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/month</a:t>
            </a:r>
            <a:endParaRPr lang="en-US" sz="1100" dirty="0"/>
          </a:p>
        </p:txBody>
      </p:sp>
      <p:sp>
        <p:nvSpPr>
          <p:cNvPr id="12" name="Text 10"/>
          <p:cNvSpPr/>
          <p:nvPr/>
        </p:nvSpPr>
        <p:spPr>
          <a:xfrm>
            <a:off x="411480" y="3063240"/>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ServicePulse Job Cards</a:t>
            </a:r>
            <a:endParaRPr lang="en-US" sz="1000" dirty="0"/>
          </a:p>
        </p:txBody>
      </p:sp>
      <p:sp>
        <p:nvSpPr>
          <p:cNvPr id="13" name="Text 11"/>
          <p:cNvSpPr/>
          <p:nvPr/>
        </p:nvSpPr>
        <p:spPr>
          <a:xfrm>
            <a:off x="411480" y="3410712"/>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WhatsApp Auto-Updates</a:t>
            </a:r>
            <a:endParaRPr lang="en-US" sz="1000" dirty="0"/>
          </a:p>
        </p:txBody>
      </p:sp>
      <p:sp>
        <p:nvSpPr>
          <p:cNvPr id="14" name="Text 12"/>
          <p:cNvSpPr/>
          <p:nvPr/>
        </p:nvSpPr>
        <p:spPr>
          <a:xfrm>
            <a:off x="411480" y="3758184"/>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Basic CRM</a:t>
            </a:r>
            <a:endParaRPr lang="en-US" sz="1000" dirty="0"/>
          </a:p>
        </p:txBody>
      </p:sp>
      <p:sp>
        <p:nvSpPr>
          <p:cNvPr id="15" name="Text 13"/>
          <p:cNvSpPr/>
          <p:nvPr/>
        </p:nvSpPr>
        <p:spPr>
          <a:xfrm>
            <a:off x="411480" y="4105656"/>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Gemini Flash AI</a:t>
            </a:r>
            <a:endParaRPr lang="en-US" sz="1000" dirty="0"/>
          </a:p>
        </p:txBody>
      </p:sp>
      <p:sp>
        <p:nvSpPr>
          <p:cNvPr id="16" name="Shape 14"/>
          <p:cNvSpPr/>
          <p:nvPr/>
        </p:nvSpPr>
        <p:spPr>
          <a:xfrm>
            <a:off x="3246120" y="1463040"/>
            <a:ext cx="2788920" cy="3474720"/>
          </a:xfrm>
          <a:prstGeom prst="rect">
            <a:avLst/>
          </a:prstGeom>
          <a:solidFill>
            <a:srgbClr val="CC4500"/>
          </a:solidFill>
          <a:ln w="25400">
            <a:solidFill>
              <a:srgbClr val="FF6B2B"/>
            </a:solidFill>
            <a:prstDash val="solid"/>
          </a:ln>
        </p:spPr>
      </p:sp>
      <p:sp>
        <p:nvSpPr>
          <p:cNvPr id="17" name="Text 15"/>
          <p:cNvSpPr/>
          <p:nvPr/>
        </p:nvSpPr>
        <p:spPr>
          <a:xfrm>
            <a:off x="3429000" y="1536192"/>
            <a:ext cx="22860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MOST POPULAR</a:t>
            </a:r>
            <a:endParaRPr lang="en-US" sz="900" dirty="0"/>
          </a:p>
        </p:txBody>
      </p:sp>
      <p:sp>
        <p:nvSpPr>
          <p:cNvPr id="18" name="Text 16"/>
          <p:cNvSpPr/>
          <p:nvPr/>
        </p:nvSpPr>
        <p:spPr>
          <a:xfrm>
            <a:off x="3383280" y="1828800"/>
            <a:ext cx="25146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Growth</a:t>
            </a:r>
            <a:endParaRPr lang="en-US" sz="1600" dirty="0"/>
          </a:p>
        </p:txBody>
      </p:sp>
      <p:sp>
        <p:nvSpPr>
          <p:cNvPr id="19" name="Text 17"/>
          <p:cNvSpPr/>
          <p:nvPr/>
        </p:nvSpPr>
        <p:spPr>
          <a:xfrm>
            <a:off x="3383280" y="2176272"/>
            <a:ext cx="2514600" cy="5943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₹4,999</a:t>
            </a:r>
            <a:endParaRPr lang="en-US" sz="3000" dirty="0"/>
          </a:p>
        </p:txBody>
      </p:sp>
      <p:sp>
        <p:nvSpPr>
          <p:cNvPr id="20" name="Text 18"/>
          <p:cNvSpPr/>
          <p:nvPr/>
        </p:nvSpPr>
        <p:spPr>
          <a:xfrm>
            <a:off x="3383280" y="2724912"/>
            <a:ext cx="2514600" cy="256032"/>
          </a:xfrm>
          <a:prstGeom prst="rect">
            <a:avLst/>
          </a:prstGeom>
          <a:noFill/>
          <a:ln/>
        </p:spPr>
        <p:txBody>
          <a:bodyPr wrap="square" lIns="0" tIns="0" rIns="0" bIns="0" rtlCol="0" anchor="ctr"/>
          <a:lstStyle/>
          <a:p>
            <a:pPr indent="0" marL="0">
              <a:buNone/>
            </a:pPr>
            <a:r>
              <a:rPr lang="en-US" sz="1100" dirty="0">
                <a:solidFill>
                  <a:srgbClr val="FFDDCC"/>
                </a:solidFill>
                <a:latin typeface="Arial" pitchFamily="34" charset="0"/>
                <a:ea typeface="Arial" pitchFamily="34" charset="-122"/>
                <a:cs typeface="Arial" pitchFamily="34" charset="-120"/>
              </a:rPr>
              <a:t>/month</a:t>
            </a:r>
            <a:endParaRPr lang="en-US" sz="1100" dirty="0"/>
          </a:p>
        </p:txBody>
      </p:sp>
      <p:sp>
        <p:nvSpPr>
          <p:cNvPr id="21" name="Text 19"/>
          <p:cNvSpPr/>
          <p:nvPr/>
        </p:nvSpPr>
        <p:spPr>
          <a:xfrm>
            <a:off x="3383280" y="3063240"/>
            <a:ext cx="2514600" cy="32004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 All Starter +</a:t>
            </a:r>
            <a:endParaRPr lang="en-US" sz="1000" dirty="0"/>
          </a:p>
        </p:txBody>
      </p:sp>
      <p:sp>
        <p:nvSpPr>
          <p:cNvPr id="22" name="Text 20"/>
          <p:cNvSpPr/>
          <p:nvPr/>
        </p:nvSpPr>
        <p:spPr>
          <a:xfrm>
            <a:off x="3383280" y="3410712"/>
            <a:ext cx="2514600" cy="32004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 InsureGuard Renewals</a:t>
            </a:r>
            <a:endParaRPr lang="en-US" sz="1000" dirty="0"/>
          </a:p>
        </p:txBody>
      </p:sp>
      <p:sp>
        <p:nvSpPr>
          <p:cNvPr id="23" name="Text 21"/>
          <p:cNvSpPr/>
          <p:nvPr/>
        </p:nvSpPr>
        <p:spPr>
          <a:xfrm>
            <a:off x="3383280" y="3758184"/>
            <a:ext cx="2514600" cy="32004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 FinanceFlow Basic</a:t>
            </a:r>
            <a:endParaRPr lang="en-US" sz="1000" dirty="0"/>
          </a:p>
        </p:txBody>
      </p:sp>
      <p:sp>
        <p:nvSpPr>
          <p:cNvPr id="24" name="Text 22"/>
          <p:cNvSpPr/>
          <p:nvPr/>
        </p:nvSpPr>
        <p:spPr>
          <a:xfrm>
            <a:off x="3383280" y="4105656"/>
            <a:ext cx="2514600" cy="32004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 Tamil Voice Agent</a:t>
            </a:r>
            <a:endParaRPr lang="en-US" sz="1000" dirty="0"/>
          </a:p>
        </p:txBody>
      </p:sp>
      <p:sp>
        <p:nvSpPr>
          <p:cNvPr id="25" name="Shape 23"/>
          <p:cNvSpPr/>
          <p:nvPr/>
        </p:nvSpPr>
        <p:spPr>
          <a:xfrm>
            <a:off x="6217920" y="1463040"/>
            <a:ext cx="2788920" cy="3474720"/>
          </a:xfrm>
          <a:prstGeom prst="rect">
            <a:avLst/>
          </a:prstGeom>
          <a:solidFill>
            <a:srgbClr val="0A1F3F"/>
          </a:solidFill>
          <a:ln w="12700">
            <a:solidFill>
              <a:srgbClr val="1A3A5C"/>
            </a:solidFill>
            <a:prstDash val="solid"/>
          </a:ln>
        </p:spPr>
      </p:sp>
      <p:sp>
        <p:nvSpPr>
          <p:cNvPr id="26" name="Text 24"/>
          <p:cNvSpPr/>
          <p:nvPr/>
        </p:nvSpPr>
        <p:spPr>
          <a:xfrm>
            <a:off x="6355080" y="1828800"/>
            <a:ext cx="2514600" cy="365760"/>
          </a:xfrm>
          <a:prstGeom prst="rect">
            <a:avLst/>
          </a:prstGeom>
          <a:noFill/>
          <a:ln/>
        </p:spPr>
        <p:txBody>
          <a:bodyPr wrap="square" lIns="0" tIns="0" rIns="0" bIns="0" rtlCol="0" anchor="ctr"/>
          <a:lstStyle/>
          <a:p>
            <a:pPr indent="0" marL="0">
              <a:buNone/>
            </a:pPr>
            <a:r>
              <a:rPr lang="en-US" sz="1600" b="1" dirty="0">
                <a:solidFill>
                  <a:srgbClr val="CC4500"/>
                </a:solidFill>
                <a:latin typeface="Arial" pitchFamily="34" charset="0"/>
                <a:ea typeface="Arial" pitchFamily="34" charset="-122"/>
                <a:cs typeface="Arial" pitchFamily="34" charset="-120"/>
              </a:rPr>
              <a:t>Pro</a:t>
            </a:r>
            <a:endParaRPr lang="en-US" sz="1600" dirty="0"/>
          </a:p>
        </p:txBody>
      </p:sp>
      <p:sp>
        <p:nvSpPr>
          <p:cNvPr id="27" name="Text 25"/>
          <p:cNvSpPr/>
          <p:nvPr/>
        </p:nvSpPr>
        <p:spPr>
          <a:xfrm>
            <a:off x="6355080" y="2176272"/>
            <a:ext cx="2514600" cy="59436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₹9,999</a:t>
            </a:r>
            <a:endParaRPr lang="en-US" sz="3000" dirty="0"/>
          </a:p>
        </p:txBody>
      </p:sp>
      <p:sp>
        <p:nvSpPr>
          <p:cNvPr id="28" name="Text 26"/>
          <p:cNvSpPr/>
          <p:nvPr/>
        </p:nvSpPr>
        <p:spPr>
          <a:xfrm>
            <a:off x="6355080" y="2724912"/>
            <a:ext cx="2514600" cy="256032"/>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/month</a:t>
            </a:r>
            <a:endParaRPr lang="en-US" sz="1100" dirty="0"/>
          </a:p>
        </p:txBody>
      </p:sp>
      <p:sp>
        <p:nvSpPr>
          <p:cNvPr id="29" name="Text 27"/>
          <p:cNvSpPr/>
          <p:nvPr/>
        </p:nvSpPr>
        <p:spPr>
          <a:xfrm>
            <a:off x="6355080" y="3063240"/>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All Growth +</a:t>
            </a:r>
            <a:endParaRPr lang="en-US" sz="1000" dirty="0"/>
          </a:p>
        </p:txBody>
      </p:sp>
      <p:sp>
        <p:nvSpPr>
          <p:cNvPr id="30" name="Text 28"/>
          <p:cNvSpPr/>
          <p:nvPr/>
        </p:nvSpPr>
        <p:spPr>
          <a:xfrm>
            <a:off x="6355080" y="3410712"/>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FleetIQ + EVIntel</a:t>
            </a:r>
            <a:endParaRPr lang="en-US" sz="1000" dirty="0"/>
          </a:p>
        </p:txBody>
      </p:sp>
      <p:sp>
        <p:nvSpPr>
          <p:cNvPr id="31" name="Text 29"/>
          <p:cNvSpPr/>
          <p:nvPr/>
        </p:nvSpPr>
        <p:spPr>
          <a:xfrm>
            <a:off x="6355080" y="3758184"/>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Analytics Dashboard</a:t>
            </a:r>
            <a:endParaRPr lang="en-US" sz="1000" dirty="0"/>
          </a:p>
        </p:txBody>
      </p:sp>
      <p:sp>
        <p:nvSpPr>
          <p:cNvPr id="32" name="Text 30"/>
          <p:cNvSpPr/>
          <p:nvPr/>
        </p:nvSpPr>
        <p:spPr>
          <a:xfrm>
            <a:off x="6355080" y="4105656"/>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GPT-4o AI Layer</a:t>
            </a:r>
            <a:endParaRPr lang="en-US" sz="1000" dirty="0"/>
          </a:p>
        </p:txBody>
      </p:sp>
      <p:sp>
        <p:nvSpPr>
          <p:cNvPr id="33" name="Shape 31"/>
          <p:cNvSpPr/>
          <p:nvPr/>
        </p:nvSpPr>
        <p:spPr>
          <a:xfrm>
            <a:off x="9189720" y="1463040"/>
            <a:ext cx="2788920" cy="3474720"/>
          </a:xfrm>
          <a:prstGeom prst="rect">
            <a:avLst/>
          </a:prstGeom>
          <a:solidFill>
            <a:srgbClr val="0A1F3F"/>
          </a:solidFill>
          <a:ln w="12700">
            <a:solidFill>
              <a:srgbClr val="1A3A5C"/>
            </a:solidFill>
            <a:prstDash val="solid"/>
          </a:ln>
        </p:spPr>
      </p:sp>
      <p:sp>
        <p:nvSpPr>
          <p:cNvPr id="34" name="Text 32"/>
          <p:cNvSpPr/>
          <p:nvPr/>
        </p:nvSpPr>
        <p:spPr>
          <a:xfrm>
            <a:off x="9326880" y="1828800"/>
            <a:ext cx="2514600" cy="365760"/>
          </a:xfrm>
          <a:prstGeom prst="rect">
            <a:avLst/>
          </a:prstGeom>
          <a:noFill/>
          <a:ln/>
        </p:spPr>
        <p:txBody>
          <a:bodyPr wrap="square" lIns="0" tIns="0" rIns="0" bIns="0" rtlCol="0" anchor="ctr"/>
          <a:lstStyle/>
          <a:p>
            <a:pPr indent="0" marL="0">
              <a:buNone/>
            </a:pPr>
            <a:r>
              <a:rPr lang="en-US" sz="1600" b="1" dirty="0">
                <a:solidFill>
                  <a:srgbClr val="CC4500"/>
                </a:solidFill>
                <a:latin typeface="Arial" pitchFamily="34" charset="0"/>
                <a:ea typeface="Arial" pitchFamily="34" charset="-122"/>
                <a:cs typeface="Arial" pitchFamily="34" charset="-120"/>
              </a:rPr>
              <a:t>Enterprise</a:t>
            </a:r>
            <a:endParaRPr lang="en-US" sz="1600" dirty="0"/>
          </a:p>
        </p:txBody>
      </p:sp>
      <p:sp>
        <p:nvSpPr>
          <p:cNvPr id="35" name="Text 33"/>
          <p:cNvSpPr/>
          <p:nvPr/>
        </p:nvSpPr>
        <p:spPr>
          <a:xfrm>
            <a:off x="9326880" y="2176272"/>
            <a:ext cx="2514600" cy="594360"/>
          </a:xfrm>
          <a:prstGeom prst="rect">
            <a:avLst/>
          </a:prstGeom>
          <a:noFill/>
          <a:ln/>
        </p:spPr>
        <p:txBody>
          <a:bodyPr wrap="square" lIns="0" tIns="0" rIns="0" bIns="0" rtlCol="0" anchor="ctr"/>
          <a:lstStyle/>
          <a:p>
            <a:pPr indent="0" marL="0">
              <a:buNone/>
            </a:pPr>
            <a:r>
              <a:rPr lang="en-US" sz="3000" b="1" dirty="0">
                <a:solidFill>
                  <a:srgbClr val="CC4500"/>
                </a:solidFill>
                <a:latin typeface="Arial" pitchFamily="34" charset="0"/>
                <a:ea typeface="Arial" pitchFamily="34" charset="-122"/>
                <a:cs typeface="Arial" pitchFamily="34" charset="-120"/>
              </a:rPr>
              <a:t>Custom</a:t>
            </a:r>
            <a:endParaRPr lang="en-US" sz="3000" dirty="0"/>
          </a:p>
        </p:txBody>
      </p:sp>
      <p:sp>
        <p:nvSpPr>
          <p:cNvPr id="36" name="Text 34"/>
          <p:cNvSpPr/>
          <p:nvPr/>
        </p:nvSpPr>
        <p:spPr>
          <a:xfrm>
            <a:off x="9326880" y="2724912"/>
            <a:ext cx="2514600" cy="256032"/>
          </a:xfrm>
          <a:prstGeom prst="rect">
            <a:avLst/>
          </a:prstGeom>
          <a:noFill/>
          <a:ln/>
        </p:spPr>
        <p:txBody>
          <a:bodyPr wrap="square" lIns="0" tIns="0" rIns="0" bIns="0" rtlCol="0" anchor="ctr"/>
          <a:lstStyle/>
          <a:p>
            <a:pPr indent="0" marL="0">
              <a:buNone/>
            </a:pPr>
            <a:r>
              <a:rPr lang="en-US" sz="1100" dirty="0">
                <a:solidFill>
                  <a:srgbClr val="8899BB"/>
                </a:solidFill>
                <a:latin typeface="Arial" pitchFamily="34" charset="0"/>
                <a:ea typeface="Arial" pitchFamily="34" charset="-122"/>
                <a:cs typeface="Arial" pitchFamily="34" charset="-120"/>
              </a:rPr>
              <a:t>/year</a:t>
            </a:r>
            <a:endParaRPr lang="en-US" sz="1100" dirty="0"/>
          </a:p>
        </p:txBody>
      </p:sp>
      <p:sp>
        <p:nvSpPr>
          <p:cNvPr id="37" name="Text 35"/>
          <p:cNvSpPr/>
          <p:nvPr/>
        </p:nvSpPr>
        <p:spPr>
          <a:xfrm>
            <a:off x="9326880" y="3063240"/>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OEM Network License</a:t>
            </a:r>
            <a:endParaRPr lang="en-US" sz="1000" dirty="0"/>
          </a:p>
        </p:txBody>
      </p:sp>
      <p:sp>
        <p:nvSpPr>
          <p:cNvPr id="38" name="Text 36"/>
          <p:cNvSpPr/>
          <p:nvPr/>
        </p:nvSpPr>
        <p:spPr>
          <a:xfrm>
            <a:off x="9326880" y="3410712"/>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White-label option</a:t>
            </a:r>
            <a:endParaRPr lang="en-US" sz="1000" dirty="0"/>
          </a:p>
        </p:txBody>
      </p:sp>
      <p:sp>
        <p:nvSpPr>
          <p:cNvPr id="39" name="Text 37"/>
          <p:cNvSpPr/>
          <p:nvPr/>
        </p:nvSpPr>
        <p:spPr>
          <a:xfrm>
            <a:off x="9326880" y="3758184"/>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Custom AI training</a:t>
            </a:r>
            <a:endParaRPr lang="en-US" sz="1000" dirty="0"/>
          </a:p>
        </p:txBody>
      </p:sp>
      <p:sp>
        <p:nvSpPr>
          <p:cNvPr id="40" name="Text 38"/>
          <p:cNvSpPr/>
          <p:nvPr/>
        </p:nvSpPr>
        <p:spPr>
          <a:xfrm>
            <a:off x="9326880" y="4105656"/>
            <a:ext cx="2514600" cy="32004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 Dedicated CSM</a:t>
            </a:r>
            <a:endParaRPr lang="en-US" sz="1000" dirty="0"/>
          </a:p>
        </p:txBody>
      </p:sp>
      <p:sp>
        <p:nvSpPr>
          <p:cNvPr id="41" name="Shape 39"/>
          <p:cNvSpPr/>
          <p:nvPr/>
        </p:nvSpPr>
        <p:spPr>
          <a:xfrm>
            <a:off x="274320" y="5166360"/>
            <a:ext cx="11612880" cy="274320"/>
          </a:xfrm>
          <a:prstGeom prst="rect">
            <a:avLst/>
          </a:prstGeom>
          <a:solidFill>
            <a:srgbClr val="1A3A5C"/>
          </a:solidFill>
          <a:ln w="12700">
            <a:solidFill>
              <a:srgbClr val="1A3A5C"/>
            </a:solidFill>
            <a:prstDash val="solid"/>
          </a:ln>
        </p:spPr>
      </p:sp>
      <p:sp>
        <p:nvSpPr>
          <p:cNvPr id="42" name="Text 40"/>
          <p:cNvSpPr/>
          <p:nvPr/>
        </p:nvSpPr>
        <p:spPr>
          <a:xfrm>
            <a:off x="274320" y="5166360"/>
            <a:ext cx="11612880" cy="274320"/>
          </a:xfrm>
          <a:prstGeom prst="rect">
            <a:avLst/>
          </a:prstGeom>
          <a:noFill/>
          <a:ln/>
        </p:spPr>
        <p:txBody>
          <a:bodyPr wrap="square" lIns="0" tIns="0" rIns="0" bIns="0" rtlCol="0" anchor="ctr"/>
          <a:lstStyle/>
          <a:p>
            <a:pPr algn="ctr" indent="0" marL="0">
              <a:buNone/>
            </a:pPr>
            <a:r>
              <a:rPr lang="en-US" sz="1000" b="1" spc="300" kern="0" dirty="0">
                <a:solidFill>
                  <a:srgbClr val="CC4500"/>
                </a:solidFill>
                <a:latin typeface="Arial" pitchFamily="34" charset="0"/>
                <a:ea typeface="Arial" pitchFamily="34" charset="-122"/>
                <a:cs typeface="Arial" pitchFamily="34" charset="-120"/>
              </a:rPr>
              <a:t>UNIT ECONOMICS</a:t>
            </a:r>
            <a:endParaRPr lang="en-US" sz="1000" dirty="0"/>
          </a:p>
        </p:txBody>
      </p:sp>
      <p:sp>
        <p:nvSpPr>
          <p:cNvPr id="43" name="Shape 41"/>
          <p:cNvSpPr/>
          <p:nvPr/>
        </p:nvSpPr>
        <p:spPr>
          <a:xfrm>
            <a:off x="274320" y="5513832"/>
            <a:ext cx="3657600" cy="1078992"/>
          </a:xfrm>
          <a:prstGeom prst="rect">
            <a:avLst/>
          </a:prstGeom>
          <a:solidFill>
            <a:srgbClr val="0A1F3F"/>
          </a:solidFill>
          <a:ln w="12700">
            <a:solidFill>
              <a:srgbClr val="1A3A5C"/>
            </a:solidFill>
            <a:prstDash val="solid"/>
          </a:ln>
        </p:spPr>
      </p:sp>
      <p:sp>
        <p:nvSpPr>
          <p:cNvPr id="44" name="Text 42"/>
          <p:cNvSpPr/>
          <p:nvPr/>
        </p:nvSpPr>
        <p:spPr>
          <a:xfrm>
            <a:off x="365760" y="5605272"/>
            <a:ext cx="3474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₹12,000</a:t>
            </a:r>
            <a:endParaRPr lang="en-US" sz="2800" dirty="0"/>
          </a:p>
        </p:txBody>
      </p:sp>
      <p:sp>
        <p:nvSpPr>
          <p:cNvPr id="45" name="Text 43"/>
          <p:cNvSpPr/>
          <p:nvPr/>
        </p:nvSpPr>
        <p:spPr>
          <a:xfrm>
            <a:off x="365760" y="6080760"/>
            <a:ext cx="3474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Customer Acquisition Cost (CAC)</a:t>
            </a:r>
            <a:endParaRPr lang="en-US" sz="1000" dirty="0"/>
          </a:p>
        </p:txBody>
      </p:sp>
      <p:sp>
        <p:nvSpPr>
          <p:cNvPr id="46" name="Shape 44"/>
          <p:cNvSpPr/>
          <p:nvPr/>
        </p:nvSpPr>
        <p:spPr>
          <a:xfrm>
            <a:off x="4160520" y="5513832"/>
            <a:ext cx="3657600" cy="1078992"/>
          </a:xfrm>
          <a:prstGeom prst="rect">
            <a:avLst/>
          </a:prstGeom>
          <a:solidFill>
            <a:srgbClr val="0A1F3F"/>
          </a:solidFill>
          <a:ln w="12700">
            <a:solidFill>
              <a:srgbClr val="1A3A5C"/>
            </a:solidFill>
            <a:prstDash val="solid"/>
          </a:ln>
        </p:spPr>
      </p:sp>
      <p:sp>
        <p:nvSpPr>
          <p:cNvPr id="47" name="Text 45"/>
          <p:cNvSpPr/>
          <p:nvPr/>
        </p:nvSpPr>
        <p:spPr>
          <a:xfrm>
            <a:off x="4251960" y="5605272"/>
            <a:ext cx="3474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₹4.32 Lakhs</a:t>
            </a:r>
            <a:endParaRPr lang="en-US" sz="2800" dirty="0"/>
          </a:p>
        </p:txBody>
      </p:sp>
      <p:sp>
        <p:nvSpPr>
          <p:cNvPr id="48" name="Text 46"/>
          <p:cNvSpPr/>
          <p:nvPr/>
        </p:nvSpPr>
        <p:spPr>
          <a:xfrm>
            <a:off x="4251960" y="6080760"/>
            <a:ext cx="3474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Lifetime Value (LTV — 36 months)</a:t>
            </a:r>
            <a:endParaRPr lang="en-US" sz="1000" dirty="0"/>
          </a:p>
        </p:txBody>
      </p:sp>
      <p:sp>
        <p:nvSpPr>
          <p:cNvPr id="49" name="Shape 47"/>
          <p:cNvSpPr/>
          <p:nvPr/>
        </p:nvSpPr>
        <p:spPr>
          <a:xfrm>
            <a:off x="8046720" y="5513832"/>
            <a:ext cx="3657600" cy="1078992"/>
          </a:xfrm>
          <a:prstGeom prst="rect">
            <a:avLst/>
          </a:prstGeom>
          <a:solidFill>
            <a:srgbClr val="0A1F3F"/>
          </a:solidFill>
          <a:ln w="12700">
            <a:solidFill>
              <a:srgbClr val="1A3A5C"/>
            </a:solidFill>
            <a:prstDash val="solid"/>
          </a:ln>
        </p:spPr>
      </p:sp>
      <p:sp>
        <p:nvSpPr>
          <p:cNvPr id="50" name="Text 48"/>
          <p:cNvSpPr/>
          <p:nvPr/>
        </p:nvSpPr>
        <p:spPr>
          <a:xfrm>
            <a:off x="8138160" y="5605272"/>
            <a:ext cx="3474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36×</a:t>
            </a:r>
            <a:endParaRPr lang="en-US" sz="2800" dirty="0"/>
          </a:p>
        </p:txBody>
      </p:sp>
      <p:sp>
        <p:nvSpPr>
          <p:cNvPr id="51" name="Text 49"/>
          <p:cNvSpPr/>
          <p:nvPr/>
        </p:nvSpPr>
        <p:spPr>
          <a:xfrm>
            <a:off x="8138160" y="6080760"/>
            <a:ext cx="3474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LTV : CAC Ratio</a:t>
            </a:r>
            <a:endParaRPr lang="en-US" sz="1000" dirty="0"/>
          </a:p>
        </p:txBody>
      </p:sp>
      <p:sp>
        <p:nvSpPr>
          <p:cNvPr id="52" name="Shape 50"/>
          <p:cNvSpPr/>
          <p:nvPr/>
        </p:nvSpPr>
        <p:spPr>
          <a:xfrm>
            <a:off x="274320" y="6702552"/>
            <a:ext cx="3657600" cy="1078992"/>
          </a:xfrm>
          <a:prstGeom prst="rect">
            <a:avLst/>
          </a:prstGeom>
          <a:solidFill>
            <a:srgbClr val="0A1F3F"/>
          </a:solidFill>
          <a:ln w="12700">
            <a:solidFill>
              <a:srgbClr val="1A3A5C"/>
            </a:solidFill>
            <a:prstDash val="solid"/>
          </a:ln>
        </p:spPr>
      </p:sp>
      <p:sp>
        <p:nvSpPr>
          <p:cNvPr id="53" name="Text 51"/>
          <p:cNvSpPr/>
          <p:nvPr/>
        </p:nvSpPr>
        <p:spPr>
          <a:xfrm>
            <a:off x="365760" y="6793992"/>
            <a:ext cx="3474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65%+</a:t>
            </a:r>
            <a:endParaRPr lang="en-US" sz="2800" dirty="0"/>
          </a:p>
        </p:txBody>
      </p:sp>
      <p:sp>
        <p:nvSpPr>
          <p:cNvPr id="54" name="Text 52"/>
          <p:cNvSpPr/>
          <p:nvPr/>
        </p:nvSpPr>
        <p:spPr>
          <a:xfrm>
            <a:off x="365760" y="7269480"/>
            <a:ext cx="3474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Gross Margin</a:t>
            </a:r>
            <a:endParaRPr lang="en-US" sz="1000" dirty="0"/>
          </a:p>
        </p:txBody>
      </p:sp>
      <p:sp>
        <p:nvSpPr>
          <p:cNvPr id="55" name="Shape 53"/>
          <p:cNvSpPr/>
          <p:nvPr/>
        </p:nvSpPr>
        <p:spPr>
          <a:xfrm>
            <a:off x="4160520" y="6702552"/>
            <a:ext cx="3657600" cy="1078992"/>
          </a:xfrm>
          <a:prstGeom prst="rect">
            <a:avLst/>
          </a:prstGeom>
          <a:solidFill>
            <a:srgbClr val="0A1F3F"/>
          </a:solidFill>
          <a:ln w="12700">
            <a:solidFill>
              <a:srgbClr val="1A3A5C"/>
            </a:solidFill>
            <a:prstDash val="solid"/>
          </a:ln>
        </p:spPr>
      </p:sp>
      <p:sp>
        <p:nvSpPr>
          <p:cNvPr id="56" name="Text 54"/>
          <p:cNvSpPr/>
          <p:nvPr/>
        </p:nvSpPr>
        <p:spPr>
          <a:xfrm>
            <a:off x="4251960" y="6793992"/>
            <a:ext cx="3474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&lt; 1 Month</a:t>
            </a:r>
            <a:endParaRPr lang="en-US" sz="2800" dirty="0"/>
          </a:p>
        </p:txBody>
      </p:sp>
      <p:sp>
        <p:nvSpPr>
          <p:cNvPr id="57" name="Text 55"/>
          <p:cNvSpPr/>
          <p:nvPr/>
        </p:nvSpPr>
        <p:spPr>
          <a:xfrm>
            <a:off x="4251960" y="7269480"/>
            <a:ext cx="3474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CAC Payback Period</a:t>
            </a:r>
            <a:endParaRPr lang="en-US" sz="1000" dirty="0"/>
          </a:p>
        </p:txBody>
      </p:sp>
      <p:sp>
        <p:nvSpPr>
          <p:cNvPr id="58" name="Shape 56"/>
          <p:cNvSpPr/>
          <p:nvPr/>
        </p:nvSpPr>
        <p:spPr>
          <a:xfrm>
            <a:off x="8046720" y="6702552"/>
            <a:ext cx="3657600" cy="1078992"/>
          </a:xfrm>
          <a:prstGeom prst="rect">
            <a:avLst/>
          </a:prstGeom>
          <a:solidFill>
            <a:srgbClr val="0A1F3F"/>
          </a:solidFill>
          <a:ln w="12700">
            <a:solidFill>
              <a:srgbClr val="1A3A5C"/>
            </a:solidFill>
            <a:prstDash val="solid"/>
          </a:ln>
        </p:spPr>
      </p:sp>
      <p:sp>
        <p:nvSpPr>
          <p:cNvPr id="59" name="Text 57"/>
          <p:cNvSpPr/>
          <p:nvPr/>
        </p:nvSpPr>
        <p:spPr>
          <a:xfrm>
            <a:off x="8138160" y="6793992"/>
            <a:ext cx="3474720" cy="5029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₹25,000</a:t>
            </a:r>
            <a:endParaRPr lang="en-US" sz="2800" dirty="0"/>
          </a:p>
        </p:txBody>
      </p:sp>
      <p:sp>
        <p:nvSpPr>
          <p:cNvPr id="60" name="Text 58"/>
          <p:cNvSpPr/>
          <p:nvPr/>
        </p:nvSpPr>
        <p:spPr>
          <a:xfrm>
            <a:off x="8138160" y="7269480"/>
            <a:ext cx="3474720" cy="32004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Average MRR per Dealer (Growth tier)</a:t>
            </a:r>
            <a:endParaRPr lang="en-US" sz="1000" dirty="0"/>
          </a:p>
        </p:txBody>
      </p:sp>
      <p:sp>
        <p:nvSpPr>
          <p:cNvPr id="61" name="Text 59"/>
          <p:cNvSpPr/>
          <p:nvPr/>
        </p:nvSpPr>
        <p:spPr>
          <a:xfrm>
            <a:off x="274320" y="6473952"/>
            <a:ext cx="11612880" cy="274320"/>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Revenue: SaaS Subscriptions  +  Transaction Fees (Insurance 2%, Loans 1%)  +  OEM Network License  +  AI Overage</a:t>
            </a:r>
            <a:endParaRPr lang="en-US" sz="1000" dirty="0"/>
          </a:p>
        </p:txBody>
      </p:sp>
      <p:sp>
        <p:nvSpPr>
          <p:cNvPr id="62" name="Text 60"/>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5/10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TRACTION &amp; VALIDATION</a:t>
            </a:r>
            <a:endParaRPr lang="en-US" sz="900" dirty="0"/>
          </a:p>
        </p:txBody>
      </p:sp>
      <p:sp>
        <p:nvSpPr>
          <p:cNvPr id="6" name="Text 4"/>
          <p:cNvSpPr/>
          <p:nvPr/>
        </p:nvSpPr>
        <p:spPr>
          <a:xfrm>
            <a:off x="274320" y="685800"/>
            <a:ext cx="9144000" cy="59436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Discovery Done. MVP in Build. Dealers Are Waiting.</a:t>
            </a:r>
            <a:endParaRPr lang="en-US" sz="2400" dirty="0"/>
          </a:p>
        </p:txBody>
      </p:sp>
      <p:sp>
        <p:nvSpPr>
          <p:cNvPr id="7" name="Shape 5"/>
          <p:cNvSpPr/>
          <p:nvPr/>
        </p:nvSpPr>
        <p:spPr>
          <a:xfrm>
            <a:off x="274320" y="1261872"/>
            <a:ext cx="1828800" cy="36576"/>
          </a:xfrm>
          <a:prstGeom prst="rect">
            <a:avLst/>
          </a:prstGeom>
          <a:solidFill>
            <a:srgbClr val="CC4500"/>
          </a:solidFill>
          <a:ln w="12700">
            <a:solidFill>
              <a:srgbClr val="CC4500"/>
            </a:solidFill>
            <a:prstDash val="solid"/>
          </a:ln>
        </p:spPr>
      </p:sp>
      <p:sp>
        <p:nvSpPr>
          <p:cNvPr id="8" name="Shape 6"/>
          <p:cNvSpPr/>
          <p:nvPr/>
        </p:nvSpPr>
        <p:spPr>
          <a:xfrm>
            <a:off x="274320" y="1508760"/>
            <a:ext cx="5440680" cy="1280160"/>
          </a:xfrm>
          <a:prstGeom prst="rect">
            <a:avLst/>
          </a:prstGeom>
          <a:solidFill>
            <a:srgbClr val="0A1F3F"/>
          </a:solidFill>
          <a:ln w="12700">
            <a:solidFill>
              <a:srgbClr val="1A3A5C"/>
            </a:solidFill>
            <a:prstDash val="solid"/>
          </a:ln>
        </p:spPr>
      </p:sp>
      <p:sp>
        <p:nvSpPr>
          <p:cNvPr id="9" name="Text 7"/>
          <p:cNvSpPr/>
          <p:nvPr/>
        </p:nvSpPr>
        <p:spPr>
          <a:xfrm>
            <a:off x="411480" y="1691640"/>
            <a:ext cx="54864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1005840" y="1600200"/>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50+ Dealer Interviews</a:t>
            </a:r>
            <a:endParaRPr lang="en-US" sz="1300" dirty="0"/>
          </a:p>
        </p:txBody>
      </p:sp>
      <p:sp>
        <p:nvSpPr>
          <p:cNvPr id="11" name="Shape 9"/>
          <p:cNvSpPr/>
          <p:nvPr/>
        </p:nvSpPr>
        <p:spPr>
          <a:xfrm>
            <a:off x="4709160" y="1600200"/>
            <a:ext cx="868680" cy="274320"/>
          </a:xfrm>
          <a:prstGeom prst="rect">
            <a:avLst/>
          </a:prstGeom>
          <a:solidFill>
            <a:srgbClr val="15803D"/>
          </a:solidFill>
          <a:ln w="12700">
            <a:solidFill>
              <a:srgbClr val="1A3A5C"/>
            </a:solidFill>
            <a:prstDash val="solid"/>
          </a:ln>
        </p:spPr>
      </p:sp>
      <p:sp>
        <p:nvSpPr>
          <p:cNvPr id="12" name="Text 10"/>
          <p:cNvSpPr/>
          <p:nvPr/>
        </p:nvSpPr>
        <p:spPr>
          <a:xfrm>
            <a:off x="4709160" y="1600200"/>
            <a:ext cx="86868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Done</a:t>
            </a:r>
            <a:endParaRPr lang="en-US" sz="700" dirty="0"/>
          </a:p>
        </p:txBody>
      </p:sp>
      <p:sp>
        <p:nvSpPr>
          <p:cNvPr id="13" name="Text 11"/>
          <p:cNvSpPr/>
          <p:nvPr/>
        </p:nvSpPr>
        <p:spPr>
          <a:xfrm>
            <a:off x="1005840" y="2011680"/>
            <a:ext cx="4572000" cy="64008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Conducted across Anna Nagar, T. Nagar, Porur, Valasaravakkam, OMR — all confirmed the same 3 pain points.</a:t>
            </a:r>
            <a:endParaRPr lang="en-US" sz="1000" dirty="0"/>
          </a:p>
        </p:txBody>
      </p:sp>
      <p:sp>
        <p:nvSpPr>
          <p:cNvPr id="14" name="Shape 12"/>
          <p:cNvSpPr/>
          <p:nvPr/>
        </p:nvSpPr>
        <p:spPr>
          <a:xfrm>
            <a:off x="6035040" y="1508760"/>
            <a:ext cx="5440680" cy="1280160"/>
          </a:xfrm>
          <a:prstGeom prst="rect">
            <a:avLst/>
          </a:prstGeom>
          <a:solidFill>
            <a:srgbClr val="0A1F3F"/>
          </a:solidFill>
          <a:ln w="12700">
            <a:solidFill>
              <a:srgbClr val="1A3A5C"/>
            </a:solidFill>
            <a:prstDash val="solid"/>
          </a:ln>
        </p:spPr>
      </p:sp>
      <p:sp>
        <p:nvSpPr>
          <p:cNvPr id="15" name="Text 13"/>
          <p:cNvSpPr/>
          <p:nvPr/>
        </p:nvSpPr>
        <p:spPr>
          <a:xfrm>
            <a:off x="6172200" y="1691640"/>
            <a:ext cx="54864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6" name="Text 14"/>
          <p:cNvSpPr/>
          <p:nvPr/>
        </p:nvSpPr>
        <p:spPr>
          <a:xfrm>
            <a:off x="6766560" y="1600200"/>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Pain Confirmed: 94%</a:t>
            </a:r>
            <a:endParaRPr lang="en-US" sz="1300" dirty="0"/>
          </a:p>
        </p:txBody>
      </p:sp>
      <p:sp>
        <p:nvSpPr>
          <p:cNvPr id="17" name="Shape 15"/>
          <p:cNvSpPr/>
          <p:nvPr/>
        </p:nvSpPr>
        <p:spPr>
          <a:xfrm>
            <a:off x="10469880" y="1600200"/>
            <a:ext cx="868680" cy="274320"/>
          </a:xfrm>
          <a:prstGeom prst="rect">
            <a:avLst/>
          </a:prstGeom>
          <a:solidFill>
            <a:srgbClr val="15803D"/>
          </a:solidFill>
          <a:ln w="12700">
            <a:solidFill>
              <a:srgbClr val="1A3A5C"/>
            </a:solidFill>
            <a:prstDash val="solid"/>
          </a:ln>
        </p:spPr>
      </p:sp>
      <p:sp>
        <p:nvSpPr>
          <p:cNvPr id="18" name="Text 16"/>
          <p:cNvSpPr/>
          <p:nvPr/>
        </p:nvSpPr>
        <p:spPr>
          <a:xfrm>
            <a:off x="10469880" y="1600200"/>
            <a:ext cx="86868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Done</a:t>
            </a:r>
            <a:endParaRPr lang="en-US" sz="700" dirty="0"/>
          </a:p>
        </p:txBody>
      </p:sp>
      <p:sp>
        <p:nvSpPr>
          <p:cNvPr id="19" name="Text 17"/>
          <p:cNvSpPr/>
          <p:nvPr/>
        </p:nvSpPr>
        <p:spPr>
          <a:xfrm>
            <a:off x="6766560" y="2011680"/>
            <a:ext cx="4572000" cy="64008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94% of dealers said they lose significant revenue to missed leads and manual job cards monthly.</a:t>
            </a:r>
            <a:endParaRPr lang="en-US" sz="1000" dirty="0"/>
          </a:p>
        </p:txBody>
      </p:sp>
      <p:sp>
        <p:nvSpPr>
          <p:cNvPr id="20" name="Shape 18"/>
          <p:cNvSpPr/>
          <p:nvPr/>
        </p:nvSpPr>
        <p:spPr>
          <a:xfrm>
            <a:off x="274320" y="2926080"/>
            <a:ext cx="5440680" cy="1280160"/>
          </a:xfrm>
          <a:prstGeom prst="rect">
            <a:avLst/>
          </a:prstGeom>
          <a:solidFill>
            <a:srgbClr val="0A1F3F"/>
          </a:solidFill>
          <a:ln w="12700">
            <a:solidFill>
              <a:srgbClr val="1A3A5C"/>
            </a:solidFill>
            <a:prstDash val="solid"/>
          </a:ln>
        </p:spPr>
      </p:sp>
      <p:sp>
        <p:nvSpPr>
          <p:cNvPr id="21" name="Text 19"/>
          <p:cNvSpPr/>
          <p:nvPr/>
        </p:nvSpPr>
        <p:spPr>
          <a:xfrm>
            <a:off x="411480" y="3108960"/>
            <a:ext cx="54864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2" name="Text 20"/>
          <p:cNvSpPr/>
          <p:nvPr/>
        </p:nvSpPr>
        <p:spPr>
          <a:xfrm>
            <a:off x="1005840" y="3017520"/>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5 LOIs Signed</a:t>
            </a:r>
            <a:endParaRPr lang="en-US" sz="1300" dirty="0"/>
          </a:p>
        </p:txBody>
      </p:sp>
      <p:sp>
        <p:nvSpPr>
          <p:cNvPr id="23" name="Shape 21"/>
          <p:cNvSpPr/>
          <p:nvPr/>
        </p:nvSpPr>
        <p:spPr>
          <a:xfrm>
            <a:off x="4709160" y="3017520"/>
            <a:ext cx="868680" cy="274320"/>
          </a:xfrm>
          <a:prstGeom prst="rect">
            <a:avLst/>
          </a:prstGeom>
          <a:solidFill>
            <a:srgbClr val="15803D"/>
          </a:solidFill>
          <a:ln w="12700">
            <a:solidFill>
              <a:srgbClr val="1A3A5C"/>
            </a:solidFill>
            <a:prstDash val="solid"/>
          </a:ln>
        </p:spPr>
      </p:sp>
      <p:sp>
        <p:nvSpPr>
          <p:cNvPr id="24" name="Text 22"/>
          <p:cNvSpPr/>
          <p:nvPr/>
        </p:nvSpPr>
        <p:spPr>
          <a:xfrm>
            <a:off x="4709160" y="3017520"/>
            <a:ext cx="86868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Done</a:t>
            </a:r>
            <a:endParaRPr lang="en-US" sz="700" dirty="0"/>
          </a:p>
        </p:txBody>
      </p:sp>
      <p:sp>
        <p:nvSpPr>
          <p:cNvPr id="25" name="Text 23"/>
          <p:cNvSpPr/>
          <p:nvPr/>
        </p:nvSpPr>
        <p:spPr>
          <a:xfrm>
            <a:off x="1005840" y="3429000"/>
            <a:ext cx="4572000" cy="64008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5 dealers have signed Letters of Intent to pilot AutoEra AI at zero cost for 90 days.</a:t>
            </a:r>
            <a:endParaRPr lang="en-US" sz="1000" dirty="0"/>
          </a:p>
        </p:txBody>
      </p:sp>
      <p:sp>
        <p:nvSpPr>
          <p:cNvPr id="26" name="Shape 24"/>
          <p:cNvSpPr/>
          <p:nvPr/>
        </p:nvSpPr>
        <p:spPr>
          <a:xfrm>
            <a:off x="6035040" y="2926080"/>
            <a:ext cx="5440680" cy="1280160"/>
          </a:xfrm>
          <a:prstGeom prst="rect">
            <a:avLst/>
          </a:prstGeom>
          <a:solidFill>
            <a:srgbClr val="0A1F3F"/>
          </a:solidFill>
          <a:ln w="12700">
            <a:solidFill>
              <a:srgbClr val="1A3A5C"/>
            </a:solidFill>
            <a:prstDash val="solid"/>
          </a:ln>
        </p:spPr>
      </p:sp>
      <p:sp>
        <p:nvSpPr>
          <p:cNvPr id="27" name="Text 25"/>
          <p:cNvSpPr/>
          <p:nvPr/>
        </p:nvSpPr>
        <p:spPr>
          <a:xfrm>
            <a:off x="6172200" y="3108960"/>
            <a:ext cx="54864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8" name="Text 26"/>
          <p:cNvSpPr/>
          <p:nvPr/>
        </p:nvSpPr>
        <p:spPr>
          <a:xfrm>
            <a:off x="6766560" y="3017520"/>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MVP In Build</a:t>
            </a:r>
            <a:endParaRPr lang="en-US" sz="1300" dirty="0"/>
          </a:p>
        </p:txBody>
      </p:sp>
      <p:sp>
        <p:nvSpPr>
          <p:cNvPr id="29" name="Shape 27"/>
          <p:cNvSpPr/>
          <p:nvPr/>
        </p:nvSpPr>
        <p:spPr>
          <a:xfrm>
            <a:off x="10469880" y="3017520"/>
            <a:ext cx="868680" cy="274320"/>
          </a:xfrm>
          <a:prstGeom prst="rect">
            <a:avLst/>
          </a:prstGeom>
          <a:solidFill>
            <a:srgbClr val="CC4500"/>
          </a:solidFill>
          <a:ln w="12700">
            <a:solidFill>
              <a:srgbClr val="1A3A5C"/>
            </a:solidFill>
            <a:prstDash val="solid"/>
          </a:ln>
        </p:spPr>
      </p:sp>
      <p:sp>
        <p:nvSpPr>
          <p:cNvPr id="30" name="Text 28"/>
          <p:cNvSpPr/>
          <p:nvPr/>
        </p:nvSpPr>
        <p:spPr>
          <a:xfrm>
            <a:off x="10469880" y="3017520"/>
            <a:ext cx="86868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Active</a:t>
            </a:r>
            <a:endParaRPr lang="en-US" sz="700" dirty="0"/>
          </a:p>
        </p:txBody>
      </p:sp>
      <p:sp>
        <p:nvSpPr>
          <p:cNvPr id="31" name="Text 29"/>
          <p:cNvSpPr/>
          <p:nvPr/>
        </p:nvSpPr>
        <p:spPr>
          <a:xfrm>
            <a:off x="6766560" y="3429000"/>
            <a:ext cx="4572000" cy="64008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ServicePulse job card flow working. WhatsApp API integrated. Tamil Voice Agent prototype live.</a:t>
            </a:r>
            <a:endParaRPr lang="en-US" sz="1000" dirty="0"/>
          </a:p>
        </p:txBody>
      </p:sp>
      <p:sp>
        <p:nvSpPr>
          <p:cNvPr id="32" name="Shape 30"/>
          <p:cNvSpPr/>
          <p:nvPr/>
        </p:nvSpPr>
        <p:spPr>
          <a:xfrm>
            <a:off x="274320" y="4343400"/>
            <a:ext cx="5440680" cy="1280160"/>
          </a:xfrm>
          <a:prstGeom prst="rect">
            <a:avLst/>
          </a:prstGeom>
          <a:solidFill>
            <a:srgbClr val="0A1F3F"/>
          </a:solidFill>
          <a:ln w="12700">
            <a:solidFill>
              <a:srgbClr val="1A3A5C"/>
            </a:solidFill>
            <a:prstDash val="solid"/>
          </a:ln>
        </p:spPr>
      </p:sp>
      <p:sp>
        <p:nvSpPr>
          <p:cNvPr id="33" name="Text 31"/>
          <p:cNvSpPr/>
          <p:nvPr/>
        </p:nvSpPr>
        <p:spPr>
          <a:xfrm>
            <a:off x="411480" y="4526280"/>
            <a:ext cx="54864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34" name="Text 32"/>
          <p:cNvSpPr/>
          <p:nvPr/>
        </p:nvSpPr>
        <p:spPr>
          <a:xfrm>
            <a:off x="1005840" y="4434840"/>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10 Dealers — Month 4</a:t>
            </a:r>
            <a:endParaRPr lang="en-US" sz="1300" dirty="0"/>
          </a:p>
        </p:txBody>
      </p:sp>
      <p:sp>
        <p:nvSpPr>
          <p:cNvPr id="35" name="Shape 33"/>
          <p:cNvSpPr/>
          <p:nvPr/>
        </p:nvSpPr>
        <p:spPr>
          <a:xfrm>
            <a:off x="4709160" y="4434840"/>
            <a:ext cx="868680" cy="274320"/>
          </a:xfrm>
          <a:prstGeom prst="rect">
            <a:avLst/>
          </a:prstGeom>
          <a:solidFill>
            <a:srgbClr val="1A3A5C"/>
          </a:solidFill>
          <a:ln w="12700">
            <a:solidFill>
              <a:srgbClr val="1A3A5C"/>
            </a:solidFill>
            <a:prstDash val="solid"/>
          </a:ln>
        </p:spPr>
      </p:sp>
      <p:sp>
        <p:nvSpPr>
          <p:cNvPr id="36" name="Text 34"/>
          <p:cNvSpPr/>
          <p:nvPr/>
        </p:nvSpPr>
        <p:spPr>
          <a:xfrm>
            <a:off x="4709160" y="4434840"/>
            <a:ext cx="86868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M4 Target</a:t>
            </a:r>
            <a:endParaRPr lang="en-US" sz="700" dirty="0"/>
          </a:p>
        </p:txBody>
      </p:sp>
      <p:sp>
        <p:nvSpPr>
          <p:cNvPr id="37" name="Text 35"/>
          <p:cNvSpPr/>
          <p:nvPr/>
        </p:nvSpPr>
        <p:spPr>
          <a:xfrm>
            <a:off x="1005840" y="4846320"/>
            <a:ext cx="4572000" cy="64008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Target: 10 paying dealers by October 2026 at ₹2,499–₹4,999/month.</a:t>
            </a:r>
            <a:endParaRPr lang="en-US" sz="1000" dirty="0"/>
          </a:p>
        </p:txBody>
      </p:sp>
      <p:sp>
        <p:nvSpPr>
          <p:cNvPr id="38" name="Shape 36"/>
          <p:cNvSpPr/>
          <p:nvPr/>
        </p:nvSpPr>
        <p:spPr>
          <a:xfrm>
            <a:off x="6035040" y="4343400"/>
            <a:ext cx="5440680" cy="1280160"/>
          </a:xfrm>
          <a:prstGeom prst="rect">
            <a:avLst/>
          </a:prstGeom>
          <a:solidFill>
            <a:srgbClr val="0A1F3F"/>
          </a:solidFill>
          <a:ln w="12700">
            <a:solidFill>
              <a:srgbClr val="1A3A5C"/>
            </a:solidFill>
            <a:prstDash val="solid"/>
          </a:ln>
        </p:spPr>
      </p:sp>
      <p:sp>
        <p:nvSpPr>
          <p:cNvPr id="39" name="Text 37"/>
          <p:cNvSpPr/>
          <p:nvPr/>
        </p:nvSpPr>
        <p:spPr>
          <a:xfrm>
            <a:off x="6172200" y="4526280"/>
            <a:ext cx="548640" cy="45720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40" name="Text 38"/>
          <p:cNvSpPr/>
          <p:nvPr/>
        </p:nvSpPr>
        <p:spPr>
          <a:xfrm>
            <a:off x="6766560" y="4434840"/>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Registered: UDYAM-TN-24-0162449</a:t>
            </a:r>
            <a:endParaRPr lang="en-US" sz="1300" dirty="0"/>
          </a:p>
        </p:txBody>
      </p:sp>
      <p:sp>
        <p:nvSpPr>
          <p:cNvPr id="41" name="Shape 39"/>
          <p:cNvSpPr/>
          <p:nvPr/>
        </p:nvSpPr>
        <p:spPr>
          <a:xfrm>
            <a:off x="10469880" y="4434840"/>
            <a:ext cx="868680" cy="274320"/>
          </a:xfrm>
          <a:prstGeom prst="rect">
            <a:avLst/>
          </a:prstGeom>
          <a:solidFill>
            <a:srgbClr val="CC4500"/>
          </a:solidFill>
          <a:ln w="12700">
            <a:solidFill>
              <a:srgbClr val="1A3A5C"/>
            </a:solidFill>
            <a:prstDash val="solid"/>
          </a:ln>
        </p:spPr>
      </p:sp>
      <p:sp>
        <p:nvSpPr>
          <p:cNvPr id="42" name="Text 40"/>
          <p:cNvSpPr/>
          <p:nvPr/>
        </p:nvSpPr>
        <p:spPr>
          <a:xfrm>
            <a:off x="10469880" y="4434840"/>
            <a:ext cx="86868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Active</a:t>
            </a:r>
            <a:endParaRPr lang="en-US" sz="700" dirty="0"/>
          </a:p>
        </p:txBody>
      </p:sp>
      <p:sp>
        <p:nvSpPr>
          <p:cNvPr id="43" name="Text 41"/>
          <p:cNvSpPr/>
          <p:nvPr/>
        </p:nvSpPr>
        <p:spPr>
          <a:xfrm>
            <a:off x="6766560" y="4846320"/>
            <a:ext cx="4572000" cy="64008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Startup India DPIIT recognition pending. StartupTN Elevate application submitted.</a:t>
            </a:r>
            <a:endParaRPr lang="en-US" sz="1000" dirty="0"/>
          </a:p>
        </p:txBody>
      </p:sp>
      <p:sp>
        <p:nvSpPr>
          <p:cNvPr id="44" name="Shape 42"/>
          <p:cNvSpPr/>
          <p:nvPr/>
        </p:nvSpPr>
        <p:spPr>
          <a:xfrm>
            <a:off x="274320" y="5897880"/>
            <a:ext cx="11612880" cy="228600"/>
          </a:xfrm>
          <a:prstGeom prst="rect">
            <a:avLst/>
          </a:prstGeom>
          <a:solidFill>
            <a:srgbClr val="0A1F3F"/>
          </a:solidFill>
          <a:ln w="12700">
            <a:solidFill>
              <a:srgbClr val="0A1F3F"/>
            </a:solidFill>
            <a:prstDash val="solid"/>
          </a:ln>
        </p:spPr>
      </p:sp>
      <p:sp>
        <p:nvSpPr>
          <p:cNvPr id="45" name="Shape 43"/>
          <p:cNvSpPr/>
          <p:nvPr/>
        </p:nvSpPr>
        <p:spPr>
          <a:xfrm>
            <a:off x="667512" y="5843016"/>
            <a:ext cx="219456" cy="219456"/>
          </a:xfrm>
          <a:prstGeom prst="ellipse">
            <a:avLst/>
          </a:prstGeom>
          <a:solidFill>
            <a:srgbClr val="CC4500"/>
          </a:solidFill>
          <a:ln w="12700">
            <a:solidFill>
              <a:srgbClr val="CC4500"/>
            </a:solidFill>
            <a:prstDash val="solid"/>
          </a:ln>
        </p:spPr>
      </p:sp>
      <p:sp>
        <p:nvSpPr>
          <p:cNvPr id="46" name="Text 44"/>
          <p:cNvSpPr/>
          <p:nvPr/>
        </p:nvSpPr>
        <p:spPr>
          <a:xfrm>
            <a:off x="320040" y="6080760"/>
            <a:ext cx="914400" cy="228600"/>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M1–2</a:t>
            </a:r>
            <a:endParaRPr lang="en-US" sz="900" dirty="0"/>
          </a:p>
        </p:txBody>
      </p:sp>
      <p:sp>
        <p:nvSpPr>
          <p:cNvPr id="47" name="Text 45"/>
          <p:cNvSpPr/>
          <p:nvPr/>
        </p:nvSpPr>
        <p:spPr>
          <a:xfrm>
            <a:off x="182880" y="6291072"/>
            <a:ext cx="1188720" cy="411480"/>
          </a:xfrm>
          <a:prstGeom prst="rect">
            <a:avLst/>
          </a:prstGeom>
          <a:noFill/>
          <a:ln/>
        </p:spPr>
        <p:txBody>
          <a:bodyPr wrap="square" lIns="0" tIns="0" rIns="0" bIns="0" rtlCol="0" anchor="ctr"/>
          <a:lstStyle/>
          <a:p>
            <a:pPr algn="ctr" indent="0" marL="0">
              <a:buNone/>
            </a:pPr>
            <a:r>
              <a:rPr lang="en-US" sz="800" dirty="0">
                <a:solidFill>
                  <a:srgbClr val="8899BB"/>
                </a:solidFill>
                <a:latin typeface="Arial" pitchFamily="34" charset="0"/>
                <a:ea typeface="Arial" pitchFamily="34" charset="-122"/>
                <a:cs typeface="Arial" pitchFamily="34" charset="-120"/>
              </a:rPr>
              <a:t>Legal + Team + Infra</a:t>
            </a:r>
            <a:endParaRPr lang="en-US" sz="800" dirty="0"/>
          </a:p>
        </p:txBody>
      </p:sp>
      <p:sp>
        <p:nvSpPr>
          <p:cNvPr id="48" name="Shape 46"/>
          <p:cNvSpPr/>
          <p:nvPr/>
        </p:nvSpPr>
        <p:spPr>
          <a:xfrm>
            <a:off x="2569464" y="5843016"/>
            <a:ext cx="219456" cy="219456"/>
          </a:xfrm>
          <a:prstGeom prst="ellipse">
            <a:avLst/>
          </a:prstGeom>
          <a:solidFill>
            <a:srgbClr val="CC4500"/>
          </a:solidFill>
          <a:ln w="12700">
            <a:solidFill>
              <a:srgbClr val="CC4500"/>
            </a:solidFill>
            <a:prstDash val="solid"/>
          </a:ln>
        </p:spPr>
      </p:sp>
      <p:sp>
        <p:nvSpPr>
          <p:cNvPr id="49" name="Text 47"/>
          <p:cNvSpPr/>
          <p:nvPr/>
        </p:nvSpPr>
        <p:spPr>
          <a:xfrm>
            <a:off x="2221992" y="6080760"/>
            <a:ext cx="914400" cy="228600"/>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M3</a:t>
            </a:r>
            <a:endParaRPr lang="en-US" sz="900" dirty="0"/>
          </a:p>
        </p:txBody>
      </p:sp>
      <p:sp>
        <p:nvSpPr>
          <p:cNvPr id="50" name="Text 48"/>
          <p:cNvSpPr/>
          <p:nvPr/>
        </p:nvSpPr>
        <p:spPr>
          <a:xfrm>
            <a:off x="2084832" y="6291072"/>
            <a:ext cx="1188720" cy="411480"/>
          </a:xfrm>
          <a:prstGeom prst="rect">
            <a:avLst/>
          </a:prstGeom>
          <a:noFill/>
          <a:ln/>
        </p:spPr>
        <p:txBody>
          <a:bodyPr wrap="square" lIns="0" tIns="0" rIns="0" bIns="0" rtlCol="0" anchor="ctr"/>
          <a:lstStyle/>
          <a:p>
            <a:pPr algn="ctr" indent="0" marL="0">
              <a:buNone/>
            </a:pPr>
            <a:r>
              <a:rPr lang="en-US" sz="800" dirty="0">
                <a:solidFill>
                  <a:srgbClr val="8899BB"/>
                </a:solidFill>
                <a:latin typeface="Arial" pitchFamily="34" charset="0"/>
                <a:ea typeface="Arial" pitchFamily="34" charset="-122"/>
                <a:cs typeface="Arial" pitchFamily="34" charset="-120"/>
              </a:rPr>
              <a:t>ServicePulse MVP</a:t>
            </a:r>
            <a:endParaRPr lang="en-US" sz="800" dirty="0"/>
          </a:p>
        </p:txBody>
      </p:sp>
      <p:sp>
        <p:nvSpPr>
          <p:cNvPr id="51" name="Shape 49"/>
          <p:cNvSpPr/>
          <p:nvPr/>
        </p:nvSpPr>
        <p:spPr>
          <a:xfrm>
            <a:off x="4471416" y="5843016"/>
            <a:ext cx="219456" cy="219456"/>
          </a:xfrm>
          <a:prstGeom prst="ellipse">
            <a:avLst/>
          </a:prstGeom>
          <a:solidFill>
            <a:srgbClr val="CC4500"/>
          </a:solidFill>
          <a:ln w="12700">
            <a:solidFill>
              <a:srgbClr val="CC4500"/>
            </a:solidFill>
            <a:prstDash val="solid"/>
          </a:ln>
        </p:spPr>
      </p:sp>
      <p:sp>
        <p:nvSpPr>
          <p:cNvPr id="52" name="Text 50"/>
          <p:cNvSpPr/>
          <p:nvPr/>
        </p:nvSpPr>
        <p:spPr>
          <a:xfrm>
            <a:off x="4123944" y="6080760"/>
            <a:ext cx="914400" cy="228600"/>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M4</a:t>
            </a:r>
            <a:endParaRPr lang="en-US" sz="900" dirty="0"/>
          </a:p>
        </p:txBody>
      </p:sp>
      <p:sp>
        <p:nvSpPr>
          <p:cNvPr id="53" name="Text 51"/>
          <p:cNvSpPr/>
          <p:nvPr/>
        </p:nvSpPr>
        <p:spPr>
          <a:xfrm>
            <a:off x="3986784" y="6291072"/>
            <a:ext cx="1188720" cy="411480"/>
          </a:xfrm>
          <a:prstGeom prst="rect">
            <a:avLst/>
          </a:prstGeom>
          <a:noFill/>
          <a:ln/>
        </p:spPr>
        <p:txBody>
          <a:bodyPr wrap="square" lIns="0" tIns="0" rIns="0" bIns="0" rtlCol="0" anchor="ctr"/>
          <a:lstStyle/>
          <a:p>
            <a:pPr algn="ctr" indent="0" marL="0">
              <a:buNone/>
            </a:pPr>
            <a:r>
              <a:rPr lang="en-US" sz="800" dirty="0">
                <a:solidFill>
                  <a:srgbClr val="8899BB"/>
                </a:solidFill>
                <a:latin typeface="Arial" pitchFamily="34" charset="0"/>
                <a:ea typeface="Arial" pitchFamily="34" charset="-122"/>
                <a:cs typeface="Arial" pitchFamily="34" charset="-120"/>
              </a:rPr>
              <a:t>5 Paying Dealers</a:t>
            </a:r>
            <a:endParaRPr lang="en-US" sz="800" dirty="0"/>
          </a:p>
        </p:txBody>
      </p:sp>
      <p:sp>
        <p:nvSpPr>
          <p:cNvPr id="54" name="Shape 52"/>
          <p:cNvSpPr/>
          <p:nvPr/>
        </p:nvSpPr>
        <p:spPr>
          <a:xfrm>
            <a:off x="6373368" y="5843016"/>
            <a:ext cx="219456" cy="219456"/>
          </a:xfrm>
          <a:prstGeom prst="ellipse">
            <a:avLst/>
          </a:prstGeom>
          <a:solidFill>
            <a:srgbClr val="CC4500"/>
          </a:solidFill>
          <a:ln w="12700">
            <a:solidFill>
              <a:srgbClr val="CC4500"/>
            </a:solidFill>
            <a:prstDash val="solid"/>
          </a:ln>
        </p:spPr>
      </p:sp>
      <p:sp>
        <p:nvSpPr>
          <p:cNvPr id="55" name="Text 53"/>
          <p:cNvSpPr/>
          <p:nvPr/>
        </p:nvSpPr>
        <p:spPr>
          <a:xfrm>
            <a:off x="6025896" y="6080760"/>
            <a:ext cx="914400" cy="228600"/>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M6</a:t>
            </a:r>
            <a:endParaRPr lang="en-US" sz="900" dirty="0"/>
          </a:p>
        </p:txBody>
      </p:sp>
      <p:sp>
        <p:nvSpPr>
          <p:cNvPr id="56" name="Text 54"/>
          <p:cNvSpPr/>
          <p:nvPr/>
        </p:nvSpPr>
        <p:spPr>
          <a:xfrm>
            <a:off x="5888736" y="6291072"/>
            <a:ext cx="1188720" cy="411480"/>
          </a:xfrm>
          <a:prstGeom prst="rect">
            <a:avLst/>
          </a:prstGeom>
          <a:noFill/>
          <a:ln/>
        </p:spPr>
        <p:txBody>
          <a:bodyPr wrap="square" lIns="0" tIns="0" rIns="0" bIns="0" rtlCol="0" anchor="ctr"/>
          <a:lstStyle/>
          <a:p>
            <a:pPr algn="ctr" indent="0" marL="0">
              <a:buNone/>
            </a:pPr>
            <a:r>
              <a:rPr lang="en-US" sz="800" dirty="0">
                <a:solidFill>
                  <a:srgbClr val="8899BB"/>
                </a:solidFill>
                <a:latin typeface="Arial" pitchFamily="34" charset="0"/>
                <a:ea typeface="Arial" pitchFamily="34" charset="-122"/>
                <a:cs typeface="Arial" pitchFamily="34" charset="-120"/>
              </a:rPr>
              <a:t>30 Dealers + PMF</a:t>
            </a:r>
            <a:endParaRPr lang="en-US" sz="800" dirty="0"/>
          </a:p>
        </p:txBody>
      </p:sp>
      <p:sp>
        <p:nvSpPr>
          <p:cNvPr id="57" name="Shape 55"/>
          <p:cNvSpPr/>
          <p:nvPr/>
        </p:nvSpPr>
        <p:spPr>
          <a:xfrm>
            <a:off x="8275320" y="5843016"/>
            <a:ext cx="219456" cy="219456"/>
          </a:xfrm>
          <a:prstGeom prst="ellipse">
            <a:avLst/>
          </a:prstGeom>
          <a:solidFill>
            <a:srgbClr val="CC4500"/>
          </a:solidFill>
          <a:ln w="12700">
            <a:solidFill>
              <a:srgbClr val="CC4500"/>
            </a:solidFill>
            <a:prstDash val="solid"/>
          </a:ln>
        </p:spPr>
      </p:sp>
      <p:sp>
        <p:nvSpPr>
          <p:cNvPr id="58" name="Text 56"/>
          <p:cNvSpPr/>
          <p:nvPr/>
        </p:nvSpPr>
        <p:spPr>
          <a:xfrm>
            <a:off x="7927848" y="6080760"/>
            <a:ext cx="914400" cy="228600"/>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M9</a:t>
            </a:r>
            <a:endParaRPr lang="en-US" sz="900" dirty="0"/>
          </a:p>
        </p:txBody>
      </p:sp>
      <p:sp>
        <p:nvSpPr>
          <p:cNvPr id="59" name="Text 57"/>
          <p:cNvSpPr/>
          <p:nvPr/>
        </p:nvSpPr>
        <p:spPr>
          <a:xfrm>
            <a:off x="7790688" y="6291072"/>
            <a:ext cx="1188720" cy="411480"/>
          </a:xfrm>
          <a:prstGeom prst="rect">
            <a:avLst/>
          </a:prstGeom>
          <a:noFill/>
          <a:ln/>
        </p:spPr>
        <p:txBody>
          <a:bodyPr wrap="square" lIns="0" tIns="0" rIns="0" bIns="0" rtlCol="0" anchor="ctr"/>
          <a:lstStyle/>
          <a:p>
            <a:pPr algn="ctr" indent="0" marL="0">
              <a:buNone/>
            </a:pPr>
            <a:r>
              <a:rPr lang="en-US" sz="800" dirty="0">
                <a:solidFill>
                  <a:srgbClr val="8899BB"/>
                </a:solidFill>
                <a:latin typeface="Arial" pitchFamily="34" charset="0"/>
                <a:ea typeface="Arial" pitchFamily="34" charset="-122"/>
                <a:cs typeface="Arial" pitchFamily="34" charset="-120"/>
              </a:rPr>
              <a:t>Series A Ready</a:t>
            </a:r>
            <a:endParaRPr lang="en-US" sz="800" dirty="0"/>
          </a:p>
        </p:txBody>
      </p:sp>
      <p:sp>
        <p:nvSpPr>
          <p:cNvPr id="60" name="Shape 58"/>
          <p:cNvSpPr/>
          <p:nvPr/>
        </p:nvSpPr>
        <p:spPr>
          <a:xfrm>
            <a:off x="10177272" y="5843016"/>
            <a:ext cx="219456" cy="219456"/>
          </a:xfrm>
          <a:prstGeom prst="ellipse">
            <a:avLst/>
          </a:prstGeom>
          <a:solidFill>
            <a:srgbClr val="CC4500"/>
          </a:solidFill>
          <a:ln w="12700">
            <a:solidFill>
              <a:srgbClr val="CC4500"/>
            </a:solidFill>
            <a:prstDash val="solid"/>
          </a:ln>
        </p:spPr>
      </p:sp>
      <p:sp>
        <p:nvSpPr>
          <p:cNvPr id="61" name="Text 59"/>
          <p:cNvSpPr/>
          <p:nvPr/>
        </p:nvSpPr>
        <p:spPr>
          <a:xfrm>
            <a:off x="9829800" y="6080760"/>
            <a:ext cx="914400" cy="228600"/>
          </a:xfrm>
          <a:prstGeom prst="rect">
            <a:avLst/>
          </a:prstGeom>
          <a:noFill/>
          <a:ln/>
        </p:spPr>
        <p:txBody>
          <a:bodyPr wrap="square" lIns="0" tIns="0" rIns="0" bIns="0" rtlCol="0" anchor="ctr"/>
          <a:lstStyle/>
          <a:p>
            <a:pPr algn="ctr" indent="0" marL="0">
              <a:buNone/>
            </a:pPr>
            <a:r>
              <a:rPr lang="en-US" sz="900" b="1" dirty="0">
                <a:solidFill>
                  <a:srgbClr val="CC4500"/>
                </a:solidFill>
                <a:latin typeface="Arial" pitchFamily="34" charset="0"/>
                <a:ea typeface="Arial" pitchFamily="34" charset="-122"/>
                <a:cs typeface="Arial" pitchFamily="34" charset="-120"/>
              </a:rPr>
              <a:t>M12</a:t>
            </a:r>
            <a:endParaRPr lang="en-US" sz="900" dirty="0"/>
          </a:p>
        </p:txBody>
      </p:sp>
      <p:sp>
        <p:nvSpPr>
          <p:cNvPr id="62" name="Text 60"/>
          <p:cNvSpPr/>
          <p:nvPr/>
        </p:nvSpPr>
        <p:spPr>
          <a:xfrm>
            <a:off x="9692640" y="6291072"/>
            <a:ext cx="1188720" cy="411480"/>
          </a:xfrm>
          <a:prstGeom prst="rect">
            <a:avLst/>
          </a:prstGeom>
          <a:noFill/>
          <a:ln/>
        </p:spPr>
        <p:txBody>
          <a:bodyPr wrap="square" lIns="0" tIns="0" rIns="0" bIns="0" rtlCol="0" anchor="ctr"/>
          <a:lstStyle/>
          <a:p>
            <a:pPr algn="ctr" indent="0" marL="0">
              <a:buNone/>
            </a:pPr>
            <a:r>
              <a:rPr lang="en-US" sz="800" dirty="0">
                <a:solidFill>
                  <a:srgbClr val="8899BB"/>
                </a:solidFill>
                <a:latin typeface="Arial" pitchFamily="34" charset="0"/>
                <a:ea typeface="Arial" pitchFamily="34" charset="-122"/>
                <a:cs typeface="Arial" pitchFamily="34" charset="-120"/>
              </a:rPr>
              <a:t>80 Dealers, ₹8L MRR</a:t>
            </a:r>
            <a:endParaRPr lang="en-US" sz="800" dirty="0"/>
          </a:p>
        </p:txBody>
      </p:sp>
      <p:sp>
        <p:nvSpPr>
          <p:cNvPr id="63" name="Shape 61"/>
          <p:cNvSpPr/>
          <p:nvPr/>
        </p:nvSpPr>
        <p:spPr>
          <a:xfrm>
            <a:off x="0" y="6565392"/>
            <a:ext cx="12188952" cy="18288"/>
          </a:xfrm>
          <a:prstGeom prst="rect">
            <a:avLst/>
          </a:prstGeom>
          <a:solidFill>
            <a:srgbClr val="1A3A5C"/>
          </a:solidFill>
          <a:ln w="12700">
            <a:solidFill>
              <a:srgbClr val="1A3A5C"/>
            </a:solidFill>
            <a:prstDash val="solid"/>
          </a:ln>
        </p:spPr>
      </p:sp>
      <p:sp>
        <p:nvSpPr>
          <p:cNvPr id="64" name="Text 62"/>
          <p:cNvSpPr/>
          <p:nvPr/>
        </p:nvSpPr>
        <p:spPr>
          <a:xfrm>
            <a:off x="274320" y="6583680"/>
            <a:ext cx="9144000" cy="228600"/>
          </a:xfrm>
          <a:prstGeom prst="rect">
            <a:avLst/>
          </a:prstGeom>
          <a:noFill/>
          <a:ln/>
        </p:spPr>
        <p:txBody>
          <a:bodyPr wrap="square" lIns="0" tIns="0" rIns="0" bIns="0" rtlCol="0" anchor="ctr"/>
          <a:lstStyle/>
          <a:p>
            <a:pPr indent="0" marL="0">
              <a:buNone/>
            </a:pPr>
            <a:r>
              <a:rPr lang="en-US" sz="800" dirty="0">
                <a:solidFill>
                  <a:srgbClr val="1A3A5C"/>
                </a:solidFill>
                <a:latin typeface="Arial" pitchFamily="34" charset="0"/>
                <a:ea typeface="Arial" pitchFamily="34" charset="-122"/>
                <a:cs typeface="Arial" pitchFamily="34" charset="-120"/>
              </a:rPr>
              <a:t>AutoEra AI Solutions Pvt. Ltd.  |  Chennai, Tamil Nadu  |  UDYAM-TN-24-0162449  |  CONFIDENTIAL</a:t>
            </a:r>
            <a:endParaRPr lang="en-US" sz="800" dirty="0"/>
          </a:p>
        </p:txBody>
      </p:sp>
      <p:sp>
        <p:nvSpPr>
          <p:cNvPr id="65" name="Text 63"/>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6/10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COMPETITIVE ADVANTAGE</a:t>
            </a:r>
            <a:endParaRPr lang="en-US" sz="900" dirty="0"/>
          </a:p>
        </p:txBody>
      </p:sp>
      <p:sp>
        <p:nvSpPr>
          <p:cNvPr id="6" name="Text 4"/>
          <p:cNvSpPr/>
          <p:nvPr/>
        </p:nvSpPr>
        <p:spPr>
          <a:xfrm>
            <a:off x="274320" y="685800"/>
            <a:ext cx="9144000" cy="59436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Built for India. No Global Competitor Can Copy This.</a:t>
            </a:r>
            <a:endParaRPr lang="en-US" sz="2400" dirty="0"/>
          </a:p>
        </p:txBody>
      </p:sp>
      <p:sp>
        <p:nvSpPr>
          <p:cNvPr id="7" name="Shape 5"/>
          <p:cNvSpPr/>
          <p:nvPr/>
        </p:nvSpPr>
        <p:spPr>
          <a:xfrm>
            <a:off x="274320" y="1261872"/>
            <a:ext cx="1828800" cy="36576"/>
          </a:xfrm>
          <a:prstGeom prst="rect">
            <a:avLst/>
          </a:prstGeom>
          <a:solidFill>
            <a:srgbClr val="CC4500"/>
          </a:solidFill>
          <a:ln w="12700">
            <a:solidFill>
              <a:srgbClr val="CC4500"/>
            </a:solidFill>
            <a:prstDash val="solid"/>
          </a:ln>
        </p:spPr>
      </p:sp>
      <p:sp>
        <p:nvSpPr>
          <p:cNvPr id="8" name="Shape 6"/>
          <p:cNvSpPr/>
          <p:nvPr/>
        </p:nvSpPr>
        <p:spPr>
          <a:xfrm>
            <a:off x="274320" y="1463040"/>
            <a:ext cx="3200400" cy="365760"/>
          </a:xfrm>
          <a:prstGeom prst="rect">
            <a:avLst/>
          </a:prstGeom>
          <a:solidFill>
            <a:srgbClr val="1A3A5C"/>
          </a:solidFill>
          <a:ln w="12700">
            <a:solidFill>
              <a:srgbClr val="1A3A5C"/>
            </a:solidFill>
            <a:prstDash val="solid"/>
          </a:ln>
        </p:spPr>
      </p:sp>
      <p:sp>
        <p:nvSpPr>
          <p:cNvPr id="9" name="Text 7"/>
          <p:cNvSpPr/>
          <p:nvPr/>
        </p:nvSpPr>
        <p:spPr>
          <a:xfrm>
            <a:off x="320040" y="1463040"/>
            <a:ext cx="31089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Feature</a:t>
            </a:r>
            <a:endParaRPr lang="en-US" sz="1100" dirty="0"/>
          </a:p>
        </p:txBody>
      </p:sp>
      <p:sp>
        <p:nvSpPr>
          <p:cNvPr id="10" name="Shape 8"/>
          <p:cNvSpPr/>
          <p:nvPr/>
        </p:nvSpPr>
        <p:spPr>
          <a:xfrm>
            <a:off x="3520440" y="1463040"/>
            <a:ext cx="1828800" cy="365760"/>
          </a:xfrm>
          <a:prstGeom prst="rect">
            <a:avLst/>
          </a:prstGeom>
          <a:solidFill>
            <a:srgbClr val="CC4500"/>
          </a:solidFill>
          <a:ln w="12700">
            <a:solidFill>
              <a:srgbClr val="CC4500"/>
            </a:solidFill>
            <a:prstDash val="solid"/>
          </a:ln>
        </p:spPr>
      </p:sp>
      <p:sp>
        <p:nvSpPr>
          <p:cNvPr id="11" name="Text 9"/>
          <p:cNvSpPr/>
          <p:nvPr/>
        </p:nvSpPr>
        <p:spPr>
          <a:xfrm>
            <a:off x="3566160" y="14630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AutoEra AI</a:t>
            </a:r>
            <a:endParaRPr lang="en-US" sz="1100" dirty="0"/>
          </a:p>
        </p:txBody>
      </p:sp>
      <p:sp>
        <p:nvSpPr>
          <p:cNvPr id="12" name="Shape 10"/>
          <p:cNvSpPr/>
          <p:nvPr/>
        </p:nvSpPr>
        <p:spPr>
          <a:xfrm>
            <a:off x="5394960" y="1463040"/>
            <a:ext cx="1828800" cy="365760"/>
          </a:xfrm>
          <a:prstGeom prst="rect">
            <a:avLst/>
          </a:prstGeom>
          <a:solidFill>
            <a:srgbClr val="1A3A5C"/>
          </a:solidFill>
          <a:ln w="12700">
            <a:solidFill>
              <a:srgbClr val="1A3A5C"/>
            </a:solidFill>
            <a:prstDash val="solid"/>
          </a:ln>
        </p:spPr>
      </p:sp>
      <p:sp>
        <p:nvSpPr>
          <p:cNvPr id="13" name="Text 11"/>
          <p:cNvSpPr/>
          <p:nvPr/>
        </p:nvSpPr>
        <p:spPr>
          <a:xfrm>
            <a:off x="5440680" y="14630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Traditional DMS</a:t>
            </a:r>
            <a:endParaRPr lang="en-US" sz="1100" dirty="0"/>
          </a:p>
        </p:txBody>
      </p:sp>
      <p:sp>
        <p:nvSpPr>
          <p:cNvPr id="14" name="Shape 12"/>
          <p:cNvSpPr/>
          <p:nvPr/>
        </p:nvSpPr>
        <p:spPr>
          <a:xfrm>
            <a:off x="7269480" y="1463040"/>
            <a:ext cx="1828800" cy="365760"/>
          </a:xfrm>
          <a:prstGeom prst="rect">
            <a:avLst/>
          </a:prstGeom>
          <a:solidFill>
            <a:srgbClr val="1A3A5C"/>
          </a:solidFill>
          <a:ln w="12700">
            <a:solidFill>
              <a:srgbClr val="1A3A5C"/>
            </a:solidFill>
            <a:prstDash val="solid"/>
          </a:ln>
        </p:spPr>
      </p:sp>
      <p:sp>
        <p:nvSpPr>
          <p:cNvPr id="15" name="Text 13"/>
          <p:cNvSpPr/>
          <p:nvPr/>
        </p:nvSpPr>
        <p:spPr>
          <a:xfrm>
            <a:off x="7315200" y="14630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Tekion / CDK</a:t>
            </a:r>
            <a:endParaRPr lang="en-US" sz="1100" dirty="0"/>
          </a:p>
        </p:txBody>
      </p:sp>
      <p:sp>
        <p:nvSpPr>
          <p:cNvPr id="16" name="Shape 14"/>
          <p:cNvSpPr/>
          <p:nvPr/>
        </p:nvSpPr>
        <p:spPr>
          <a:xfrm>
            <a:off x="9144000" y="1463040"/>
            <a:ext cx="1828800" cy="365760"/>
          </a:xfrm>
          <a:prstGeom prst="rect">
            <a:avLst/>
          </a:prstGeom>
          <a:solidFill>
            <a:srgbClr val="1A3A5C"/>
          </a:solidFill>
          <a:ln w="12700">
            <a:solidFill>
              <a:srgbClr val="1A3A5C"/>
            </a:solidFill>
            <a:prstDash val="solid"/>
          </a:ln>
        </p:spPr>
      </p:sp>
      <p:sp>
        <p:nvSpPr>
          <p:cNvPr id="17" name="Text 15"/>
          <p:cNvSpPr/>
          <p:nvPr/>
        </p:nvSpPr>
        <p:spPr>
          <a:xfrm>
            <a:off x="9189720" y="14630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Generic CRM</a:t>
            </a:r>
            <a:endParaRPr lang="en-US" sz="1100" dirty="0"/>
          </a:p>
        </p:txBody>
      </p:sp>
      <p:sp>
        <p:nvSpPr>
          <p:cNvPr id="18" name="Shape 16"/>
          <p:cNvSpPr/>
          <p:nvPr/>
        </p:nvSpPr>
        <p:spPr>
          <a:xfrm>
            <a:off x="274320" y="1874520"/>
            <a:ext cx="3200400" cy="384048"/>
          </a:xfrm>
          <a:prstGeom prst="rect">
            <a:avLst/>
          </a:prstGeom>
          <a:solidFill>
            <a:srgbClr val="0A1F3F"/>
          </a:solidFill>
          <a:ln w="12700">
            <a:solidFill>
              <a:srgbClr val="061329"/>
            </a:solidFill>
            <a:prstDash val="solid"/>
          </a:ln>
        </p:spPr>
      </p:sp>
      <p:sp>
        <p:nvSpPr>
          <p:cNvPr id="19" name="Text 17"/>
          <p:cNvSpPr/>
          <p:nvPr/>
        </p:nvSpPr>
        <p:spPr>
          <a:xfrm>
            <a:off x="320040" y="1901952"/>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Tamil AI Voice Agent</a:t>
            </a:r>
            <a:endParaRPr lang="en-US" sz="1000" dirty="0"/>
          </a:p>
        </p:txBody>
      </p:sp>
      <p:sp>
        <p:nvSpPr>
          <p:cNvPr id="20" name="Shape 18"/>
          <p:cNvSpPr/>
          <p:nvPr/>
        </p:nvSpPr>
        <p:spPr>
          <a:xfrm>
            <a:off x="3520440" y="1874520"/>
            <a:ext cx="1828800" cy="384048"/>
          </a:xfrm>
          <a:prstGeom prst="rect">
            <a:avLst/>
          </a:prstGeom>
          <a:solidFill>
            <a:srgbClr val="CC4500"/>
          </a:solidFill>
          <a:ln w="12700">
            <a:solidFill>
              <a:srgbClr val="061329"/>
            </a:solidFill>
            <a:prstDash val="solid"/>
          </a:ln>
        </p:spPr>
      </p:sp>
      <p:sp>
        <p:nvSpPr>
          <p:cNvPr id="21" name="Text 19"/>
          <p:cNvSpPr/>
          <p:nvPr/>
        </p:nvSpPr>
        <p:spPr>
          <a:xfrm>
            <a:off x="3566160" y="1901952"/>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2" name="Shape 20"/>
          <p:cNvSpPr/>
          <p:nvPr/>
        </p:nvSpPr>
        <p:spPr>
          <a:xfrm>
            <a:off x="5394960" y="1874520"/>
            <a:ext cx="1828800" cy="384048"/>
          </a:xfrm>
          <a:prstGeom prst="rect">
            <a:avLst/>
          </a:prstGeom>
          <a:solidFill>
            <a:srgbClr val="0A1F3F"/>
          </a:solidFill>
          <a:ln w="12700">
            <a:solidFill>
              <a:srgbClr val="061329"/>
            </a:solidFill>
            <a:prstDash val="solid"/>
          </a:ln>
        </p:spPr>
      </p:sp>
      <p:sp>
        <p:nvSpPr>
          <p:cNvPr id="23" name="Text 21"/>
          <p:cNvSpPr/>
          <p:nvPr/>
        </p:nvSpPr>
        <p:spPr>
          <a:xfrm>
            <a:off x="5440680" y="1901952"/>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24" name="Shape 22"/>
          <p:cNvSpPr/>
          <p:nvPr/>
        </p:nvSpPr>
        <p:spPr>
          <a:xfrm>
            <a:off x="7269480" y="1874520"/>
            <a:ext cx="1828800" cy="384048"/>
          </a:xfrm>
          <a:prstGeom prst="rect">
            <a:avLst/>
          </a:prstGeom>
          <a:solidFill>
            <a:srgbClr val="0A1F3F"/>
          </a:solidFill>
          <a:ln w="12700">
            <a:solidFill>
              <a:srgbClr val="061329"/>
            </a:solidFill>
            <a:prstDash val="solid"/>
          </a:ln>
        </p:spPr>
      </p:sp>
      <p:sp>
        <p:nvSpPr>
          <p:cNvPr id="25" name="Text 23"/>
          <p:cNvSpPr/>
          <p:nvPr/>
        </p:nvSpPr>
        <p:spPr>
          <a:xfrm>
            <a:off x="7315200" y="1901952"/>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9144000" y="1874520"/>
            <a:ext cx="1828800" cy="384048"/>
          </a:xfrm>
          <a:prstGeom prst="rect">
            <a:avLst/>
          </a:prstGeom>
          <a:solidFill>
            <a:srgbClr val="0A1F3F"/>
          </a:solidFill>
          <a:ln w="12700">
            <a:solidFill>
              <a:srgbClr val="061329"/>
            </a:solidFill>
            <a:prstDash val="solid"/>
          </a:ln>
        </p:spPr>
      </p:sp>
      <p:sp>
        <p:nvSpPr>
          <p:cNvPr id="27" name="Text 25"/>
          <p:cNvSpPr/>
          <p:nvPr/>
        </p:nvSpPr>
        <p:spPr>
          <a:xfrm>
            <a:off x="9189720" y="1901952"/>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28" name="Shape 26"/>
          <p:cNvSpPr/>
          <p:nvPr/>
        </p:nvSpPr>
        <p:spPr>
          <a:xfrm>
            <a:off x="274320" y="2276856"/>
            <a:ext cx="3200400" cy="384048"/>
          </a:xfrm>
          <a:prstGeom prst="rect">
            <a:avLst/>
          </a:prstGeom>
          <a:solidFill>
            <a:srgbClr val="1A3A5C"/>
          </a:solidFill>
          <a:ln w="12700">
            <a:solidFill>
              <a:srgbClr val="061329"/>
            </a:solidFill>
            <a:prstDash val="solid"/>
          </a:ln>
        </p:spPr>
      </p:sp>
      <p:sp>
        <p:nvSpPr>
          <p:cNvPr id="29" name="Text 27"/>
          <p:cNvSpPr/>
          <p:nvPr/>
        </p:nvSpPr>
        <p:spPr>
          <a:xfrm>
            <a:off x="320040" y="2304288"/>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WhatsApp-Native Interface</a:t>
            </a:r>
            <a:endParaRPr lang="en-US" sz="1000" dirty="0"/>
          </a:p>
        </p:txBody>
      </p:sp>
      <p:sp>
        <p:nvSpPr>
          <p:cNvPr id="30" name="Shape 28"/>
          <p:cNvSpPr/>
          <p:nvPr/>
        </p:nvSpPr>
        <p:spPr>
          <a:xfrm>
            <a:off x="3520440" y="2276856"/>
            <a:ext cx="1828800" cy="384048"/>
          </a:xfrm>
          <a:prstGeom prst="rect">
            <a:avLst/>
          </a:prstGeom>
          <a:solidFill>
            <a:srgbClr val="CC4500"/>
          </a:solidFill>
          <a:ln w="12700">
            <a:solidFill>
              <a:srgbClr val="061329"/>
            </a:solidFill>
            <a:prstDash val="solid"/>
          </a:ln>
        </p:spPr>
      </p:sp>
      <p:sp>
        <p:nvSpPr>
          <p:cNvPr id="31" name="Text 29"/>
          <p:cNvSpPr/>
          <p:nvPr/>
        </p:nvSpPr>
        <p:spPr>
          <a:xfrm>
            <a:off x="3566160" y="2304288"/>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2" name="Shape 30"/>
          <p:cNvSpPr/>
          <p:nvPr/>
        </p:nvSpPr>
        <p:spPr>
          <a:xfrm>
            <a:off x="5394960" y="2276856"/>
            <a:ext cx="1828800" cy="384048"/>
          </a:xfrm>
          <a:prstGeom prst="rect">
            <a:avLst/>
          </a:prstGeom>
          <a:solidFill>
            <a:srgbClr val="1A3A5C"/>
          </a:solidFill>
          <a:ln w="12700">
            <a:solidFill>
              <a:srgbClr val="061329"/>
            </a:solidFill>
            <a:prstDash val="solid"/>
          </a:ln>
        </p:spPr>
      </p:sp>
      <p:sp>
        <p:nvSpPr>
          <p:cNvPr id="33" name="Text 31"/>
          <p:cNvSpPr/>
          <p:nvPr/>
        </p:nvSpPr>
        <p:spPr>
          <a:xfrm>
            <a:off x="5440680" y="2304288"/>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34" name="Shape 32"/>
          <p:cNvSpPr/>
          <p:nvPr/>
        </p:nvSpPr>
        <p:spPr>
          <a:xfrm>
            <a:off x="7269480" y="2276856"/>
            <a:ext cx="1828800" cy="384048"/>
          </a:xfrm>
          <a:prstGeom prst="rect">
            <a:avLst/>
          </a:prstGeom>
          <a:solidFill>
            <a:srgbClr val="1A3A5C"/>
          </a:solidFill>
          <a:ln w="12700">
            <a:solidFill>
              <a:srgbClr val="061329"/>
            </a:solidFill>
            <a:prstDash val="solid"/>
          </a:ln>
        </p:spPr>
      </p:sp>
      <p:sp>
        <p:nvSpPr>
          <p:cNvPr id="35" name="Text 33"/>
          <p:cNvSpPr/>
          <p:nvPr/>
        </p:nvSpPr>
        <p:spPr>
          <a:xfrm>
            <a:off x="7315200" y="2304288"/>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36" name="Shape 34"/>
          <p:cNvSpPr/>
          <p:nvPr/>
        </p:nvSpPr>
        <p:spPr>
          <a:xfrm>
            <a:off x="9144000" y="2276856"/>
            <a:ext cx="1828800" cy="384048"/>
          </a:xfrm>
          <a:prstGeom prst="rect">
            <a:avLst/>
          </a:prstGeom>
          <a:solidFill>
            <a:srgbClr val="1A3A5C"/>
          </a:solidFill>
          <a:ln w="12700">
            <a:solidFill>
              <a:srgbClr val="061329"/>
            </a:solidFill>
            <a:prstDash val="solid"/>
          </a:ln>
        </p:spPr>
      </p:sp>
      <p:sp>
        <p:nvSpPr>
          <p:cNvPr id="37" name="Text 35"/>
          <p:cNvSpPr/>
          <p:nvPr/>
        </p:nvSpPr>
        <p:spPr>
          <a:xfrm>
            <a:off x="9189720" y="2304288"/>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38" name="Shape 36"/>
          <p:cNvSpPr/>
          <p:nvPr/>
        </p:nvSpPr>
        <p:spPr>
          <a:xfrm>
            <a:off x="274320" y="2679192"/>
            <a:ext cx="3200400" cy="384048"/>
          </a:xfrm>
          <a:prstGeom prst="rect">
            <a:avLst/>
          </a:prstGeom>
          <a:solidFill>
            <a:srgbClr val="0A1F3F"/>
          </a:solidFill>
          <a:ln w="12700">
            <a:solidFill>
              <a:srgbClr val="061329"/>
            </a:solidFill>
            <a:prstDash val="solid"/>
          </a:ln>
        </p:spPr>
      </p:sp>
      <p:sp>
        <p:nvSpPr>
          <p:cNvPr id="39" name="Text 37"/>
          <p:cNvSpPr/>
          <p:nvPr/>
        </p:nvSpPr>
        <p:spPr>
          <a:xfrm>
            <a:off x="320040" y="2706624"/>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90-Second Job Card</a:t>
            </a:r>
            <a:endParaRPr lang="en-US" sz="1000" dirty="0"/>
          </a:p>
        </p:txBody>
      </p:sp>
      <p:sp>
        <p:nvSpPr>
          <p:cNvPr id="40" name="Shape 38"/>
          <p:cNvSpPr/>
          <p:nvPr/>
        </p:nvSpPr>
        <p:spPr>
          <a:xfrm>
            <a:off x="3520440" y="2679192"/>
            <a:ext cx="1828800" cy="384048"/>
          </a:xfrm>
          <a:prstGeom prst="rect">
            <a:avLst/>
          </a:prstGeom>
          <a:solidFill>
            <a:srgbClr val="CC4500"/>
          </a:solidFill>
          <a:ln w="12700">
            <a:solidFill>
              <a:srgbClr val="061329"/>
            </a:solidFill>
            <a:prstDash val="solid"/>
          </a:ln>
        </p:spPr>
      </p:sp>
      <p:sp>
        <p:nvSpPr>
          <p:cNvPr id="41" name="Text 39"/>
          <p:cNvSpPr/>
          <p:nvPr/>
        </p:nvSpPr>
        <p:spPr>
          <a:xfrm>
            <a:off x="3566160" y="2706624"/>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42" name="Shape 40"/>
          <p:cNvSpPr/>
          <p:nvPr/>
        </p:nvSpPr>
        <p:spPr>
          <a:xfrm>
            <a:off x="5394960" y="2679192"/>
            <a:ext cx="1828800" cy="384048"/>
          </a:xfrm>
          <a:prstGeom prst="rect">
            <a:avLst/>
          </a:prstGeom>
          <a:solidFill>
            <a:srgbClr val="0A1F3F"/>
          </a:solidFill>
          <a:ln w="12700">
            <a:solidFill>
              <a:srgbClr val="061329"/>
            </a:solidFill>
            <a:prstDash val="solid"/>
          </a:ln>
        </p:spPr>
      </p:sp>
      <p:sp>
        <p:nvSpPr>
          <p:cNvPr id="43" name="Text 41"/>
          <p:cNvSpPr/>
          <p:nvPr/>
        </p:nvSpPr>
        <p:spPr>
          <a:xfrm>
            <a:off x="5440680" y="2706624"/>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44" name="Shape 42"/>
          <p:cNvSpPr/>
          <p:nvPr/>
        </p:nvSpPr>
        <p:spPr>
          <a:xfrm>
            <a:off x="7269480" y="2679192"/>
            <a:ext cx="1828800" cy="384048"/>
          </a:xfrm>
          <a:prstGeom prst="rect">
            <a:avLst/>
          </a:prstGeom>
          <a:solidFill>
            <a:srgbClr val="0A1F3F"/>
          </a:solidFill>
          <a:ln w="12700">
            <a:solidFill>
              <a:srgbClr val="061329"/>
            </a:solidFill>
            <a:prstDash val="solid"/>
          </a:ln>
        </p:spPr>
      </p:sp>
      <p:sp>
        <p:nvSpPr>
          <p:cNvPr id="45" name="Text 43"/>
          <p:cNvSpPr/>
          <p:nvPr/>
        </p:nvSpPr>
        <p:spPr>
          <a:xfrm>
            <a:off x="7315200" y="2706624"/>
            <a:ext cx="1737360" cy="329184"/>
          </a:xfrm>
          <a:prstGeom prst="rect">
            <a:avLst/>
          </a:prstGeom>
          <a:noFill/>
          <a:ln/>
        </p:spPr>
        <p:txBody>
          <a:bodyPr wrap="square" lIns="0" tIns="0" rIns="0" bIns="0" rtlCol="0" anchor="ctr"/>
          <a:lstStyle/>
          <a:p>
            <a:pPr algn="ctr" indent="0" marL="0">
              <a:buNone/>
            </a:pPr>
            <a:r>
              <a:rPr lang="en-US" sz="1400" dirty="0">
                <a:solidFill>
                  <a:srgbClr val="F59E0B"/>
                </a:solidFill>
                <a:latin typeface="Arial" pitchFamily="34" charset="0"/>
                <a:ea typeface="Arial" pitchFamily="34" charset="-122"/>
                <a:cs typeface="Arial" pitchFamily="34" charset="-120"/>
              </a:rPr>
              <a:t>🟡</a:t>
            </a:r>
            <a:endParaRPr lang="en-US" sz="1400" dirty="0"/>
          </a:p>
        </p:txBody>
      </p:sp>
      <p:sp>
        <p:nvSpPr>
          <p:cNvPr id="46" name="Shape 44"/>
          <p:cNvSpPr/>
          <p:nvPr/>
        </p:nvSpPr>
        <p:spPr>
          <a:xfrm>
            <a:off x="9144000" y="2679192"/>
            <a:ext cx="1828800" cy="384048"/>
          </a:xfrm>
          <a:prstGeom prst="rect">
            <a:avLst/>
          </a:prstGeom>
          <a:solidFill>
            <a:srgbClr val="0A1F3F"/>
          </a:solidFill>
          <a:ln w="12700">
            <a:solidFill>
              <a:srgbClr val="061329"/>
            </a:solidFill>
            <a:prstDash val="solid"/>
          </a:ln>
        </p:spPr>
      </p:sp>
      <p:sp>
        <p:nvSpPr>
          <p:cNvPr id="47" name="Text 45"/>
          <p:cNvSpPr/>
          <p:nvPr/>
        </p:nvSpPr>
        <p:spPr>
          <a:xfrm>
            <a:off x="9189720" y="2706624"/>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48" name="Shape 46"/>
          <p:cNvSpPr/>
          <p:nvPr/>
        </p:nvSpPr>
        <p:spPr>
          <a:xfrm>
            <a:off x="274320" y="3081528"/>
            <a:ext cx="3200400" cy="384048"/>
          </a:xfrm>
          <a:prstGeom prst="rect">
            <a:avLst/>
          </a:prstGeom>
          <a:solidFill>
            <a:srgbClr val="1A3A5C"/>
          </a:solidFill>
          <a:ln w="12700">
            <a:solidFill>
              <a:srgbClr val="061329"/>
            </a:solidFill>
            <a:prstDash val="solid"/>
          </a:ln>
        </p:spPr>
      </p:sp>
      <p:sp>
        <p:nvSpPr>
          <p:cNvPr id="49" name="Text 47"/>
          <p:cNvSpPr/>
          <p:nvPr/>
        </p:nvSpPr>
        <p:spPr>
          <a:xfrm>
            <a:off x="320040" y="3108960"/>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AI Insurance Renewals</a:t>
            </a:r>
            <a:endParaRPr lang="en-US" sz="1000" dirty="0"/>
          </a:p>
        </p:txBody>
      </p:sp>
      <p:sp>
        <p:nvSpPr>
          <p:cNvPr id="50" name="Shape 48"/>
          <p:cNvSpPr/>
          <p:nvPr/>
        </p:nvSpPr>
        <p:spPr>
          <a:xfrm>
            <a:off x="3520440" y="3081528"/>
            <a:ext cx="1828800" cy="384048"/>
          </a:xfrm>
          <a:prstGeom prst="rect">
            <a:avLst/>
          </a:prstGeom>
          <a:solidFill>
            <a:srgbClr val="CC4500"/>
          </a:solidFill>
          <a:ln w="12700">
            <a:solidFill>
              <a:srgbClr val="061329"/>
            </a:solidFill>
            <a:prstDash val="solid"/>
          </a:ln>
        </p:spPr>
      </p:sp>
      <p:sp>
        <p:nvSpPr>
          <p:cNvPr id="51" name="Text 49"/>
          <p:cNvSpPr/>
          <p:nvPr/>
        </p:nvSpPr>
        <p:spPr>
          <a:xfrm>
            <a:off x="3566160" y="3108960"/>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52" name="Shape 50"/>
          <p:cNvSpPr/>
          <p:nvPr/>
        </p:nvSpPr>
        <p:spPr>
          <a:xfrm>
            <a:off x="5394960" y="3081528"/>
            <a:ext cx="1828800" cy="384048"/>
          </a:xfrm>
          <a:prstGeom prst="rect">
            <a:avLst/>
          </a:prstGeom>
          <a:solidFill>
            <a:srgbClr val="1A3A5C"/>
          </a:solidFill>
          <a:ln w="12700">
            <a:solidFill>
              <a:srgbClr val="061329"/>
            </a:solidFill>
            <a:prstDash val="solid"/>
          </a:ln>
        </p:spPr>
      </p:sp>
      <p:sp>
        <p:nvSpPr>
          <p:cNvPr id="53" name="Text 51"/>
          <p:cNvSpPr/>
          <p:nvPr/>
        </p:nvSpPr>
        <p:spPr>
          <a:xfrm>
            <a:off x="5440680" y="3108960"/>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54" name="Shape 52"/>
          <p:cNvSpPr/>
          <p:nvPr/>
        </p:nvSpPr>
        <p:spPr>
          <a:xfrm>
            <a:off x="7269480" y="3081528"/>
            <a:ext cx="1828800" cy="384048"/>
          </a:xfrm>
          <a:prstGeom prst="rect">
            <a:avLst/>
          </a:prstGeom>
          <a:solidFill>
            <a:srgbClr val="1A3A5C"/>
          </a:solidFill>
          <a:ln w="12700">
            <a:solidFill>
              <a:srgbClr val="061329"/>
            </a:solidFill>
            <a:prstDash val="solid"/>
          </a:ln>
        </p:spPr>
      </p:sp>
      <p:sp>
        <p:nvSpPr>
          <p:cNvPr id="55" name="Text 53"/>
          <p:cNvSpPr/>
          <p:nvPr/>
        </p:nvSpPr>
        <p:spPr>
          <a:xfrm>
            <a:off x="7315200" y="3108960"/>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56" name="Shape 54"/>
          <p:cNvSpPr/>
          <p:nvPr/>
        </p:nvSpPr>
        <p:spPr>
          <a:xfrm>
            <a:off x="9144000" y="3081528"/>
            <a:ext cx="1828800" cy="384048"/>
          </a:xfrm>
          <a:prstGeom prst="rect">
            <a:avLst/>
          </a:prstGeom>
          <a:solidFill>
            <a:srgbClr val="1A3A5C"/>
          </a:solidFill>
          <a:ln w="12700">
            <a:solidFill>
              <a:srgbClr val="061329"/>
            </a:solidFill>
            <a:prstDash val="solid"/>
          </a:ln>
        </p:spPr>
      </p:sp>
      <p:sp>
        <p:nvSpPr>
          <p:cNvPr id="57" name="Text 55"/>
          <p:cNvSpPr/>
          <p:nvPr/>
        </p:nvSpPr>
        <p:spPr>
          <a:xfrm>
            <a:off x="9189720" y="3108960"/>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58" name="Shape 56"/>
          <p:cNvSpPr/>
          <p:nvPr/>
        </p:nvSpPr>
        <p:spPr>
          <a:xfrm>
            <a:off x="274320" y="3483864"/>
            <a:ext cx="3200400" cy="384048"/>
          </a:xfrm>
          <a:prstGeom prst="rect">
            <a:avLst/>
          </a:prstGeom>
          <a:solidFill>
            <a:srgbClr val="0A1F3F"/>
          </a:solidFill>
          <a:ln w="12700">
            <a:solidFill>
              <a:srgbClr val="061329"/>
            </a:solidFill>
            <a:prstDash val="solid"/>
          </a:ln>
        </p:spPr>
      </p:sp>
      <p:sp>
        <p:nvSpPr>
          <p:cNvPr id="59" name="Text 57"/>
          <p:cNvSpPr/>
          <p:nvPr/>
        </p:nvSpPr>
        <p:spPr>
          <a:xfrm>
            <a:off x="320040" y="3511296"/>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Predictive Maintenance AI</a:t>
            </a:r>
            <a:endParaRPr lang="en-US" sz="1000" dirty="0"/>
          </a:p>
        </p:txBody>
      </p:sp>
      <p:sp>
        <p:nvSpPr>
          <p:cNvPr id="60" name="Shape 58"/>
          <p:cNvSpPr/>
          <p:nvPr/>
        </p:nvSpPr>
        <p:spPr>
          <a:xfrm>
            <a:off x="3520440" y="3483864"/>
            <a:ext cx="1828800" cy="384048"/>
          </a:xfrm>
          <a:prstGeom prst="rect">
            <a:avLst/>
          </a:prstGeom>
          <a:solidFill>
            <a:srgbClr val="CC4500"/>
          </a:solidFill>
          <a:ln w="12700">
            <a:solidFill>
              <a:srgbClr val="061329"/>
            </a:solidFill>
            <a:prstDash val="solid"/>
          </a:ln>
        </p:spPr>
      </p:sp>
      <p:sp>
        <p:nvSpPr>
          <p:cNvPr id="61" name="Text 59"/>
          <p:cNvSpPr/>
          <p:nvPr/>
        </p:nvSpPr>
        <p:spPr>
          <a:xfrm>
            <a:off x="3566160" y="3511296"/>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62" name="Shape 60"/>
          <p:cNvSpPr/>
          <p:nvPr/>
        </p:nvSpPr>
        <p:spPr>
          <a:xfrm>
            <a:off x="5394960" y="3483864"/>
            <a:ext cx="1828800" cy="384048"/>
          </a:xfrm>
          <a:prstGeom prst="rect">
            <a:avLst/>
          </a:prstGeom>
          <a:solidFill>
            <a:srgbClr val="0A1F3F"/>
          </a:solidFill>
          <a:ln w="12700">
            <a:solidFill>
              <a:srgbClr val="061329"/>
            </a:solidFill>
            <a:prstDash val="solid"/>
          </a:ln>
        </p:spPr>
      </p:sp>
      <p:sp>
        <p:nvSpPr>
          <p:cNvPr id="63" name="Text 61"/>
          <p:cNvSpPr/>
          <p:nvPr/>
        </p:nvSpPr>
        <p:spPr>
          <a:xfrm>
            <a:off x="5440680" y="3511296"/>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64" name="Shape 62"/>
          <p:cNvSpPr/>
          <p:nvPr/>
        </p:nvSpPr>
        <p:spPr>
          <a:xfrm>
            <a:off x="7269480" y="3483864"/>
            <a:ext cx="1828800" cy="384048"/>
          </a:xfrm>
          <a:prstGeom prst="rect">
            <a:avLst/>
          </a:prstGeom>
          <a:solidFill>
            <a:srgbClr val="0A1F3F"/>
          </a:solidFill>
          <a:ln w="12700">
            <a:solidFill>
              <a:srgbClr val="061329"/>
            </a:solidFill>
            <a:prstDash val="solid"/>
          </a:ln>
        </p:spPr>
      </p:sp>
      <p:sp>
        <p:nvSpPr>
          <p:cNvPr id="65" name="Text 63"/>
          <p:cNvSpPr/>
          <p:nvPr/>
        </p:nvSpPr>
        <p:spPr>
          <a:xfrm>
            <a:off x="7315200" y="3511296"/>
            <a:ext cx="1737360" cy="329184"/>
          </a:xfrm>
          <a:prstGeom prst="rect">
            <a:avLst/>
          </a:prstGeom>
          <a:noFill/>
          <a:ln/>
        </p:spPr>
        <p:txBody>
          <a:bodyPr wrap="square" lIns="0" tIns="0" rIns="0" bIns="0" rtlCol="0" anchor="ctr"/>
          <a:lstStyle/>
          <a:p>
            <a:pPr algn="ctr" indent="0" marL="0">
              <a:buNone/>
            </a:pPr>
            <a:r>
              <a:rPr lang="en-US" sz="1400" dirty="0">
                <a:solidFill>
                  <a:srgbClr val="F59E0B"/>
                </a:solidFill>
                <a:latin typeface="Arial" pitchFamily="34" charset="0"/>
                <a:ea typeface="Arial" pitchFamily="34" charset="-122"/>
                <a:cs typeface="Arial" pitchFamily="34" charset="-120"/>
              </a:rPr>
              <a:t>🟡</a:t>
            </a:r>
            <a:endParaRPr lang="en-US" sz="1400" dirty="0"/>
          </a:p>
        </p:txBody>
      </p:sp>
      <p:sp>
        <p:nvSpPr>
          <p:cNvPr id="66" name="Shape 64"/>
          <p:cNvSpPr/>
          <p:nvPr/>
        </p:nvSpPr>
        <p:spPr>
          <a:xfrm>
            <a:off x="9144000" y="3483864"/>
            <a:ext cx="1828800" cy="384048"/>
          </a:xfrm>
          <a:prstGeom prst="rect">
            <a:avLst/>
          </a:prstGeom>
          <a:solidFill>
            <a:srgbClr val="0A1F3F"/>
          </a:solidFill>
          <a:ln w="12700">
            <a:solidFill>
              <a:srgbClr val="061329"/>
            </a:solidFill>
            <a:prstDash val="solid"/>
          </a:ln>
        </p:spPr>
      </p:sp>
      <p:sp>
        <p:nvSpPr>
          <p:cNvPr id="67" name="Text 65"/>
          <p:cNvSpPr/>
          <p:nvPr/>
        </p:nvSpPr>
        <p:spPr>
          <a:xfrm>
            <a:off x="9189720" y="3511296"/>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68" name="Shape 66"/>
          <p:cNvSpPr/>
          <p:nvPr/>
        </p:nvSpPr>
        <p:spPr>
          <a:xfrm>
            <a:off x="274320" y="3886200"/>
            <a:ext cx="3200400" cy="384048"/>
          </a:xfrm>
          <a:prstGeom prst="rect">
            <a:avLst/>
          </a:prstGeom>
          <a:solidFill>
            <a:srgbClr val="1A3A5C"/>
          </a:solidFill>
          <a:ln w="12700">
            <a:solidFill>
              <a:srgbClr val="061329"/>
            </a:solidFill>
            <a:prstDash val="solid"/>
          </a:ln>
        </p:spPr>
      </p:sp>
      <p:sp>
        <p:nvSpPr>
          <p:cNvPr id="69" name="Text 67"/>
          <p:cNvSpPr/>
          <p:nvPr/>
        </p:nvSpPr>
        <p:spPr>
          <a:xfrm>
            <a:off x="320040" y="3913632"/>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Indian Pricing (₹2,499/mo)</a:t>
            </a:r>
            <a:endParaRPr lang="en-US" sz="1000" dirty="0"/>
          </a:p>
        </p:txBody>
      </p:sp>
      <p:sp>
        <p:nvSpPr>
          <p:cNvPr id="70" name="Shape 68"/>
          <p:cNvSpPr/>
          <p:nvPr/>
        </p:nvSpPr>
        <p:spPr>
          <a:xfrm>
            <a:off x="3520440" y="3886200"/>
            <a:ext cx="1828800" cy="384048"/>
          </a:xfrm>
          <a:prstGeom prst="rect">
            <a:avLst/>
          </a:prstGeom>
          <a:solidFill>
            <a:srgbClr val="CC4500"/>
          </a:solidFill>
          <a:ln w="12700">
            <a:solidFill>
              <a:srgbClr val="061329"/>
            </a:solidFill>
            <a:prstDash val="solid"/>
          </a:ln>
        </p:spPr>
      </p:sp>
      <p:sp>
        <p:nvSpPr>
          <p:cNvPr id="71" name="Text 69"/>
          <p:cNvSpPr/>
          <p:nvPr/>
        </p:nvSpPr>
        <p:spPr>
          <a:xfrm>
            <a:off x="3566160" y="3913632"/>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72" name="Shape 70"/>
          <p:cNvSpPr/>
          <p:nvPr/>
        </p:nvSpPr>
        <p:spPr>
          <a:xfrm>
            <a:off x="5394960" y="3886200"/>
            <a:ext cx="1828800" cy="384048"/>
          </a:xfrm>
          <a:prstGeom prst="rect">
            <a:avLst/>
          </a:prstGeom>
          <a:solidFill>
            <a:srgbClr val="1A3A5C"/>
          </a:solidFill>
          <a:ln w="12700">
            <a:solidFill>
              <a:srgbClr val="061329"/>
            </a:solidFill>
            <a:prstDash val="solid"/>
          </a:ln>
        </p:spPr>
      </p:sp>
      <p:sp>
        <p:nvSpPr>
          <p:cNvPr id="73" name="Text 71"/>
          <p:cNvSpPr/>
          <p:nvPr/>
        </p:nvSpPr>
        <p:spPr>
          <a:xfrm>
            <a:off x="5440680" y="3913632"/>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74" name="Shape 72"/>
          <p:cNvSpPr/>
          <p:nvPr/>
        </p:nvSpPr>
        <p:spPr>
          <a:xfrm>
            <a:off x="7269480" y="3886200"/>
            <a:ext cx="1828800" cy="384048"/>
          </a:xfrm>
          <a:prstGeom prst="rect">
            <a:avLst/>
          </a:prstGeom>
          <a:solidFill>
            <a:srgbClr val="1A3A5C"/>
          </a:solidFill>
          <a:ln w="12700">
            <a:solidFill>
              <a:srgbClr val="061329"/>
            </a:solidFill>
            <a:prstDash val="solid"/>
          </a:ln>
        </p:spPr>
      </p:sp>
      <p:sp>
        <p:nvSpPr>
          <p:cNvPr id="75" name="Text 73"/>
          <p:cNvSpPr/>
          <p:nvPr/>
        </p:nvSpPr>
        <p:spPr>
          <a:xfrm>
            <a:off x="7315200" y="3913632"/>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76" name="Shape 74"/>
          <p:cNvSpPr/>
          <p:nvPr/>
        </p:nvSpPr>
        <p:spPr>
          <a:xfrm>
            <a:off x="9144000" y="3886200"/>
            <a:ext cx="1828800" cy="384048"/>
          </a:xfrm>
          <a:prstGeom prst="rect">
            <a:avLst/>
          </a:prstGeom>
          <a:solidFill>
            <a:srgbClr val="1A3A5C"/>
          </a:solidFill>
          <a:ln w="12700">
            <a:solidFill>
              <a:srgbClr val="061329"/>
            </a:solidFill>
            <a:prstDash val="solid"/>
          </a:ln>
        </p:spPr>
      </p:sp>
      <p:sp>
        <p:nvSpPr>
          <p:cNvPr id="77" name="Text 75"/>
          <p:cNvSpPr/>
          <p:nvPr/>
        </p:nvSpPr>
        <p:spPr>
          <a:xfrm>
            <a:off x="9189720" y="3913632"/>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78" name="Shape 76"/>
          <p:cNvSpPr/>
          <p:nvPr/>
        </p:nvSpPr>
        <p:spPr>
          <a:xfrm>
            <a:off x="274320" y="4288536"/>
            <a:ext cx="3200400" cy="384048"/>
          </a:xfrm>
          <a:prstGeom prst="rect">
            <a:avLst/>
          </a:prstGeom>
          <a:solidFill>
            <a:srgbClr val="0A1F3F"/>
          </a:solidFill>
          <a:ln w="12700">
            <a:solidFill>
              <a:srgbClr val="061329"/>
            </a:solidFill>
            <a:prstDash val="solid"/>
          </a:ln>
        </p:spPr>
      </p:sp>
      <p:sp>
        <p:nvSpPr>
          <p:cNvPr id="79" name="Text 77"/>
          <p:cNvSpPr/>
          <p:nvPr/>
        </p:nvSpPr>
        <p:spPr>
          <a:xfrm>
            <a:off x="320040" y="4315968"/>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Multi-Agent Orchestration</a:t>
            </a:r>
            <a:endParaRPr lang="en-US" sz="1000" dirty="0"/>
          </a:p>
        </p:txBody>
      </p:sp>
      <p:sp>
        <p:nvSpPr>
          <p:cNvPr id="80" name="Shape 78"/>
          <p:cNvSpPr/>
          <p:nvPr/>
        </p:nvSpPr>
        <p:spPr>
          <a:xfrm>
            <a:off x="3520440" y="4288536"/>
            <a:ext cx="1828800" cy="384048"/>
          </a:xfrm>
          <a:prstGeom prst="rect">
            <a:avLst/>
          </a:prstGeom>
          <a:solidFill>
            <a:srgbClr val="CC4500"/>
          </a:solidFill>
          <a:ln w="12700">
            <a:solidFill>
              <a:srgbClr val="061329"/>
            </a:solidFill>
            <a:prstDash val="solid"/>
          </a:ln>
        </p:spPr>
      </p:sp>
      <p:sp>
        <p:nvSpPr>
          <p:cNvPr id="81" name="Text 79"/>
          <p:cNvSpPr/>
          <p:nvPr/>
        </p:nvSpPr>
        <p:spPr>
          <a:xfrm>
            <a:off x="3566160" y="4315968"/>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82" name="Shape 80"/>
          <p:cNvSpPr/>
          <p:nvPr/>
        </p:nvSpPr>
        <p:spPr>
          <a:xfrm>
            <a:off x="5394960" y="4288536"/>
            <a:ext cx="1828800" cy="384048"/>
          </a:xfrm>
          <a:prstGeom prst="rect">
            <a:avLst/>
          </a:prstGeom>
          <a:solidFill>
            <a:srgbClr val="0A1F3F"/>
          </a:solidFill>
          <a:ln w="12700">
            <a:solidFill>
              <a:srgbClr val="061329"/>
            </a:solidFill>
            <a:prstDash val="solid"/>
          </a:ln>
        </p:spPr>
      </p:sp>
      <p:sp>
        <p:nvSpPr>
          <p:cNvPr id="83" name="Text 81"/>
          <p:cNvSpPr/>
          <p:nvPr/>
        </p:nvSpPr>
        <p:spPr>
          <a:xfrm>
            <a:off x="5440680" y="4315968"/>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84" name="Shape 82"/>
          <p:cNvSpPr/>
          <p:nvPr/>
        </p:nvSpPr>
        <p:spPr>
          <a:xfrm>
            <a:off x="7269480" y="4288536"/>
            <a:ext cx="1828800" cy="384048"/>
          </a:xfrm>
          <a:prstGeom prst="rect">
            <a:avLst/>
          </a:prstGeom>
          <a:solidFill>
            <a:srgbClr val="0A1F3F"/>
          </a:solidFill>
          <a:ln w="12700">
            <a:solidFill>
              <a:srgbClr val="061329"/>
            </a:solidFill>
            <a:prstDash val="solid"/>
          </a:ln>
        </p:spPr>
      </p:sp>
      <p:sp>
        <p:nvSpPr>
          <p:cNvPr id="85" name="Text 83"/>
          <p:cNvSpPr/>
          <p:nvPr/>
        </p:nvSpPr>
        <p:spPr>
          <a:xfrm>
            <a:off x="7315200" y="4315968"/>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86" name="Shape 84"/>
          <p:cNvSpPr/>
          <p:nvPr/>
        </p:nvSpPr>
        <p:spPr>
          <a:xfrm>
            <a:off x="9144000" y="4288536"/>
            <a:ext cx="1828800" cy="384048"/>
          </a:xfrm>
          <a:prstGeom prst="rect">
            <a:avLst/>
          </a:prstGeom>
          <a:solidFill>
            <a:srgbClr val="0A1F3F"/>
          </a:solidFill>
          <a:ln w="12700">
            <a:solidFill>
              <a:srgbClr val="061329"/>
            </a:solidFill>
            <a:prstDash val="solid"/>
          </a:ln>
        </p:spPr>
      </p:sp>
      <p:sp>
        <p:nvSpPr>
          <p:cNvPr id="87" name="Text 85"/>
          <p:cNvSpPr/>
          <p:nvPr/>
        </p:nvSpPr>
        <p:spPr>
          <a:xfrm>
            <a:off x="9189720" y="4315968"/>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88" name="Shape 86"/>
          <p:cNvSpPr/>
          <p:nvPr/>
        </p:nvSpPr>
        <p:spPr>
          <a:xfrm>
            <a:off x="274320" y="4690872"/>
            <a:ext cx="3200400" cy="384048"/>
          </a:xfrm>
          <a:prstGeom prst="rect">
            <a:avLst/>
          </a:prstGeom>
          <a:solidFill>
            <a:srgbClr val="1A3A5C"/>
          </a:solidFill>
          <a:ln w="12700">
            <a:solidFill>
              <a:srgbClr val="061329"/>
            </a:solidFill>
            <a:prstDash val="solid"/>
          </a:ln>
        </p:spPr>
      </p:sp>
      <p:sp>
        <p:nvSpPr>
          <p:cNvPr id="89" name="Text 87"/>
          <p:cNvSpPr/>
          <p:nvPr/>
        </p:nvSpPr>
        <p:spPr>
          <a:xfrm>
            <a:off x="320040" y="4718304"/>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EV Battery Intelligence</a:t>
            </a:r>
            <a:endParaRPr lang="en-US" sz="1000" dirty="0"/>
          </a:p>
        </p:txBody>
      </p:sp>
      <p:sp>
        <p:nvSpPr>
          <p:cNvPr id="90" name="Shape 88"/>
          <p:cNvSpPr/>
          <p:nvPr/>
        </p:nvSpPr>
        <p:spPr>
          <a:xfrm>
            <a:off x="3520440" y="4690872"/>
            <a:ext cx="1828800" cy="384048"/>
          </a:xfrm>
          <a:prstGeom prst="rect">
            <a:avLst/>
          </a:prstGeom>
          <a:solidFill>
            <a:srgbClr val="CC4500"/>
          </a:solidFill>
          <a:ln w="12700">
            <a:solidFill>
              <a:srgbClr val="061329"/>
            </a:solidFill>
            <a:prstDash val="solid"/>
          </a:ln>
        </p:spPr>
      </p:sp>
      <p:sp>
        <p:nvSpPr>
          <p:cNvPr id="91" name="Text 89"/>
          <p:cNvSpPr/>
          <p:nvPr/>
        </p:nvSpPr>
        <p:spPr>
          <a:xfrm>
            <a:off x="3566160" y="4718304"/>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92" name="Shape 90"/>
          <p:cNvSpPr/>
          <p:nvPr/>
        </p:nvSpPr>
        <p:spPr>
          <a:xfrm>
            <a:off x="5394960" y="4690872"/>
            <a:ext cx="1828800" cy="384048"/>
          </a:xfrm>
          <a:prstGeom prst="rect">
            <a:avLst/>
          </a:prstGeom>
          <a:solidFill>
            <a:srgbClr val="1A3A5C"/>
          </a:solidFill>
          <a:ln w="12700">
            <a:solidFill>
              <a:srgbClr val="061329"/>
            </a:solidFill>
            <a:prstDash val="solid"/>
          </a:ln>
        </p:spPr>
      </p:sp>
      <p:sp>
        <p:nvSpPr>
          <p:cNvPr id="93" name="Text 91"/>
          <p:cNvSpPr/>
          <p:nvPr/>
        </p:nvSpPr>
        <p:spPr>
          <a:xfrm>
            <a:off x="5440680" y="4718304"/>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94" name="Shape 92"/>
          <p:cNvSpPr/>
          <p:nvPr/>
        </p:nvSpPr>
        <p:spPr>
          <a:xfrm>
            <a:off x="7269480" y="4690872"/>
            <a:ext cx="1828800" cy="384048"/>
          </a:xfrm>
          <a:prstGeom prst="rect">
            <a:avLst/>
          </a:prstGeom>
          <a:solidFill>
            <a:srgbClr val="1A3A5C"/>
          </a:solidFill>
          <a:ln w="12700">
            <a:solidFill>
              <a:srgbClr val="061329"/>
            </a:solidFill>
            <a:prstDash val="solid"/>
          </a:ln>
        </p:spPr>
      </p:sp>
      <p:sp>
        <p:nvSpPr>
          <p:cNvPr id="95" name="Text 93"/>
          <p:cNvSpPr/>
          <p:nvPr/>
        </p:nvSpPr>
        <p:spPr>
          <a:xfrm>
            <a:off x="7315200" y="4718304"/>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96" name="Shape 94"/>
          <p:cNvSpPr/>
          <p:nvPr/>
        </p:nvSpPr>
        <p:spPr>
          <a:xfrm>
            <a:off x="9144000" y="4690872"/>
            <a:ext cx="1828800" cy="384048"/>
          </a:xfrm>
          <a:prstGeom prst="rect">
            <a:avLst/>
          </a:prstGeom>
          <a:solidFill>
            <a:srgbClr val="1A3A5C"/>
          </a:solidFill>
          <a:ln w="12700">
            <a:solidFill>
              <a:srgbClr val="061329"/>
            </a:solidFill>
            <a:prstDash val="solid"/>
          </a:ln>
        </p:spPr>
      </p:sp>
      <p:sp>
        <p:nvSpPr>
          <p:cNvPr id="97" name="Text 95"/>
          <p:cNvSpPr/>
          <p:nvPr/>
        </p:nvSpPr>
        <p:spPr>
          <a:xfrm>
            <a:off x="9189720" y="4718304"/>
            <a:ext cx="1737360" cy="329184"/>
          </a:xfrm>
          <a:prstGeom prst="rect">
            <a:avLst/>
          </a:prstGeom>
          <a:noFill/>
          <a:ln/>
        </p:spPr>
        <p:txBody>
          <a:bodyPr wrap="square" lIns="0" tIns="0" rIns="0" bIns="0" rtlCol="0" anchor="ctr"/>
          <a:lstStyle/>
          <a:p>
            <a:pPr algn="ctr" indent="0" marL="0">
              <a:buNone/>
            </a:pPr>
            <a:r>
              <a:rPr lang="en-US" sz="1400" dirty="0">
                <a:solidFill>
                  <a:srgbClr val="FF3B5C"/>
                </a:solidFill>
                <a:latin typeface="Arial" pitchFamily="34" charset="0"/>
                <a:ea typeface="Arial" pitchFamily="34" charset="-122"/>
                <a:cs typeface="Arial" pitchFamily="34" charset="-120"/>
              </a:rPr>
              <a:t>❌</a:t>
            </a:r>
            <a:endParaRPr lang="en-US" sz="1400" dirty="0"/>
          </a:p>
        </p:txBody>
      </p:sp>
      <p:sp>
        <p:nvSpPr>
          <p:cNvPr id="98" name="Shape 96"/>
          <p:cNvSpPr/>
          <p:nvPr/>
        </p:nvSpPr>
        <p:spPr>
          <a:xfrm>
            <a:off x="274320" y="5093208"/>
            <a:ext cx="3200400" cy="384048"/>
          </a:xfrm>
          <a:prstGeom prst="rect">
            <a:avLst/>
          </a:prstGeom>
          <a:solidFill>
            <a:srgbClr val="0A1F3F"/>
          </a:solidFill>
          <a:ln w="12700">
            <a:solidFill>
              <a:srgbClr val="061329"/>
            </a:solidFill>
            <a:prstDash val="solid"/>
          </a:ln>
        </p:spPr>
      </p:sp>
      <p:sp>
        <p:nvSpPr>
          <p:cNvPr id="99" name="Text 97"/>
          <p:cNvSpPr/>
          <p:nvPr/>
        </p:nvSpPr>
        <p:spPr>
          <a:xfrm>
            <a:off x="320040" y="5120640"/>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Deployment Time</a:t>
            </a:r>
            <a:endParaRPr lang="en-US" sz="1000" dirty="0"/>
          </a:p>
        </p:txBody>
      </p:sp>
      <p:sp>
        <p:nvSpPr>
          <p:cNvPr id="100" name="Shape 98"/>
          <p:cNvSpPr/>
          <p:nvPr/>
        </p:nvSpPr>
        <p:spPr>
          <a:xfrm>
            <a:off x="3520440" y="5093208"/>
            <a:ext cx="1828800" cy="384048"/>
          </a:xfrm>
          <a:prstGeom prst="rect">
            <a:avLst/>
          </a:prstGeom>
          <a:solidFill>
            <a:srgbClr val="CC4500"/>
          </a:solidFill>
          <a:ln w="12700">
            <a:solidFill>
              <a:srgbClr val="061329"/>
            </a:solidFill>
            <a:prstDash val="solid"/>
          </a:ln>
        </p:spPr>
      </p:sp>
      <p:sp>
        <p:nvSpPr>
          <p:cNvPr id="101" name="Text 99"/>
          <p:cNvSpPr/>
          <p:nvPr/>
        </p:nvSpPr>
        <p:spPr>
          <a:xfrm>
            <a:off x="3566160" y="5120640"/>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&lt;1 Hour</a:t>
            </a:r>
            <a:endParaRPr lang="en-US" sz="1400" dirty="0"/>
          </a:p>
        </p:txBody>
      </p:sp>
      <p:sp>
        <p:nvSpPr>
          <p:cNvPr id="102" name="Shape 100"/>
          <p:cNvSpPr/>
          <p:nvPr/>
        </p:nvSpPr>
        <p:spPr>
          <a:xfrm>
            <a:off x="5394960" y="5093208"/>
            <a:ext cx="1828800" cy="384048"/>
          </a:xfrm>
          <a:prstGeom prst="rect">
            <a:avLst/>
          </a:prstGeom>
          <a:solidFill>
            <a:srgbClr val="0A1F3F"/>
          </a:solidFill>
          <a:ln w="12700">
            <a:solidFill>
              <a:srgbClr val="061329"/>
            </a:solidFill>
            <a:prstDash val="solid"/>
          </a:ln>
        </p:spPr>
      </p:sp>
      <p:sp>
        <p:nvSpPr>
          <p:cNvPr id="103" name="Text 101"/>
          <p:cNvSpPr/>
          <p:nvPr/>
        </p:nvSpPr>
        <p:spPr>
          <a:xfrm>
            <a:off x="5440680" y="5120640"/>
            <a:ext cx="1737360" cy="329184"/>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3–6 Months</a:t>
            </a:r>
            <a:endParaRPr lang="en-US" sz="1400" dirty="0"/>
          </a:p>
        </p:txBody>
      </p:sp>
      <p:sp>
        <p:nvSpPr>
          <p:cNvPr id="104" name="Shape 102"/>
          <p:cNvSpPr/>
          <p:nvPr/>
        </p:nvSpPr>
        <p:spPr>
          <a:xfrm>
            <a:off x="7269480" y="5093208"/>
            <a:ext cx="1828800" cy="384048"/>
          </a:xfrm>
          <a:prstGeom prst="rect">
            <a:avLst/>
          </a:prstGeom>
          <a:solidFill>
            <a:srgbClr val="0A1F3F"/>
          </a:solidFill>
          <a:ln w="12700">
            <a:solidFill>
              <a:srgbClr val="061329"/>
            </a:solidFill>
            <a:prstDash val="solid"/>
          </a:ln>
        </p:spPr>
      </p:sp>
      <p:sp>
        <p:nvSpPr>
          <p:cNvPr id="105" name="Text 103"/>
          <p:cNvSpPr/>
          <p:nvPr/>
        </p:nvSpPr>
        <p:spPr>
          <a:xfrm>
            <a:off x="7315200" y="5120640"/>
            <a:ext cx="1737360" cy="329184"/>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6–12 Months</a:t>
            </a:r>
            <a:endParaRPr lang="en-US" sz="1400" dirty="0"/>
          </a:p>
        </p:txBody>
      </p:sp>
      <p:sp>
        <p:nvSpPr>
          <p:cNvPr id="106" name="Shape 104"/>
          <p:cNvSpPr/>
          <p:nvPr/>
        </p:nvSpPr>
        <p:spPr>
          <a:xfrm>
            <a:off x="9144000" y="5093208"/>
            <a:ext cx="1828800" cy="384048"/>
          </a:xfrm>
          <a:prstGeom prst="rect">
            <a:avLst/>
          </a:prstGeom>
          <a:solidFill>
            <a:srgbClr val="0A1F3F"/>
          </a:solidFill>
          <a:ln w="12700">
            <a:solidFill>
              <a:srgbClr val="061329"/>
            </a:solidFill>
            <a:prstDash val="solid"/>
          </a:ln>
        </p:spPr>
      </p:sp>
      <p:sp>
        <p:nvSpPr>
          <p:cNvPr id="107" name="Text 105"/>
          <p:cNvSpPr/>
          <p:nvPr/>
        </p:nvSpPr>
        <p:spPr>
          <a:xfrm>
            <a:off x="9189720" y="5120640"/>
            <a:ext cx="1737360" cy="329184"/>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1–3 Months</a:t>
            </a:r>
            <a:endParaRPr lang="en-US" sz="1400" dirty="0"/>
          </a:p>
        </p:txBody>
      </p:sp>
      <p:sp>
        <p:nvSpPr>
          <p:cNvPr id="108" name="Shape 106"/>
          <p:cNvSpPr/>
          <p:nvPr/>
        </p:nvSpPr>
        <p:spPr>
          <a:xfrm>
            <a:off x="274320" y="5495544"/>
            <a:ext cx="3200400" cy="384048"/>
          </a:xfrm>
          <a:prstGeom prst="rect">
            <a:avLst/>
          </a:prstGeom>
          <a:solidFill>
            <a:srgbClr val="1A3A5C"/>
          </a:solidFill>
          <a:ln w="12700">
            <a:solidFill>
              <a:srgbClr val="061329"/>
            </a:solidFill>
            <a:prstDash val="solid"/>
          </a:ln>
        </p:spPr>
      </p:sp>
      <p:sp>
        <p:nvSpPr>
          <p:cNvPr id="109" name="Text 107"/>
          <p:cNvSpPr/>
          <p:nvPr/>
        </p:nvSpPr>
        <p:spPr>
          <a:xfrm>
            <a:off x="320040" y="5522976"/>
            <a:ext cx="3108960" cy="329184"/>
          </a:xfrm>
          <a:prstGeom prst="rect">
            <a:avLst/>
          </a:prstGeom>
          <a:noFill/>
          <a:ln/>
        </p:spPr>
        <p:txBody>
          <a:bodyPr wrap="square" lIns="0" tIns="0" rIns="0" bIns="0" rtlCol="0" anchor="ctr"/>
          <a:lstStyle/>
          <a:p>
            <a:pPr algn="ctr" indent="0" marL="0">
              <a:buNone/>
            </a:pPr>
            <a:r>
              <a:rPr lang="en-US" sz="1000" dirty="0">
                <a:solidFill>
                  <a:srgbClr val="8899BB"/>
                </a:solidFill>
                <a:latin typeface="Arial" pitchFamily="34" charset="0"/>
                <a:ea typeface="Arial" pitchFamily="34" charset="-122"/>
                <a:cs typeface="Arial" pitchFamily="34" charset="-120"/>
              </a:rPr>
              <a:t>Requires IT Team?</a:t>
            </a:r>
            <a:endParaRPr lang="en-US" sz="1000" dirty="0"/>
          </a:p>
        </p:txBody>
      </p:sp>
      <p:sp>
        <p:nvSpPr>
          <p:cNvPr id="110" name="Shape 108"/>
          <p:cNvSpPr/>
          <p:nvPr/>
        </p:nvSpPr>
        <p:spPr>
          <a:xfrm>
            <a:off x="3520440" y="5495544"/>
            <a:ext cx="1828800" cy="384048"/>
          </a:xfrm>
          <a:prstGeom prst="rect">
            <a:avLst/>
          </a:prstGeom>
          <a:solidFill>
            <a:srgbClr val="CC4500"/>
          </a:solidFill>
          <a:ln w="12700">
            <a:solidFill>
              <a:srgbClr val="061329"/>
            </a:solidFill>
            <a:prstDash val="solid"/>
          </a:ln>
        </p:spPr>
      </p:sp>
      <p:sp>
        <p:nvSpPr>
          <p:cNvPr id="111" name="Text 109"/>
          <p:cNvSpPr/>
          <p:nvPr/>
        </p:nvSpPr>
        <p:spPr>
          <a:xfrm>
            <a:off x="3566160" y="5522976"/>
            <a:ext cx="17373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No</a:t>
            </a:r>
            <a:endParaRPr lang="en-US" sz="1400" dirty="0"/>
          </a:p>
        </p:txBody>
      </p:sp>
      <p:sp>
        <p:nvSpPr>
          <p:cNvPr id="112" name="Shape 110"/>
          <p:cNvSpPr/>
          <p:nvPr/>
        </p:nvSpPr>
        <p:spPr>
          <a:xfrm>
            <a:off x="5394960" y="5495544"/>
            <a:ext cx="1828800" cy="384048"/>
          </a:xfrm>
          <a:prstGeom prst="rect">
            <a:avLst/>
          </a:prstGeom>
          <a:solidFill>
            <a:srgbClr val="1A3A5C"/>
          </a:solidFill>
          <a:ln w="12700">
            <a:solidFill>
              <a:srgbClr val="061329"/>
            </a:solidFill>
            <a:prstDash val="solid"/>
          </a:ln>
        </p:spPr>
      </p:sp>
      <p:sp>
        <p:nvSpPr>
          <p:cNvPr id="113" name="Text 111"/>
          <p:cNvSpPr/>
          <p:nvPr/>
        </p:nvSpPr>
        <p:spPr>
          <a:xfrm>
            <a:off x="5440680" y="5522976"/>
            <a:ext cx="1737360" cy="329184"/>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Yes</a:t>
            </a:r>
            <a:endParaRPr lang="en-US" sz="1400" dirty="0"/>
          </a:p>
        </p:txBody>
      </p:sp>
      <p:sp>
        <p:nvSpPr>
          <p:cNvPr id="114" name="Shape 112"/>
          <p:cNvSpPr/>
          <p:nvPr/>
        </p:nvSpPr>
        <p:spPr>
          <a:xfrm>
            <a:off x="7269480" y="5495544"/>
            <a:ext cx="1828800" cy="384048"/>
          </a:xfrm>
          <a:prstGeom prst="rect">
            <a:avLst/>
          </a:prstGeom>
          <a:solidFill>
            <a:srgbClr val="1A3A5C"/>
          </a:solidFill>
          <a:ln w="12700">
            <a:solidFill>
              <a:srgbClr val="061329"/>
            </a:solidFill>
            <a:prstDash val="solid"/>
          </a:ln>
        </p:spPr>
      </p:sp>
      <p:sp>
        <p:nvSpPr>
          <p:cNvPr id="115" name="Text 113"/>
          <p:cNvSpPr/>
          <p:nvPr/>
        </p:nvSpPr>
        <p:spPr>
          <a:xfrm>
            <a:off x="7315200" y="5522976"/>
            <a:ext cx="1737360" cy="329184"/>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Yes</a:t>
            </a:r>
            <a:endParaRPr lang="en-US" sz="1400" dirty="0"/>
          </a:p>
        </p:txBody>
      </p:sp>
      <p:sp>
        <p:nvSpPr>
          <p:cNvPr id="116" name="Shape 114"/>
          <p:cNvSpPr/>
          <p:nvPr/>
        </p:nvSpPr>
        <p:spPr>
          <a:xfrm>
            <a:off x="9144000" y="5495544"/>
            <a:ext cx="1828800" cy="384048"/>
          </a:xfrm>
          <a:prstGeom prst="rect">
            <a:avLst/>
          </a:prstGeom>
          <a:solidFill>
            <a:srgbClr val="1A3A5C"/>
          </a:solidFill>
          <a:ln w="12700">
            <a:solidFill>
              <a:srgbClr val="061329"/>
            </a:solidFill>
            <a:prstDash val="solid"/>
          </a:ln>
        </p:spPr>
      </p:sp>
      <p:sp>
        <p:nvSpPr>
          <p:cNvPr id="117" name="Text 115"/>
          <p:cNvSpPr/>
          <p:nvPr/>
        </p:nvSpPr>
        <p:spPr>
          <a:xfrm>
            <a:off x="9189720" y="5522976"/>
            <a:ext cx="1737360" cy="329184"/>
          </a:xfrm>
          <a:prstGeom prst="rect">
            <a:avLst/>
          </a:prstGeom>
          <a:noFill/>
          <a:ln/>
        </p:spPr>
        <p:txBody>
          <a:bodyPr wrap="square" lIns="0" tIns="0" rIns="0" bIns="0" rtlCol="0" anchor="ctr"/>
          <a:lstStyle/>
          <a:p>
            <a:pPr algn="ctr" indent="0" marL="0">
              <a:buNone/>
            </a:pPr>
            <a:r>
              <a:rPr lang="en-US" sz="1400" dirty="0">
                <a:solidFill>
                  <a:srgbClr val="8899BB"/>
                </a:solidFill>
                <a:latin typeface="Arial" pitchFamily="34" charset="0"/>
                <a:ea typeface="Arial" pitchFamily="34" charset="-122"/>
                <a:cs typeface="Arial" pitchFamily="34" charset="-120"/>
              </a:rPr>
              <a:t>Yes</a:t>
            </a:r>
            <a:endParaRPr lang="en-US" sz="1400" dirty="0"/>
          </a:p>
        </p:txBody>
      </p:sp>
      <p:sp>
        <p:nvSpPr>
          <p:cNvPr id="118" name="Shape 116"/>
          <p:cNvSpPr/>
          <p:nvPr/>
        </p:nvSpPr>
        <p:spPr>
          <a:xfrm>
            <a:off x="274320" y="5943600"/>
            <a:ext cx="11612880" cy="731520"/>
          </a:xfrm>
          <a:prstGeom prst="rect">
            <a:avLst/>
          </a:prstGeom>
          <a:solidFill>
            <a:srgbClr val="0A1F3F"/>
          </a:solidFill>
          <a:ln w="12700">
            <a:solidFill>
              <a:srgbClr val="CC4500"/>
            </a:solidFill>
            <a:prstDash val="solid"/>
          </a:ln>
        </p:spPr>
      </p:sp>
      <p:sp>
        <p:nvSpPr>
          <p:cNvPr id="119" name="Text 117"/>
          <p:cNvSpPr/>
          <p:nvPr/>
        </p:nvSpPr>
        <p:spPr>
          <a:xfrm>
            <a:off x="457200" y="6016752"/>
            <a:ext cx="1371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THE MOAT:</a:t>
            </a:r>
            <a:endParaRPr lang="en-US" sz="900" dirty="0"/>
          </a:p>
        </p:txBody>
      </p:sp>
      <p:sp>
        <p:nvSpPr>
          <p:cNvPr id="120" name="Text 118"/>
          <p:cNvSpPr/>
          <p:nvPr/>
        </p:nvSpPr>
        <p:spPr>
          <a:xfrm>
            <a:off x="1828800" y="6016752"/>
            <a:ext cx="9875520" cy="59436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Tamil language AI (3 years to build) + WhatsApp-first architecture (zero switching cost for dealers) + Dealer data flywheel (more dealers = better AI = more dealers) = Structural advantage no global competitor can replicate in 18 months.</a:t>
            </a:r>
            <a:endParaRPr lang="en-US" sz="1000" dirty="0"/>
          </a:p>
        </p:txBody>
      </p:sp>
      <p:sp>
        <p:nvSpPr>
          <p:cNvPr id="121" name="Shape 119"/>
          <p:cNvSpPr/>
          <p:nvPr/>
        </p:nvSpPr>
        <p:spPr>
          <a:xfrm>
            <a:off x="0" y="6565392"/>
            <a:ext cx="12188952" cy="18288"/>
          </a:xfrm>
          <a:prstGeom prst="rect">
            <a:avLst/>
          </a:prstGeom>
          <a:solidFill>
            <a:srgbClr val="1A3A5C"/>
          </a:solidFill>
          <a:ln w="12700">
            <a:solidFill>
              <a:srgbClr val="1A3A5C"/>
            </a:solidFill>
            <a:prstDash val="solid"/>
          </a:ln>
        </p:spPr>
      </p:sp>
      <p:sp>
        <p:nvSpPr>
          <p:cNvPr id="122" name="Text 120"/>
          <p:cNvSpPr/>
          <p:nvPr/>
        </p:nvSpPr>
        <p:spPr>
          <a:xfrm>
            <a:off x="274320" y="6583680"/>
            <a:ext cx="9144000" cy="228600"/>
          </a:xfrm>
          <a:prstGeom prst="rect">
            <a:avLst/>
          </a:prstGeom>
          <a:noFill/>
          <a:ln/>
        </p:spPr>
        <p:txBody>
          <a:bodyPr wrap="square" lIns="0" tIns="0" rIns="0" bIns="0" rtlCol="0" anchor="ctr"/>
          <a:lstStyle/>
          <a:p>
            <a:pPr indent="0" marL="0">
              <a:buNone/>
            </a:pPr>
            <a:r>
              <a:rPr lang="en-US" sz="800" dirty="0">
                <a:solidFill>
                  <a:srgbClr val="1A3A5C"/>
                </a:solidFill>
                <a:latin typeface="Arial" pitchFamily="34" charset="0"/>
                <a:ea typeface="Arial" pitchFamily="34" charset="-122"/>
                <a:cs typeface="Arial" pitchFamily="34" charset="-120"/>
              </a:rPr>
              <a:t>AutoEra AI Solutions Pvt. Ltd.  |  Chennai, Tamil Nadu  |  UDYAM-TN-24-0162449  |  CONFIDENTIAL</a:t>
            </a:r>
            <a:endParaRPr lang="en-US" sz="800" dirty="0"/>
          </a:p>
        </p:txBody>
      </p:sp>
      <p:sp>
        <p:nvSpPr>
          <p:cNvPr id="123" name="Text 121"/>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7/10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GO-TO-MARKET STRATEGY</a:t>
            </a:r>
            <a:endParaRPr lang="en-US" sz="900" dirty="0"/>
          </a:p>
        </p:txBody>
      </p:sp>
      <p:sp>
        <p:nvSpPr>
          <p:cNvPr id="6" name="Text 4"/>
          <p:cNvSpPr/>
          <p:nvPr/>
        </p:nvSpPr>
        <p:spPr>
          <a:xfrm>
            <a:off x="274320" y="685800"/>
            <a:ext cx="9144000" cy="59436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Chennai Cluster → Tamil Nadu → India → Global</a:t>
            </a:r>
            <a:endParaRPr lang="en-US" sz="2400" dirty="0"/>
          </a:p>
        </p:txBody>
      </p:sp>
      <p:sp>
        <p:nvSpPr>
          <p:cNvPr id="7" name="Shape 5"/>
          <p:cNvSpPr/>
          <p:nvPr/>
        </p:nvSpPr>
        <p:spPr>
          <a:xfrm>
            <a:off x="274320" y="1261872"/>
            <a:ext cx="1828800" cy="36576"/>
          </a:xfrm>
          <a:prstGeom prst="rect">
            <a:avLst/>
          </a:prstGeom>
          <a:solidFill>
            <a:srgbClr val="CC4500"/>
          </a:solidFill>
          <a:ln w="12700">
            <a:solidFill>
              <a:srgbClr val="CC4500"/>
            </a:solidFill>
            <a:prstDash val="solid"/>
          </a:ln>
        </p:spPr>
      </p:sp>
      <p:sp>
        <p:nvSpPr>
          <p:cNvPr id="8" name="Shape 6"/>
          <p:cNvSpPr/>
          <p:nvPr/>
        </p:nvSpPr>
        <p:spPr>
          <a:xfrm>
            <a:off x="228600" y="1463040"/>
            <a:ext cx="2834640" cy="3291840"/>
          </a:xfrm>
          <a:prstGeom prst="rect">
            <a:avLst/>
          </a:prstGeom>
          <a:solidFill>
            <a:srgbClr val="CC4500"/>
          </a:solidFill>
          <a:ln w="12700">
            <a:solidFill>
              <a:srgbClr val="CC4500"/>
            </a:solidFill>
            <a:prstDash val="solid"/>
          </a:ln>
        </p:spPr>
      </p:sp>
      <p:sp>
        <p:nvSpPr>
          <p:cNvPr id="9" name="Text 7"/>
          <p:cNvSpPr/>
          <p:nvPr/>
        </p:nvSpPr>
        <p:spPr>
          <a:xfrm>
            <a:off x="365760" y="1572768"/>
            <a:ext cx="2560320" cy="502920"/>
          </a:xfrm>
          <a:prstGeom prst="rect">
            <a:avLst/>
          </a:prstGeom>
          <a:noFill/>
          <a:ln/>
        </p:spPr>
        <p:txBody>
          <a:bodyPr wrap="square" lIns="0" tIns="0" rIns="0" bIns="0" rtlCol="0" anchor="ctr"/>
          <a:lstStyle/>
          <a:p>
            <a:pPr indent="0" marL="0">
              <a:buNone/>
            </a:pPr>
            <a:r>
              <a:rPr lang="en-US" sz="1000" b="1" dirty="0">
                <a:solidFill>
                  <a:srgbClr val="FFDDCC"/>
                </a:solidFill>
                <a:latin typeface="Arial" pitchFamily="34" charset="0"/>
                <a:ea typeface="Arial" pitchFamily="34" charset="-122"/>
                <a:cs typeface="Arial" pitchFamily="34" charset="-120"/>
              </a:rPr>
              <a:t>Phase 1</a:t>
            </a:r>
            <a:endParaRPr lang="en-US" sz="1000" dirty="0"/>
          </a:p>
          <a:p>
            <a:pPr indent="0" marL="0">
              <a:buNone/>
            </a:pPr>
            <a:r>
              <a:rPr lang="en-US" sz="1000" b="1" dirty="0">
                <a:solidFill>
                  <a:srgbClr val="FFDDCC"/>
                </a:solidFill>
                <a:latin typeface="Arial" pitchFamily="34" charset="0"/>
                <a:ea typeface="Arial" pitchFamily="34" charset="-122"/>
                <a:cs typeface="Arial" pitchFamily="34" charset="-120"/>
              </a:rPr>
              <a:t>M1–M6</a:t>
            </a:r>
            <a:endParaRPr lang="en-US" sz="1000" dirty="0"/>
          </a:p>
        </p:txBody>
      </p:sp>
      <p:sp>
        <p:nvSpPr>
          <p:cNvPr id="10" name="Text 8"/>
          <p:cNvSpPr/>
          <p:nvPr/>
        </p:nvSpPr>
        <p:spPr>
          <a:xfrm>
            <a:off x="365760" y="2029968"/>
            <a:ext cx="2560320" cy="43891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Chennai Cluster</a:t>
            </a:r>
            <a:endParaRPr lang="en-US" sz="1600" dirty="0"/>
          </a:p>
        </p:txBody>
      </p:sp>
      <p:sp>
        <p:nvSpPr>
          <p:cNvPr id="11" name="Shape 9"/>
          <p:cNvSpPr/>
          <p:nvPr/>
        </p:nvSpPr>
        <p:spPr>
          <a:xfrm>
            <a:off x="365760" y="2487168"/>
            <a:ext cx="2286000" cy="0"/>
          </a:xfrm>
          <a:prstGeom prst="line">
            <a:avLst/>
          </a:prstGeom>
          <a:noFill/>
          <a:ln w="12700">
            <a:solidFill>
              <a:srgbClr val="FFFFFF">
                <a:alpha val="50000"/>
              </a:srgbClr>
            </a:solidFill>
            <a:prstDash val="solid"/>
          </a:ln>
        </p:spPr>
      </p:sp>
      <p:sp>
        <p:nvSpPr>
          <p:cNvPr id="12" name="Text 10"/>
          <p:cNvSpPr/>
          <p:nvPr/>
        </p:nvSpPr>
        <p:spPr>
          <a:xfrm>
            <a:off x="365760" y="2578608"/>
            <a:ext cx="2560320" cy="82296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Anna Nagar · T. Nagar</a:t>
            </a:r>
            <a:endParaRPr lang="en-US" sz="1000" dirty="0"/>
          </a:p>
          <a:p>
            <a:pPr indent="0" marL="0">
              <a:buNone/>
            </a:pPr>
            <a:r>
              <a:rPr lang="en-US" sz="1000" dirty="0">
                <a:solidFill>
                  <a:srgbClr val="FFDDCC"/>
                </a:solidFill>
                <a:latin typeface="Arial" pitchFamily="34" charset="0"/>
                <a:ea typeface="Arial" pitchFamily="34" charset="-122"/>
                <a:cs typeface="Arial" pitchFamily="34" charset="-120"/>
              </a:rPr>
              <a:t>Porur · Valasaravakkam · OMR</a:t>
            </a:r>
            <a:endParaRPr lang="en-US" sz="1000" dirty="0"/>
          </a:p>
          <a:p>
            <a:pPr indent="0" marL="0">
              <a:buNone/>
            </a:pPr>
            <a:r>
              <a:rPr lang="en-US" sz="1000" dirty="0">
                <a:solidFill>
                  <a:srgbClr val="FFDDCC"/>
                </a:solidFill>
                <a:latin typeface="Arial" pitchFamily="34" charset="0"/>
                <a:ea typeface="Arial" pitchFamily="34" charset="-122"/>
                <a:cs typeface="Arial" pitchFamily="34" charset="-120"/>
              </a:rPr>
              <a:t>50 dealers in 10km radius</a:t>
            </a:r>
            <a:endParaRPr lang="en-US" sz="1000" dirty="0"/>
          </a:p>
        </p:txBody>
      </p:sp>
      <p:sp>
        <p:nvSpPr>
          <p:cNvPr id="13" name="Shape 11"/>
          <p:cNvSpPr/>
          <p:nvPr/>
        </p:nvSpPr>
        <p:spPr>
          <a:xfrm>
            <a:off x="365760" y="3474720"/>
            <a:ext cx="2560320" cy="1097280"/>
          </a:xfrm>
          <a:prstGeom prst="rect">
            <a:avLst/>
          </a:prstGeom>
          <a:solidFill>
            <a:srgbClr val="040D1E"/>
          </a:solidFill>
          <a:ln w="12700">
            <a:solidFill>
              <a:srgbClr val="040D1E"/>
            </a:solidFill>
            <a:prstDash val="solid"/>
          </a:ln>
        </p:spPr>
      </p:sp>
      <p:sp>
        <p:nvSpPr>
          <p:cNvPr id="14" name="Text 12"/>
          <p:cNvSpPr/>
          <p:nvPr/>
        </p:nvSpPr>
        <p:spPr>
          <a:xfrm>
            <a:off x="365760" y="3547872"/>
            <a:ext cx="2560320" cy="960120"/>
          </a:xfrm>
          <a:prstGeom prst="rect">
            <a:avLst/>
          </a:prstGeom>
          <a:noFill/>
          <a:ln/>
        </p:spPr>
        <p:txBody>
          <a:bodyPr wrap="square" lIns="0" tIns="0" rIns="0" bIns="0" rtlCol="0" anchor="ctr"/>
          <a:lstStyle/>
          <a:p>
            <a:pPr algn="ctr" indent="0" marL="0">
              <a:buNone/>
            </a:pPr>
            <a:r>
              <a:rPr lang="en-US" sz="1600" b="1" dirty="0">
                <a:solidFill>
                  <a:srgbClr val="CC4500"/>
                </a:solidFill>
                <a:latin typeface="Arial" pitchFamily="34" charset="0"/>
                <a:ea typeface="Arial" pitchFamily="34" charset="-122"/>
                <a:cs typeface="Arial" pitchFamily="34" charset="-120"/>
              </a:rPr>
              <a:t>50 dealers</a:t>
            </a:r>
            <a:endParaRPr lang="en-US" sz="1600" dirty="0"/>
          </a:p>
          <a:p>
            <a:pPr algn="ctr" indent="0" marL="0">
              <a:buNone/>
            </a:pPr>
            <a:r>
              <a:rPr lang="en-US" sz="1600" b="1" dirty="0">
                <a:solidFill>
                  <a:srgbClr val="CC4500"/>
                </a:solidFill>
                <a:latin typeface="Arial" pitchFamily="34" charset="0"/>
                <a:ea typeface="Arial" pitchFamily="34" charset="-122"/>
                <a:cs typeface="Arial" pitchFamily="34" charset="-120"/>
              </a:rPr>
              <a:t>₹10L MRR</a:t>
            </a:r>
            <a:endParaRPr lang="en-US" sz="1600" dirty="0"/>
          </a:p>
        </p:txBody>
      </p:sp>
      <p:sp>
        <p:nvSpPr>
          <p:cNvPr id="15" name="Shape 13"/>
          <p:cNvSpPr/>
          <p:nvPr/>
        </p:nvSpPr>
        <p:spPr>
          <a:xfrm>
            <a:off x="3081528" y="2788920"/>
            <a:ext cx="109728" cy="365760"/>
          </a:xfrm>
          <a:prstGeom prst="rect">
            <a:avLst/>
          </a:prstGeom>
          <a:solidFill>
            <a:srgbClr val="CC4500"/>
          </a:solidFill>
          <a:ln w="12700">
            <a:solidFill>
              <a:srgbClr val="CC4500"/>
            </a:solidFill>
            <a:prstDash val="solid"/>
          </a:ln>
        </p:spPr>
      </p:sp>
      <p:sp>
        <p:nvSpPr>
          <p:cNvPr id="16" name="Shape 14"/>
          <p:cNvSpPr/>
          <p:nvPr/>
        </p:nvSpPr>
        <p:spPr>
          <a:xfrm>
            <a:off x="3218688" y="1463040"/>
            <a:ext cx="2834640" cy="3291840"/>
          </a:xfrm>
          <a:prstGeom prst="rect">
            <a:avLst/>
          </a:prstGeom>
          <a:solidFill>
            <a:srgbClr val="FF6B2B"/>
          </a:solidFill>
          <a:ln w="12700">
            <a:solidFill>
              <a:srgbClr val="FF6B2B"/>
            </a:solidFill>
            <a:prstDash val="solid"/>
          </a:ln>
        </p:spPr>
      </p:sp>
      <p:sp>
        <p:nvSpPr>
          <p:cNvPr id="17" name="Text 15"/>
          <p:cNvSpPr/>
          <p:nvPr/>
        </p:nvSpPr>
        <p:spPr>
          <a:xfrm>
            <a:off x="3355848" y="1572768"/>
            <a:ext cx="2560320" cy="502920"/>
          </a:xfrm>
          <a:prstGeom prst="rect">
            <a:avLst/>
          </a:prstGeom>
          <a:noFill/>
          <a:ln/>
        </p:spPr>
        <p:txBody>
          <a:bodyPr wrap="square" lIns="0" tIns="0" rIns="0" bIns="0" rtlCol="0" anchor="ctr"/>
          <a:lstStyle/>
          <a:p>
            <a:pPr indent="0" marL="0">
              <a:buNone/>
            </a:pPr>
            <a:r>
              <a:rPr lang="en-US" sz="1000" b="1" dirty="0">
                <a:solidFill>
                  <a:srgbClr val="FFDDCC"/>
                </a:solidFill>
                <a:latin typeface="Arial" pitchFamily="34" charset="0"/>
                <a:ea typeface="Arial" pitchFamily="34" charset="-122"/>
                <a:cs typeface="Arial" pitchFamily="34" charset="-120"/>
              </a:rPr>
              <a:t>Phase 2</a:t>
            </a:r>
            <a:endParaRPr lang="en-US" sz="1000" dirty="0"/>
          </a:p>
          <a:p>
            <a:pPr indent="0" marL="0">
              <a:buNone/>
            </a:pPr>
            <a:r>
              <a:rPr lang="en-US" sz="1000" b="1" dirty="0">
                <a:solidFill>
                  <a:srgbClr val="FFDDCC"/>
                </a:solidFill>
                <a:latin typeface="Arial" pitchFamily="34" charset="0"/>
                <a:ea typeface="Arial" pitchFamily="34" charset="-122"/>
                <a:cs typeface="Arial" pitchFamily="34" charset="-120"/>
              </a:rPr>
              <a:t>M7–M18</a:t>
            </a:r>
            <a:endParaRPr lang="en-US" sz="1000" dirty="0"/>
          </a:p>
        </p:txBody>
      </p:sp>
      <p:sp>
        <p:nvSpPr>
          <p:cNvPr id="18" name="Text 16"/>
          <p:cNvSpPr/>
          <p:nvPr/>
        </p:nvSpPr>
        <p:spPr>
          <a:xfrm>
            <a:off x="3355848" y="2029968"/>
            <a:ext cx="2560320" cy="43891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Tamil Nadu</a:t>
            </a:r>
            <a:endParaRPr lang="en-US" sz="1600" dirty="0"/>
          </a:p>
        </p:txBody>
      </p:sp>
      <p:sp>
        <p:nvSpPr>
          <p:cNvPr id="19" name="Shape 17"/>
          <p:cNvSpPr/>
          <p:nvPr/>
        </p:nvSpPr>
        <p:spPr>
          <a:xfrm>
            <a:off x="3355848" y="2487168"/>
            <a:ext cx="2286000" cy="0"/>
          </a:xfrm>
          <a:prstGeom prst="line">
            <a:avLst/>
          </a:prstGeom>
          <a:noFill/>
          <a:ln w="12700">
            <a:solidFill>
              <a:srgbClr val="FFFFFF">
                <a:alpha val="50000"/>
              </a:srgbClr>
            </a:solidFill>
            <a:prstDash val="solid"/>
          </a:ln>
        </p:spPr>
      </p:sp>
      <p:sp>
        <p:nvSpPr>
          <p:cNvPr id="20" name="Text 18"/>
          <p:cNvSpPr/>
          <p:nvPr/>
        </p:nvSpPr>
        <p:spPr>
          <a:xfrm>
            <a:off x="3355848" y="2578608"/>
            <a:ext cx="2560320" cy="82296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Coimbatore · Madurai</a:t>
            </a:r>
            <a:endParaRPr lang="en-US" sz="1000" dirty="0"/>
          </a:p>
          <a:p>
            <a:pPr indent="0" marL="0">
              <a:buNone/>
            </a:pPr>
            <a:r>
              <a:rPr lang="en-US" sz="1000" dirty="0">
                <a:solidFill>
                  <a:srgbClr val="FFDDCC"/>
                </a:solidFill>
                <a:latin typeface="Arial" pitchFamily="34" charset="0"/>
                <a:ea typeface="Arial" pitchFamily="34" charset="-122"/>
                <a:cs typeface="Arial" pitchFamily="34" charset="-120"/>
              </a:rPr>
              <a:t>Trichy · Salem · Vellore</a:t>
            </a:r>
            <a:endParaRPr lang="en-US" sz="1000" dirty="0"/>
          </a:p>
          <a:p>
            <a:pPr indent="0" marL="0">
              <a:buNone/>
            </a:pPr>
            <a:r>
              <a:rPr lang="en-US" sz="1000" dirty="0">
                <a:solidFill>
                  <a:srgbClr val="FFDDCC"/>
                </a:solidFill>
                <a:latin typeface="Arial" pitchFamily="34" charset="0"/>
                <a:ea typeface="Arial" pitchFamily="34" charset="-122"/>
                <a:cs typeface="Arial" pitchFamily="34" charset="-120"/>
              </a:rPr>
              <a:t>FADA TN Chapter partnership</a:t>
            </a:r>
            <a:endParaRPr lang="en-US" sz="1000" dirty="0"/>
          </a:p>
        </p:txBody>
      </p:sp>
      <p:sp>
        <p:nvSpPr>
          <p:cNvPr id="21" name="Shape 19"/>
          <p:cNvSpPr/>
          <p:nvPr/>
        </p:nvSpPr>
        <p:spPr>
          <a:xfrm>
            <a:off x="3355848" y="3474720"/>
            <a:ext cx="2560320" cy="1097280"/>
          </a:xfrm>
          <a:prstGeom prst="rect">
            <a:avLst/>
          </a:prstGeom>
          <a:solidFill>
            <a:srgbClr val="040D1E"/>
          </a:solidFill>
          <a:ln w="12700">
            <a:solidFill>
              <a:srgbClr val="040D1E"/>
            </a:solidFill>
            <a:prstDash val="solid"/>
          </a:ln>
        </p:spPr>
      </p:sp>
      <p:sp>
        <p:nvSpPr>
          <p:cNvPr id="22" name="Text 20"/>
          <p:cNvSpPr/>
          <p:nvPr/>
        </p:nvSpPr>
        <p:spPr>
          <a:xfrm>
            <a:off x="3355848" y="3547872"/>
            <a:ext cx="2560320" cy="960120"/>
          </a:xfrm>
          <a:prstGeom prst="rect">
            <a:avLst/>
          </a:prstGeom>
          <a:noFill/>
          <a:ln/>
        </p:spPr>
        <p:txBody>
          <a:bodyPr wrap="square" lIns="0" tIns="0" rIns="0" bIns="0" rtlCol="0" anchor="ctr"/>
          <a:lstStyle/>
          <a:p>
            <a:pPr algn="ctr" indent="0" marL="0">
              <a:buNone/>
            </a:pPr>
            <a:r>
              <a:rPr lang="en-US" sz="1600" b="1" dirty="0">
                <a:solidFill>
                  <a:srgbClr val="CC4500"/>
                </a:solidFill>
                <a:latin typeface="Arial" pitchFamily="34" charset="0"/>
                <a:ea typeface="Arial" pitchFamily="34" charset="-122"/>
                <a:cs typeface="Arial" pitchFamily="34" charset="-120"/>
              </a:rPr>
              <a:t>300 dealers</a:t>
            </a:r>
            <a:endParaRPr lang="en-US" sz="1600" dirty="0"/>
          </a:p>
          <a:p>
            <a:pPr algn="ctr" indent="0" marL="0">
              <a:buNone/>
            </a:pPr>
            <a:r>
              <a:rPr lang="en-US" sz="1600" b="1" dirty="0">
                <a:solidFill>
                  <a:srgbClr val="CC4500"/>
                </a:solidFill>
                <a:latin typeface="Arial" pitchFamily="34" charset="0"/>
                <a:ea typeface="Arial" pitchFamily="34" charset="-122"/>
                <a:cs typeface="Arial" pitchFamily="34" charset="-120"/>
              </a:rPr>
              <a:t>₹45L MRR</a:t>
            </a:r>
            <a:endParaRPr lang="en-US" sz="1600" dirty="0"/>
          </a:p>
        </p:txBody>
      </p:sp>
      <p:sp>
        <p:nvSpPr>
          <p:cNvPr id="23" name="Shape 21"/>
          <p:cNvSpPr/>
          <p:nvPr/>
        </p:nvSpPr>
        <p:spPr>
          <a:xfrm>
            <a:off x="6071616" y="2788920"/>
            <a:ext cx="109728" cy="365760"/>
          </a:xfrm>
          <a:prstGeom prst="rect">
            <a:avLst/>
          </a:prstGeom>
          <a:solidFill>
            <a:srgbClr val="CC4500"/>
          </a:solidFill>
          <a:ln w="12700">
            <a:solidFill>
              <a:srgbClr val="CC4500"/>
            </a:solidFill>
            <a:prstDash val="solid"/>
          </a:ln>
        </p:spPr>
      </p:sp>
      <p:sp>
        <p:nvSpPr>
          <p:cNvPr id="24" name="Shape 22"/>
          <p:cNvSpPr/>
          <p:nvPr/>
        </p:nvSpPr>
        <p:spPr>
          <a:xfrm>
            <a:off x="6208776" y="1463040"/>
            <a:ext cx="2834640" cy="3291840"/>
          </a:xfrm>
          <a:prstGeom prst="rect">
            <a:avLst/>
          </a:prstGeom>
          <a:solidFill>
            <a:srgbClr val="1A3A5C"/>
          </a:solidFill>
          <a:ln w="12700">
            <a:solidFill>
              <a:srgbClr val="1A3A5C"/>
            </a:solidFill>
            <a:prstDash val="solid"/>
          </a:ln>
        </p:spPr>
      </p:sp>
      <p:sp>
        <p:nvSpPr>
          <p:cNvPr id="25" name="Text 23"/>
          <p:cNvSpPr/>
          <p:nvPr/>
        </p:nvSpPr>
        <p:spPr>
          <a:xfrm>
            <a:off x="6345936" y="1572768"/>
            <a:ext cx="2560320" cy="502920"/>
          </a:xfrm>
          <a:prstGeom prst="rect">
            <a:avLst/>
          </a:prstGeom>
          <a:noFill/>
          <a:ln/>
        </p:spPr>
        <p:txBody>
          <a:bodyPr wrap="square" lIns="0" tIns="0" rIns="0" bIns="0" rtlCol="0" anchor="ctr"/>
          <a:lstStyle/>
          <a:p>
            <a:pPr indent="0" marL="0">
              <a:buNone/>
            </a:pPr>
            <a:r>
              <a:rPr lang="en-US" sz="1000" b="1" dirty="0">
                <a:solidFill>
                  <a:srgbClr val="FFDDCC"/>
                </a:solidFill>
                <a:latin typeface="Arial" pitchFamily="34" charset="0"/>
                <a:ea typeface="Arial" pitchFamily="34" charset="-122"/>
                <a:cs typeface="Arial" pitchFamily="34" charset="-120"/>
              </a:rPr>
              <a:t>Phase 3</a:t>
            </a:r>
            <a:endParaRPr lang="en-US" sz="1000" dirty="0"/>
          </a:p>
          <a:p>
            <a:pPr indent="0" marL="0">
              <a:buNone/>
            </a:pPr>
            <a:r>
              <a:rPr lang="en-US" sz="1000" b="1" dirty="0">
                <a:solidFill>
                  <a:srgbClr val="FFDDCC"/>
                </a:solidFill>
                <a:latin typeface="Arial" pitchFamily="34" charset="0"/>
                <a:ea typeface="Arial" pitchFamily="34" charset="-122"/>
                <a:cs typeface="Arial" pitchFamily="34" charset="-120"/>
              </a:rPr>
              <a:t>Y2–Y3</a:t>
            </a:r>
            <a:endParaRPr lang="en-US" sz="1000" dirty="0"/>
          </a:p>
        </p:txBody>
      </p:sp>
      <p:sp>
        <p:nvSpPr>
          <p:cNvPr id="26" name="Text 24"/>
          <p:cNvSpPr/>
          <p:nvPr/>
        </p:nvSpPr>
        <p:spPr>
          <a:xfrm>
            <a:off x="6345936" y="2029968"/>
            <a:ext cx="2560320" cy="43891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South India</a:t>
            </a:r>
            <a:endParaRPr lang="en-US" sz="1600" dirty="0"/>
          </a:p>
        </p:txBody>
      </p:sp>
      <p:sp>
        <p:nvSpPr>
          <p:cNvPr id="27" name="Shape 25"/>
          <p:cNvSpPr/>
          <p:nvPr/>
        </p:nvSpPr>
        <p:spPr>
          <a:xfrm>
            <a:off x="6345936" y="2487168"/>
            <a:ext cx="2286000" cy="0"/>
          </a:xfrm>
          <a:prstGeom prst="line">
            <a:avLst/>
          </a:prstGeom>
          <a:noFill/>
          <a:ln w="12700">
            <a:solidFill>
              <a:srgbClr val="FFFFFF">
                <a:alpha val="50000"/>
              </a:srgbClr>
            </a:solidFill>
            <a:prstDash val="solid"/>
          </a:ln>
        </p:spPr>
      </p:sp>
      <p:sp>
        <p:nvSpPr>
          <p:cNvPr id="28" name="Text 26"/>
          <p:cNvSpPr/>
          <p:nvPr/>
        </p:nvSpPr>
        <p:spPr>
          <a:xfrm>
            <a:off x="6345936" y="2578608"/>
            <a:ext cx="2560320" cy="822960"/>
          </a:xfrm>
          <a:prstGeom prst="rect">
            <a:avLst/>
          </a:prstGeom>
          <a:noFill/>
          <a:ln/>
        </p:spPr>
        <p:txBody>
          <a:bodyPr wrap="square" lIns="0" tIns="0" rIns="0" bIns="0" rtlCol="0" anchor="ctr"/>
          <a:lstStyle/>
          <a:p>
            <a:pPr indent="0" marL="0">
              <a:buNone/>
            </a:pPr>
            <a:r>
              <a:rPr lang="en-US" sz="1000" dirty="0">
                <a:solidFill>
                  <a:srgbClr val="FFDDCC"/>
                </a:solidFill>
                <a:latin typeface="Arial" pitchFamily="34" charset="0"/>
                <a:ea typeface="Arial" pitchFamily="34" charset="-122"/>
                <a:cs typeface="Arial" pitchFamily="34" charset="-120"/>
              </a:rPr>
              <a:t>Karnataka · Andhra Pradesh</a:t>
            </a:r>
            <a:endParaRPr lang="en-US" sz="1000" dirty="0"/>
          </a:p>
          <a:p>
            <a:pPr indent="0" marL="0">
              <a:buNone/>
            </a:pPr>
            <a:r>
              <a:rPr lang="en-US" sz="1000" dirty="0">
                <a:solidFill>
                  <a:srgbClr val="FFDDCC"/>
                </a:solidFill>
                <a:latin typeface="Arial" pitchFamily="34" charset="0"/>
                <a:ea typeface="Arial" pitchFamily="34" charset="-122"/>
                <a:cs typeface="Arial" pitchFamily="34" charset="-120"/>
              </a:rPr>
              <a:t>Telangana · Kerala</a:t>
            </a:r>
            <a:endParaRPr lang="en-US" sz="1000" dirty="0"/>
          </a:p>
          <a:p>
            <a:pPr indent="0" marL="0">
              <a:buNone/>
            </a:pPr>
            <a:r>
              <a:rPr lang="en-US" sz="1000" dirty="0">
                <a:solidFill>
                  <a:srgbClr val="FFDDCC"/>
                </a:solidFill>
                <a:latin typeface="Arial" pitchFamily="34" charset="0"/>
                <a:ea typeface="Arial" pitchFamily="34" charset="-122"/>
                <a:cs typeface="Arial" pitchFamily="34" charset="-120"/>
              </a:rPr>
              <a:t>First OEM contract signed</a:t>
            </a:r>
            <a:endParaRPr lang="en-US" sz="1000" dirty="0"/>
          </a:p>
        </p:txBody>
      </p:sp>
      <p:sp>
        <p:nvSpPr>
          <p:cNvPr id="29" name="Shape 27"/>
          <p:cNvSpPr/>
          <p:nvPr/>
        </p:nvSpPr>
        <p:spPr>
          <a:xfrm>
            <a:off x="6345936" y="3474720"/>
            <a:ext cx="2560320" cy="1097280"/>
          </a:xfrm>
          <a:prstGeom prst="rect">
            <a:avLst/>
          </a:prstGeom>
          <a:solidFill>
            <a:srgbClr val="040D1E"/>
          </a:solidFill>
          <a:ln w="12700">
            <a:solidFill>
              <a:srgbClr val="040D1E"/>
            </a:solidFill>
            <a:prstDash val="solid"/>
          </a:ln>
        </p:spPr>
      </p:sp>
      <p:sp>
        <p:nvSpPr>
          <p:cNvPr id="30" name="Text 28"/>
          <p:cNvSpPr/>
          <p:nvPr/>
        </p:nvSpPr>
        <p:spPr>
          <a:xfrm>
            <a:off x="6345936" y="3547872"/>
            <a:ext cx="2560320" cy="960120"/>
          </a:xfrm>
          <a:prstGeom prst="rect">
            <a:avLst/>
          </a:prstGeom>
          <a:noFill/>
          <a:ln/>
        </p:spPr>
        <p:txBody>
          <a:bodyPr wrap="square" lIns="0" tIns="0" rIns="0" bIns="0" rtlCol="0" anchor="ctr"/>
          <a:lstStyle/>
          <a:p>
            <a:pPr algn="ctr" indent="0" marL="0">
              <a:buNone/>
            </a:pPr>
            <a:r>
              <a:rPr lang="en-US" sz="1600" b="1" dirty="0">
                <a:solidFill>
                  <a:srgbClr val="CC4500"/>
                </a:solidFill>
                <a:latin typeface="Arial" pitchFamily="34" charset="0"/>
                <a:ea typeface="Arial" pitchFamily="34" charset="-122"/>
                <a:cs typeface="Arial" pitchFamily="34" charset="-120"/>
              </a:rPr>
              <a:t>1,200 dealers</a:t>
            </a:r>
            <a:endParaRPr lang="en-US" sz="1600" dirty="0"/>
          </a:p>
          <a:p>
            <a:pPr algn="ctr" indent="0" marL="0">
              <a:buNone/>
            </a:pPr>
            <a:r>
              <a:rPr lang="en-US" sz="1600" b="1" dirty="0">
                <a:solidFill>
                  <a:srgbClr val="CC4500"/>
                </a:solidFill>
                <a:latin typeface="Arial" pitchFamily="34" charset="0"/>
                <a:ea typeface="Arial" pitchFamily="34" charset="-122"/>
                <a:cs typeface="Arial" pitchFamily="34" charset="-120"/>
              </a:rPr>
              <a:t>₹3Cr MRR</a:t>
            </a:r>
            <a:endParaRPr lang="en-US" sz="1600" dirty="0"/>
          </a:p>
        </p:txBody>
      </p:sp>
      <p:sp>
        <p:nvSpPr>
          <p:cNvPr id="31" name="Shape 29"/>
          <p:cNvSpPr/>
          <p:nvPr/>
        </p:nvSpPr>
        <p:spPr>
          <a:xfrm>
            <a:off x="9061704" y="2788920"/>
            <a:ext cx="109728" cy="365760"/>
          </a:xfrm>
          <a:prstGeom prst="rect">
            <a:avLst/>
          </a:prstGeom>
          <a:solidFill>
            <a:srgbClr val="CC4500"/>
          </a:solidFill>
          <a:ln w="12700">
            <a:solidFill>
              <a:srgbClr val="CC4500"/>
            </a:solidFill>
            <a:prstDash val="solid"/>
          </a:ln>
        </p:spPr>
      </p:sp>
      <p:sp>
        <p:nvSpPr>
          <p:cNvPr id="32" name="Shape 30"/>
          <p:cNvSpPr/>
          <p:nvPr/>
        </p:nvSpPr>
        <p:spPr>
          <a:xfrm>
            <a:off x="9198864" y="1463040"/>
            <a:ext cx="2834640" cy="3291840"/>
          </a:xfrm>
          <a:prstGeom prst="rect">
            <a:avLst/>
          </a:prstGeom>
          <a:solidFill>
            <a:srgbClr val="0A1F3F"/>
          </a:solidFill>
          <a:ln w="12700">
            <a:solidFill>
              <a:srgbClr val="0A1F3F"/>
            </a:solidFill>
            <a:prstDash val="solid"/>
          </a:ln>
        </p:spPr>
      </p:sp>
      <p:sp>
        <p:nvSpPr>
          <p:cNvPr id="33" name="Text 31"/>
          <p:cNvSpPr/>
          <p:nvPr/>
        </p:nvSpPr>
        <p:spPr>
          <a:xfrm>
            <a:off x="9336024" y="1572768"/>
            <a:ext cx="2560320" cy="502920"/>
          </a:xfrm>
          <a:prstGeom prst="rect">
            <a:avLst/>
          </a:prstGeom>
          <a:noFill/>
          <a:ln/>
        </p:spPr>
        <p:txBody>
          <a:bodyPr wrap="square" lIns="0" tIns="0" rIns="0" bIns="0" rtlCol="0" anchor="ctr"/>
          <a:lstStyle/>
          <a:p>
            <a:pPr indent="0" marL="0">
              <a:buNone/>
            </a:pPr>
            <a:r>
              <a:rPr lang="en-US" sz="1000" b="1" dirty="0">
                <a:solidFill>
                  <a:srgbClr val="8899BB"/>
                </a:solidFill>
                <a:latin typeface="Arial" pitchFamily="34" charset="0"/>
                <a:ea typeface="Arial" pitchFamily="34" charset="-122"/>
                <a:cs typeface="Arial" pitchFamily="34" charset="-120"/>
              </a:rPr>
              <a:t>Phase 4</a:t>
            </a:r>
            <a:endParaRPr lang="en-US" sz="1000" dirty="0"/>
          </a:p>
          <a:p>
            <a:pPr indent="0" marL="0">
              <a:buNone/>
            </a:pPr>
            <a:r>
              <a:rPr lang="en-US" sz="1000" b="1" dirty="0">
                <a:solidFill>
                  <a:srgbClr val="8899BB"/>
                </a:solidFill>
                <a:latin typeface="Arial" pitchFamily="34" charset="0"/>
                <a:ea typeface="Arial" pitchFamily="34" charset="-122"/>
                <a:cs typeface="Arial" pitchFamily="34" charset="-120"/>
              </a:rPr>
              <a:t>Y3–Y5</a:t>
            </a:r>
            <a:endParaRPr lang="en-US" sz="1000" dirty="0"/>
          </a:p>
        </p:txBody>
      </p:sp>
      <p:sp>
        <p:nvSpPr>
          <p:cNvPr id="34" name="Text 32"/>
          <p:cNvSpPr/>
          <p:nvPr/>
        </p:nvSpPr>
        <p:spPr>
          <a:xfrm>
            <a:off x="9336024" y="2029968"/>
            <a:ext cx="2560320" cy="43891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Pan India + Global</a:t>
            </a:r>
            <a:endParaRPr lang="en-US" sz="1600" dirty="0"/>
          </a:p>
        </p:txBody>
      </p:sp>
      <p:sp>
        <p:nvSpPr>
          <p:cNvPr id="35" name="Shape 33"/>
          <p:cNvSpPr/>
          <p:nvPr/>
        </p:nvSpPr>
        <p:spPr>
          <a:xfrm>
            <a:off x="9336024" y="2487168"/>
            <a:ext cx="2286000" cy="0"/>
          </a:xfrm>
          <a:prstGeom prst="line">
            <a:avLst/>
          </a:prstGeom>
          <a:noFill/>
          <a:ln w="12700">
            <a:solidFill>
              <a:srgbClr val="FFFFFF">
                <a:alpha val="50000"/>
              </a:srgbClr>
            </a:solidFill>
            <a:prstDash val="solid"/>
          </a:ln>
        </p:spPr>
      </p:sp>
      <p:sp>
        <p:nvSpPr>
          <p:cNvPr id="36" name="Text 34"/>
          <p:cNvSpPr/>
          <p:nvPr/>
        </p:nvSpPr>
        <p:spPr>
          <a:xfrm>
            <a:off x="9336024" y="2578608"/>
            <a:ext cx="2560320" cy="82296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National expansion</a:t>
            </a:r>
            <a:endParaRPr lang="en-US" sz="1000" dirty="0"/>
          </a:p>
          <a:p>
            <a:pPr indent="0" marL="0">
              <a:buNone/>
            </a:pPr>
            <a:r>
              <a:rPr lang="en-US" sz="1000" dirty="0">
                <a:solidFill>
                  <a:srgbClr val="8899BB"/>
                </a:solidFill>
                <a:latin typeface="Arial" pitchFamily="34" charset="0"/>
                <a:ea typeface="Arial" pitchFamily="34" charset="-122"/>
                <a:cs typeface="Arial" pitchFamily="34" charset="-120"/>
              </a:rPr>
              <a:t>UAE + SEA pilot</a:t>
            </a:r>
            <a:endParaRPr lang="en-US" sz="1000" dirty="0"/>
          </a:p>
          <a:p>
            <a:pPr indent="0" marL="0">
              <a:buNone/>
            </a:pPr>
            <a:r>
              <a:rPr lang="en-US" sz="1000" dirty="0">
                <a:solidFill>
                  <a:srgbClr val="8899BB"/>
                </a:solidFill>
                <a:latin typeface="Arial" pitchFamily="34" charset="0"/>
                <a:ea typeface="Arial" pitchFamily="34" charset="-122"/>
                <a:cs typeface="Arial" pitchFamily="34" charset="-120"/>
              </a:rPr>
              <a:t>Series B deployed</a:t>
            </a:r>
            <a:endParaRPr lang="en-US" sz="1000" dirty="0"/>
          </a:p>
        </p:txBody>
      </p:sp>
      <p:sp>
        <p:nvSpPr>
          <p:cNvPr id="37" name="Shape 35"/>
          <p:cNvSpPr/>
          <p:nvPr/>
        </p:nvSpPr>
        <p:spPr>
          <a:xfrm>
            <a:off x="9336024" y="3474720"/>
            <a:ext cx="2560320" cy="1097280"/>
          </a:xfrm>
          <a:prstGeom prst="rect">
            <a:avLst/>
          </a:prstGeom>
          <a:solidFill>
            <a:srgbClr val="040D1E"/>
          </a:solidFill>
          <a:ln w="12700">
            <a:solidFill>
              <a:srgbClr val="040D1E"/>
            </a:solidFill>
            <a:prstDash val="solid"/>
          </a:ln>
        </p:spPr>
      </p:sp>
      <p:sp>
        <p:nvSpPr>
          <p:cNvPr id="38" name="Text 36"/>
          <p:cNvSpPr/>
          <p:nvPr/>
        </p:nvSpPr>
        <p:spPr>
          <a:xfrm>
            <a:off x="9336024" y="3547872"/>
            <a:ext cx="2560320" cy="960120"/>
          </a:xfrm>
          <a:prstGeom prst="rect">
            <a:avLst/>
          </a:prstGeom>
          <a:noFill/>
          <a:ln/>
        </p:spPr>
        <p:txBody>
          <a:bodyPr wrap="square" lIns="0" tIns="0" rIns="0" bIns="0" rtlCol="0" anchor="ctr"/>
          <a:lstStyle/>
          <a:p>
            <a:pPr algn="ctr" indent="0" marL="0">
              <a:buNone/>
            </a:pPr>
            <a:r>
              <a:rPr lang="en-US" sz="1600" b="1" dirty="0">
                <a:solidFill>
                  <a:srgbClr val="CC4500"/>
                </a:solidFill>
                <a:latin typeface="Arial" pitchFamily="34" charset="0"/>
                <a:ea typeface="Arial" pitchFamily="34" charset="-122"/>
                <a:cs typeface="Arial" pitchFamily="34" charset="-120"/>
              </a:rPr>
              <a:t>5,000 dealers</a:t>
            </a:r>
            <a:endParaRPr lang="en-US" sz="1600" dirty="0"/>
          </a:p>
          <a:p>
            <a:pPr algn="ctr" indent="0" marL="0">
              <a:buNone/>
            </a:pPr>
            <a:r>
              <a:rPr lang="en-US" sz="1600" b="1" dirty="0">
                <a:solidFill>
                  <a:srgbClr val="CC4500"/>
                </a:solidFill>
                <a:latin typeface="Arial" pitchFamily="34" charset="0"/>
                <a:ea typeface="Arial" pitchFamily="34" charset="-122"/>
                <a:cs typeface="Arial" pitchFamily="34" charset="-120"/>
              </a:rPr>
              <a:t>₹10Cr MRR</a:t>
            </a:r>
            <a:endParaRPr lang="en-US" sz="1600" dirty="0"/>
          </a:p>
        </p:txBody>
      </p:sp>
      <p:sp>
        <p:nvSpPr>
          <p:cNvPr id="39" name="Shape 37"/>
          <p:cNvSpPr/>
          <p:nvPr/>
        </p:nvSpPr>
        <p:spPr>
          <a:xfrm>
            <a:off x="274320" y="4919472"/>
            <a:ext cx="11612880" cy="274320"/>
          </a:xfrm>
          <a:prstGeom prst="rect">
            <a:avLst/>
          </a:prstGeom>
          <a:solidFill>
            <a:srgbClr val="1A3A5C"/>
          </a:solidFill>
          <a:ln w="12700">
            <a:solidFill>
              <a:srgbClr val="1A3A5C"/>
            </a:solidFill>
            <a:prstDash val="solid"/>
          </a:ln>
        </p:spPr>
      </p:sp>
      <p:sp>
        <p:nvSpPr>
          <p:cNvPr id="40" name="Text 38"/>
          <p:cNvSpPr/>
          <p:nvPr/>
        </p:nvSpPr>
        <p:spPr>
          <a:xfrm>
            <a:off x="274320" y="4919472"/>
            <a:ext cx="11612880" cy="274320"/>
          </a:xfrm>
          <a:prstGeom prst="rect">
            <a:avLst/>
          </a:prstGeom>
          <a:noFill/>
          <a:ln/>
        </p:spPr>
        <p:txBody>
          <a:bodyPr wrap="square" lIns="0" tIns="0" rIns="0" bIns="0" rtlCol="0" anchor="ctr"/>
          <a:lstStyle/>
          <a:p>
            <a:pPr algn="ctr" indent="0" marL="0">
              <a:buNone/>
            </a:pPr>
            <a:r>
              <a:rPr lang="en-US" sz="1000" b="1" spc="300" kern="0" dirty="0">
                <a:solidFill>
                  <a:srgbClr val="CC4500"/>
                </a:solidFill>
                <a:latin typeface="Arial" pitchFamily="34" charset="0"/>
                <a:ea typeface="Arial" pitchFamily="34" charset="-122"/>
                <a:cs typeface="Arial" pitchFamily="34" charset="-120"/>
              </a:rPr>
              <a:t>KEY ACQUISITION CHANNELS</a:t>
            </a:r>
            <a:endParaRPr lang="en-US" sz="1000" dirty="0"/>
          </a:p>
        </p:txBody>
      </p:sp>
      <p:sp>
        <p:nvSpPr>
          <p:cNvPr id="41" name="Shape 39"/>
          <p:cNvSpPr/>
          <p:nvPr/>
        </p:nvSpPr>
        <p:spPr>
          <a:xfrm>
            <a:off x="274320" y="5285232"/>
            <a:ext cx="2834640" cy="1371600"/>
          </a:xfrm>
          <a:prstGeom prst="rect">
            <a:avLst/>
          </a:prstGeom>
          <a:solidFill>
            <a:srgbClr val="0A1F3F"/>
          </a:solidFill>
          <a:ln w="12700">
            <a:solidFill>
              <a:srgbClr val="1A3A5C"/>
            </a:solidFill>
            <a:prstDash val="solid"/>
          </a:ln>
        </p:spPr>
      </p:sp>
      <p:sp>
        <p:nvSpPr>
          <p:cNvPr id="42" name="Text 40"/>
          <p:cNvSpPr/>
          <p:nvPr/>
        </p:nvSpPr>
        <p:spPr>
          <a:xfrm>
            <a:off x="411480" y="5376672"/>
            <a:ext cx="457200" cy="457200"/>
          </a:xfrm>
          <a:prstGeom prst="rect">
            <a:avLst/>
          </a:prstGeom>
          <a:noFill/>
          <a:ln/>
        </p:spPr>
        <p:txBody>
          <a:bodyPr wrap="square" lIns="0" tIns="0" rIns="0" bIns="0" rtlCol="0" anchor="ctr"/>
          <a:lstStyle/>
          <a:p>
            <a:pP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43" name="Text 41"/>
          <p:cNvSpPr/>
          <p:nvPr/>
        </p:nvSpPr>
        <p:spPr>
          <a:xfrm>
            <a:off x="914400" y="5376672"/>
            <a:ext cx="2103120" cy="365760"/>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Founder-Led Sales</a:t>
            </a:r>
            <a:endParaRPr lang="en-US" sz="1200" dirty="0"/>
          </a:p>
        </p:txBody>
      </p:sp>
      <p:sp>
        <p:nvSpPr>
          <p:cNvPr id="44" name="Text 42"/>
          <p:cNvSpPr/>
          <p:nvPr/>
        </p:nvSpPr>
        <p:spPr>
          <a:xfrm>
            <a:off x="411480" y="5833872"/>
            <a:ext cx="2606040" cy="68580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SJ 12-year automotive network. Personal visits. Tamil-language demo.</a:t>
            </a:r>
            <a:endParaRPr lang="en-US" sz="900" dirty="0"/>
          </a:p>
        </p:txBody>
      </p:sp>
      <p:sp>
        <p:nvSpPr>
          <p:cNvPr id="45" name="Shape 43"/>
          <p:cNvSpPr/>
          <p:nvPr/>
        </p:nvSpPr>
        <p:spPr>
          <a:xfrm>
            <a:off x="3255264" y="5285232"/>
            <a:ext cx="2834640" cy="1371600"/>
          </a:xfrm>
          <a:prstGeom prst="rect">
            <a:avLst/>
          </a:prstGeom>
          <a:solidFill>
            <a:srgbClr val="0A1F3F"/>
          </a:solidFill>
          <a:ln w="12700">
            <a:solidFill>
              <a:srgbClr val="1A3A5C"/>
            </a:solidFill>
            <a:prstDash val="solid"/>
          </a:ln>
        </p:spPr>
      </p:sp>
      <p:sp>
        <p:nvSpPr>
          <p:cNvPr id="46" name="Text 44"/>
          <p:cNvSpPr/>
          <p:nvPr/>
        </p:nvSpPr>
        <p:spPr>
          <a:xfrm>
            <a:off x="3392424" y="5376672"/>
            <a:ext cx="457200" cy="457200"/>
          </a:xfrm>
          <a:prstGeom prst="rect">
            <a:avLst/>
          </a:prstGeom>
          <a:noFill/>
          <a:ln/>
        </p:spPr>
        <p:txBody>
          <a:bodyPr wrap="square" lIns="0" tIns="0" rIns="0" bIns="0" rtlCol="0" anchor="ctr"/>
          <a:lstStyle/>
          <a:p>
            <a:pP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47" name="Text 45"/>
          <p:cNvSpPr/>
          <p:nvPr/>
        </p:nvSpPr>
        <p:spPr>
          <a:xfrm>
            <a:off x="3895344" y="5376672"/>
            <a:ext cx="2103120" cy="365760"/>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FADA Partnership</a:t>
            </a:r>
            <a:endParaRPr lang="en-US" sz="1200" dirty="0"/>
          </a:p>
        </p:txBody>
      </p:sp>
      <p:sp>
        <p:nvSpPr>
          <p:cNvPr id="48" name="Text 46"/>
          <p:cNvSpPr/>
          <p:nvPr/>
        </p:nvSpPr>
        <p:spPr>
          <a:xfrm>
            <a:off x="3392424" y="5833872"/>
            <a:ext cx="2606040" cy="68580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26,000 dealer access via Federation of Automobile Dealers Association TN chapter.</a:t>
            </a:r>
            <a:endParaRPr lang="en-US" sz="900" dirty="0"/>
          </a:p>
        </p:txBody>
      </p:sp>
      <p:sp>
        <p:nvSpPr>
          <p:cNvPr id="49" name="Shape 47"/>
          <p:cNvSpPr/>
          <p:nvPr/>
        </p:nvSpPr>
        <p:spPr>
          <a:xfrm>
            <a:off x="6236208" y="5285232"/>
            <a:ext cx="2834640" cy="1371600"/>
          </a:xfrm>
          <a:prstGeom prst="rect">
            <a:avLst/>
          </a:prstGeom>
          <a:solidFill>
            <a:srgbClr val="0A1F3F"/>
          </a:solidFill>
          <a:ln w="12700">
            <a:solidFill>
              <a:srgbClr val="1A3A5C"/>
            </a:solidFill>
            <a:prstDash val="solid"/>
          </a:ln>
        </p:spPr>
      </p:sp>
      <p:sp>
        <p:nvSpPr>
          <p:cNvPr id="50" name="Text 48"/>
          <p:cNvSpPr/>
          <p:nvPr/>
        </p:nvSpPr>
        <p:spPr>
          <a:xfrm>
            <a:off x="6373368" y="5376672"/>
            <a:ext cx="457200" cy="457200"/>
          </a:xfrm>
          <a:prstGeom prst="rect">
            <a:avLst/>
          </a:prstGeom>
          <a:noFill/>
          <a:ln/>
        </p:spPr>
        <p:txBody>
          <a:bodyPr wrap="square" lIns="0" tIns="0" rIns="0" bIns="0" rtlCol="0" anchor="ctr"/>
          <a:lstStyle/>
          <a:p>
            <a:pP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51" name="Text 49"/>
          <p:cNvSpPr/>
          <p:nvPr/>
        </p:nvSpPr>
        <p:spPr>
          <a:xfrm>
            <a:off x="6876288" y="5376672"/>
            <a:ext cx="2103120" cy="365760"/>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OEM Channel</a:t>
            </a:r>
            <a:endParaRPr lang="en-US" sz="1200" dirty="0"/>
          </a:p>
        </p:txBody>
      </p:sp>
      <p:sp>
        <p:nvSpPr>
          <p:cNvPr id="52" name="Text 50"/>
          <p:cNvSpPr/>
          <p:nvPr/>
        </p:nvSpPr>
        <p:spPr>
          <a:xfrm>
            <a:off x="6373368" y="5833872"/>
            <a:ext cx="2606040" cy="68580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Hyundai + Maruti dealer network deals (Year 2). One OEM = 1,000 dealers instantly.</a:t>
            </a:r>
            <a:endParaRPr lang="en-US" sz="900" dirty="0"/>
          </a:p>
        </p:txBody>
      </p:sp>
      <p:sp>
        <p:nvSpPr>
          <p:cNvPr id="53" name="Shape 51"/>
          <p:cNvSpPr/>
          <p:nvPr/>
        </p:nvSpPr>
        <p:spPr>
          <a:xfrm>
            <a:off x="9217152" y="5285232"/>
            <a:ext cx="2834640" cy="1371600"/>
          </a:xfrm>
          <a:prstGeom prst="rect">
            <a:avLst/>
          </a:prstGeom>
          <a:solidFill>
            <a:srgbClr val="0A1F3F"/>
          </a:solidFill>
          <a:ln w="12700">
            <a:solidFill>
              <a:srgbClr val="1A3A5C"/>
            </a:solidFill>
            <a:prstDash val="solid"/>
          </a:ln>
        </p:spPr>
      </p:sp>
      <p:sp>
        <p:nvSpPr>
          <p:cNvPr id="54" name="Text 52"/>
          <p:cNvSpPr/>
          <p:nvPr/>
        </p:nvSpPr>
        <p:spPr>
          <a:xfrm>
            <a:off x="9354312" y="5376672"/>
            <a:ext cx="457200" cy="457200"/>
          </a:xfrm>
          <a:prstGeom prst="rect">
            <a:avLst/>
          </a:prstGeom>
          <a:noFill/>
          <a:ln/>
        </p:spPr>
        <p:txBody>
          <a:bodyPr wrap="square" lIns="0" tIns="0" rIns="0" bIns="0" rtlCol="0" anchor="ctr"/>
          <a:lstStyle/>
          <a:p>
            <a:pP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55" name="Text 53"/>
          <p:cNvSpPr/>
          <p:nvPr/>
        </p:nvSpPr>
        <p:spPr>
          <a:xfrm>
            <a:off x="9857232" y="5376672"/>
            <a:ext cx="2103120" cy="365760"/>
          </a:xfrm>
          <a:prstGeom prst="rect">
            <a:avLst/>
          </a:prstGeom>
          <a:noFill/>
          <a:ln/>
        </p:spPr>
        <p:txBody>
          <a:bodyPr wrap="square" lIns="0" tIns="0" rIns="0" bIns="0" rtlCol="0" anchor="ctr"/>
          <a:lstStyle/>
          <a:p>
            <a:pPr indent="0" marL="0">
              <a:buNone/>
            </a:pPr>
            <a:r>
              <a:rPr lang="en-US" sz="1200" b="1" dirty="0">
                <a:solidFill>
                  <a:srgbClr val="CC4500"/>
                </a:solidFill>
                <a:latin typeface="Arial" pitchFamily="34" charset="0"/>
                <a:ea typeface="Arial" pitchFamily="34" charset="-122"/>
                <a:cs typeface="Arial" pitchFamily="34" charset="-120"/>
              </a:rPr>
              <a:t>Referral Programme</a:t>
            </a:r>
            <a:endParaRPr lang="en-US" sz="1200" dirty="0"/>
          </a:p>
        </p:txBody>
      </p:sp>
      <p:sp>
        <p:nvSpPr>
          <p:cNvPr id="56" name="Text 54"/>
          <p:cNvSpPr/>
          <p:nvPr/>
        </p:nvSpPr>
        <p:spPr>
          <a:xfrm>
            <a:off x="9354312" y="5833872"/>
            <a:ext cx="2606040" cy="68580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₹10,000 per dealer referred. 30% of growth from dealer word-of-mouth by M9.</a:t>
            </a:r>
            <a:endParaRPr lang="en-US" sz="900" dirty="0"/>
          </a:p>
        </p:txBody>
      </p:sp>
      <p:sp>
        <p:nvSpPr>
          <p:cNvPr id="57" name="Shape 55"/>
          <p:cNvSpPr/>
          <p:nvPr/>
        </p:nvSpPr>
        <p:spPr>
          <a:xfrm>
            <a:off x="0" y="6565392"/>
            <a:ext cx="12188952" cy="18288"/>
          </a:xfrm>
          <a:prstGeom prst="rect">
            <a:avLst/>
          </a:prstGeom>
          <a:solidFill>
            <a:srgbClr val="1A3A5C"/>
          </a:solidFill>
          <a:ln w="12700">
            <a:solidFill>
              <a:srgbClr val="1A3A5C"/>
            </a:solidFill>
            <a:prstDash val="solid"/>
          </a:ln>
        </p:spPr>
      </p:sp>
      <p:sp>
        <p:nvSpPr>
          <p:cNvPr id="58" name="Text 56"/>
          <p:cNvSpPr/>
          <p:nvPr/>
        </p:nvSpPr>
        <p:spPr>
          <a:xfrm>
            <a:off x="274320" y="6583680"/>
            <a:ext cx="9144000" cy="228600"/>
          </a:xfrm>
          <a:prstGeom prst="rect">
            <a:avLst/>
          </a:prstGeom>
          <a:noFill/>
          <a:ln/>
        </p:spPr>
        <p:txBody>
          <a:bodyPr wrap="square" lIns="0" tIns="0" rIns="0" bIns="0" rtlCol="0" anchor="ctr"/>
          <a:lstStyle/>
          <a:p>
            <a:pPr indent="0" marL="0">
              <a:buNone/>
            </a:pPr>
            <a:r>
              <a:rPr lang="en-US" sz="800" dirty="0">
                <a:solidFill>
                  <a:srgbClr val="1A3A5C"/>
                </a:solidFill>
                <a:latin typeface="Arial" pitchFamily="34" charset="0"/>
                <a:ea typeface="Arial" pitchFamily="34" charset="-122"/>
                <a:cs typeface="Arial" pitchFamily="34" charset="-120"/>
              </a:rPr>
              <a:t>AutoEra AI Solutions Pvt. Ltd.  |  Chennai, Tamil Nadu  |  UDYAM-TN-24-0162449  |  CONFIDENTIAL</a:t>
            </a:r>
            <a:endParaRPr lang="en-US" sz="800" dirty="0"/>
          </a:p>
        </p:txBody>
      </p:sp>
      <p:sp>
        <p:nvSpPr>
          <p:cNvPr id="59" name="Text 57"/>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8/10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TEAM &amp; FINANCIALS</a:t>
            </a:r>
            <a:endParaRPr lang="en-US" sz="900" dirty="0"/>
          </a:p>
        </p:txBody>
      </p:sp>
      <p:sp>
        <p:nvSpPr>
          <p:cNvPr id="6" name="Text 4"/>
          <p:cNvSpPr/>
          <p:nvPr/>
        </p:nvSpPr>
        <p:spPr>
          <a:xfrm>
            <a:off x="274320" y="685800"/>
            <a:ext cx="9144000" cy="59436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Domain Expert Founder. Realistic Numbers. Capital-Efficient Plan.</a:t>
            </a:r>
            <a:endParaRPr lang="en-US" sz="2200" dirty="0"/>
          </a:p>
        </p:txBody>
      </p:sp>
      <p:sp>
        <p:nvSpPr>
          <p:cNvPr id="7" name="Shape 5"/>
          <p:cNvSpPr/>
          <p:nvPr/>
        </p:nvSpPr>
        <p:spPr>
          <a:xfrm>
            <a:off x="274320" y="1261872"/>
            <a:ext cx="1828800" cy="36576"/>
          </a:xfrm>
          <a:prstGeom prst="rect">
            <a:avLst/>
          </a:prstGeom>
          <a:solidFill>
            <a:srgbClr val="CC4500"/>
          </a:solidFill>
          <a:ln w="12700">
            <a:solidFill>
              <a:srgbClr val="CC4500"/>
            </a:solidFill>
            <a:prstDash val="solid"/>
          </a:ln>
        </p:spPr>
      </p:sp>
      <p:sp>
        <p:nvSpPr>
          <p:cNvPr id="8" name="Shape 6"/>
          <p:cNvSpPr/>
          <p:nvPr/>
        </p:nvSpPr>
        <p:spPr>
          <a:xfrm>
            <a:off x="274320" y="1481328"/>
            <a:ext cx="3474720" cy="2926080"/>
          </a:xfrm>
          <a:prstGeom prst="rect">
            <a:avLst/>
          </a:prstGeom>
          <a:solidFill>
            <a:srgbClr val="0A1F3F"/>
          </a:solidFill>
          <a:ln w="12700">
            <a:solidFill>
              <a:srgbClr val="CC4500"/>
            </a:solidFill>
            <a:prstDash val="solid"/>
          </a:ln>
        </p:spPr>
      </p:sp>
      <p:sp>
        <p:nvSpPr>
          <p:cNvPr id="9" name="Shape 7"/>
          <p:cNvSpPr/>
          <p:nvPr/>
        </p:nvSpPr>
        <p:spPr>
          <a:xfrm>
            <a:off x="960120" y="1691640"/>
            <a:ext cx="1097280" cy="1097280"/>
          </a:xfrm>
          <a:prstGeom prst="ellipse">
            <a:avLst/>
          </a:prstGeom>
          <a:solidFill>
            <a:srgbClr val="1A3A5C"/>
          </a:solidFill>
          <a:ln w="25400">
            <a:solidFill>
              <a:srgbClr val="CC4500"/>
            </a:solidFill>
            <a:prstDash val="solid"/>
          </a:ln>
        </p:spPr>
      </p:sp>
      <p:sp>
        <p:nvSpPr>
          <p:cNvPr id="10" name="Text 8"/>
          <p:cNvSpPr/>
          <p:nvPr/>
        </p:nvSpPr>
        <p:spPr>
          <a:xfrm>
            <a:off x="960120" y="1874520"/>
            <a:ext cx="1097280" cy="731520"/>
          </a:xfrm>
          <a:prstGeom prst="rect">
            <a:avLst/>
          </a:prstGeom>
          <a:noFill/>
          <a:ln/>
        </p:spPr>
        <p:txBody>
          <a:bodyPr wrap="square" lIns="0" tIns="0" rIns="0" bIns="0" rtlCol="0" anchor="ctr"/>
          <a:lstStyle/>
          <a:p>
            <a:pPr algn="ctr" indent="0" marL="0">
              <a:buNone/>
            </a:pPr>
            <a:r>
              <a:rPr lang="en-US" sz="2800" b="1" dirty="0">
                <a:solidFill>
                  <a:srgbClr val="CC4500"/>
                </a:solidFill>
                <a:latin typeface="Arial" pitchFamily="34" charset="0"/>
                <a:ea typeface="Arial" pitchFamily="34" charset="-122"/>
                <a:cs typeface="Arial" pitchFamily="34" charset="-120"/>
              </a:rPr>
              <a:t>SJ</a:t>
            </a:r>
            <a:endParaRPr lang="en-US" sz="2800" dirty="0"/>
          </a:p>
        </p:txBody>
      </p:sp>
      <p:sp>
        <p:nvSpPr>
          <p:cNvPr id="11" name="Text 9"/>
          <p:cNvSpPr/>
          <p:nvPr/>
        </p:nvSpPr>
        <p:spPr>
          <a:xfrm>
            <a:off x="365760" y="2852928"/>
            <a:ext cx="329184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SJ — Santhosh Jecob</a:t>
            </a:r>
            <a:endParaRPr lang="en-US" sz="1400" dirty="0"/>
          </a:p>
        </p:txBody>
      </p:sp>
      <p:sp>
        <p:nvSpPr>
          <p:cNvPr id="12" name="Text 10"/>
          <p:cNvSpPr/>
          <p:nvPr/>
        </p:nvSpPr>
        <p:spPr>
          <a:xfrm>
            <a:off x="365760" y="3200400"/>
            <a:ext cx="3291840" cy="274320"/>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Founder &amp; CEO</a:t>
            </a:r>
            <a:endParaRPr lang="en-US" sz="1100" dirty="0"/>
          </a:p>
        </p:txBody>
      </p:sp>
      <p:sp>
        <p:nvSpPr>
          <p:cNvPr id="13" name="Text 11"/>
          <p:cNvSpPr/>
          <p:nvPr/>
        </p:nvSpPr>
        <p:spPr>
          <a:xfrm>
            <a:off x="365760" y="3547872"/>
            <a:ext cx="3291840" cy="219456"/>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 12 years Automotive &amp; Real Estate</a:t>
            </a:r>
            <a:endParaRPr lang="en-US" sz="900" dirty="0"/>
          </a:p>
        </p:txBody>
      </p:sp>
      <p:sp>
        <p:nvSpPr>
          <p:cNvPr id="14" name="Text 12"/>
          <p:cNvSpPr/>
          <p:nvPr/>
        </p:nvSpPr>
        <p:spPr>
          <a:xfrm>
            <a:off x="365760" y="3776472"/>
            <a:ext cx="3291840" cy="219456"/>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 Founder: Step 2 Fitness (2 branches)</a:t>
            </a:r>
            <a:endParaRPr lang="en-US" sz="900" dirty="0"/>
          </a:p>
        </p:txBody>
      </p:sp>
      <p:sp>
        <p:nvSpPr>
          <p:cNvPr id="15" name="Text 13"/>
          <p:cNvSpPr/>
          <p:nvPr/>
        </p:nvSpPr>
        <p:spPr>
          <a:xfrm>
            <a:off x="365760" y="4005072"/>
            <a:ext cx="3291840" cy="219456"/>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 AutoEra AI: UDYAM-TN-24-0162449</a:t>
            </a:r>
            <a:endParaRPr lang="en-US" sz="900" dirty="0"/>
          </a:p>
        </p:txBody>
      </p:sp>
      <p:sp>
        <p:nvSpPr>
          <p:cNvPr id="16" name="Text 14"/>
          <p:cNvSpPr/>
          <p:nvPr/>
        </p:nvSpPr>
        <p:spPr>
          <a:xfrm>
            <a:off x="365760" y="4233672"/>
            <a:ext cx="3291840" cy="219456"/>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 Chennai-based: Deep dealer network</a:t>
            </a:r>
            <a:endParaRPr lang="en-US" sz="900" dirty="0"/>
          </a:p>
        </p:txBody>
      </p:sp>
      <p:sp>
        <p:nvSpPr>
          <p:cNvPr id="17" name="Shape 15"/>
          <p:cNvSpPr/>
          <p:nvPr/>
        </p:nvSpPr>
        <p:spPr>
          <a:xfrm>
            <a:off x="3931920" y="1481328"/>
            <a:ext cx="3657600" cy="2926080"/>
          </a:xfrm>
          <a:prstGeom prst="rect">
            <a:avLst/>
          </a:prstGeom>
          <a:solidFill>
            <a:srgbClr val="0A1F3F"/>
          </a:solidFill>
          <a:ln w="12700">
            <a:solidFill>
              <a:srgbClr val="1A3A5C"/>
            </a:solidFill>
            <a:prstDash val="solid"/>
          </a:ln>
        </p:spPr>
      </p:sp>
      <p:sp>
        <p:nvSpPr>
          <p:cNvPr id="18" name="Text 16"/>
          <p:cNvSpPr/>
          <p:nvPr/>
        </p:nvSpPr>
        <p:spPr>
          <a:xfrm>
            <a:off x="4069080" y="1572768"/>
            <a:ext cx="27432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HIRING PLAN</a:t>
            </a:r>
            <a:endParaRPr lang="en-US" sz="900" dirty="0"/>
          </a:p>
        </p:txBody>
      </p:sp>
      <p:sp>
        <p:nvSpPr>
          <p:cNvPr id="19" name="Text 17"/>
          <p:cNvSpPr/>
          <p:nvPr/>
        </p:nvSpPr>
        <p:spPr>
          <a:xfrm>
            <a:off x="4069080" y="1938528"/>
            <a:ext cx="411480" cy="301752"/>
          </a:xfrm>
          <a:prstGeom prst="rect">
            <a:avLst/>
          </a:prstGeom>
          <a:noFill/>
          <a:ln/>
        </p:spPr>
        <p:txBody>
          <a:bodyPr wrap="square" lIns="0" tIns="0" rIns="0" bIns="0" rtlCol="0" anchor="ctr"/>
          <a:lstStyle/>
          <a:p>
            <a:pPr indent="0" marL="0">
              <a:buNone/>
            </a:pPr>
            <a:r>
              <a:rPr lang="en-US" sz="800" b="1" dirty="0">
                <a:solidFill>
                  <a:srgbClr val="CC4500"/>
                </a:solidFill>
                <a:latin typeface="Arial" pitchFamily="34" charset="0"/>
                <a:ea typeface="Arial" pitchFamily="34" charset="-122"/>
                <a:cs typeface="Arial" pitchFamily="34" charset="-120"/>
              </a:rPr>
              <a:t>M1</a:t>
            </a:r>
            <a:endParaRPr lang="en-US" sz="800" dirty="0"/>
          </a:p>
        </p:txBody>
      </p:sp>
      <p:sp>
        <p:nvSpPr>
          <p:cNvPr id="20" name="Text 18"/>
          <p:cNvSpPr/>
          <p:nvPr/>
        </p:nvSpPr>
        <p:spPr>
          <a:xfrm>
            <a:off x="4526280" y="1938528"/>
            <a:ext cx="2286000" cy="301752"/>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Full-Stack Engineer #1</a:t>
            </a:r>
            <a:endParaRPr lang="en-US" sz="1000" dirty="0"/>
          </a:p>
        </p:txBody>
      </p:sp>
      <p:sp>
        <p:nvSpPr>
          <p:cNvPr id="21" name="Text 19"/>
          <p:cNvSpPr/>
          <p:nvPr/>
        </p:nvSpPr>
        <p:spPr>
          <a:xfrm>
            <a:off x="6858000" y="1938528"/>
            <a:ext cx="640080" cy="301752"/>
          </a:xfrm>
          <a:prstGeom prst="rect">
            <a:avLst/>
          </a:prstGeom>
          <a:noFill/>
          <a:ln/>
        </p:spPr>
        <p:txBody>
          <a:bodyPr wrap="square" lIns="0" tIns="0" rIns="0" bIns="0" rtlCol="0" anchor="ctr"/>
          <a:lstStyle/>
          <a:p>
            <a:pPr indent="0" marL="0">
              <a:buNone/>
            </a:pPr>
            <a:r>
              <a:rPr lang="en-US" sz="900" dirty="0">
                <a:solidFill>
                  <a:srgbClr val="CC4500"/>
                </a:solidFill>
                <a:latin typeface="Arial" pitchFamily="34" charset="0"/>
                <a:ea typeface="Arial" pitchFamily="34" charset="-122"/>
                <a:cs typeface="Arial" pitchFamily="34" charset="-120"/>
              </a:rPr>
              <a:t>₹55K/mo</a:t>
            </a:r>
            <a:endParaRPr lang="en-US" sz="900" dirty="0"/>
          </a:p>
        </p:txBody>
      </p:sp>
      <p:sp>
        <p:nvSpPr>
          <p:cNvPr id="22" name="Text 20"/>
          <p:cNvSpPr/>
          <p:nvPr/>
        </p:nvSpPr>
        <p:spPr>
          <a:xfrm>
            <a:off x="4069080" y="2267712"/>
            <a:ext cx="411480" cy="301752"/>
          </a:xfrm>
          <a:prstGeom prst="rect">
            <a:avLst/>
          </a:prstGeom>
          <a:noFill/>
          <a:ln/>
        </p:spPr>
        <p:txBody>
          <a:bodyPr wrap="square" lIns="0" tIns="0" rIns="0" bIns="0" rtlCol="0" anchor="ctr"/>
          <a:lstStyle/>
          <a:p>
            <a:pPr indent="0" marL="0">
              <a:buNone/>
            </a:pPr>
            <a:r>
              <a:rPr lang="en-US" sz="800" b="1" dirty="0">
                <a:solidFill>
                  <a:srgbClr val="CC4500"/>
                </a:solidFill>
                <a:latin typeface="Arial" pitchFamily="34" charset="0"/>
                <a:ea typeface="Arial" pitchFamily="34" charset="-122"/>
                <a:cs typeface="Arial" pitchFamily="34" charset="-120"/>
              </a:rPr>
              <a:t>M1</a:t>
            </a:r>
            <a:endParaRPr lang="en-US" sz="800" dirty="0"/>
          </a:p>
        </p:txBody>
      </p:sp>
      <p:sp>
        <p:nvSpPr>
          <p:cNvPr id="23" name="Text 21"/>
          <p:cNvSpPr/>
          <p:nvPr/>
        </p:nvSpPr>
        <p:spPr>
          <a:xfrm>
            <a:off x="4526280" y="2267712"/>
            <a:ext cx="2286000" cy="301752"/>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Automotive Domain Expert</a:t>
            </a:r>
            <a:endParaRPr lang="en-US" sz="1000" dirty="0"/>
          </a:p>
        </p:txBody>
      </p:sp>
      <p:sp>
        <p:nvSpPr>
          <p:cNvPr id="24" name="Text 22"/>
          <p:cNvSpPr/>
          <p:nvPr/>
        </p:nvSpPr>
        <p:spPr>
          <a:xfrm>
            <a:off x="6858000" y="2267712"/>
            <a:ext cx="640080" cy="301752"/>
          </a:xfrm>
          <a:prstGeom prst="rect">
            <a:avLst/>
          </a:prstGeom>
          <a:noFill/>
          <a:ln/>
        </p:spPr>
        <p:txBody>
          <a:bodyPr wrap="square" lIns="0" tIns="0" rIns="0" bIns="0" rtlCol="0" anchor="ctr"/>
          <a:lstStyle/>
          <a:p>
            <a:pPr indent="0" marL="0">
              <a:buNone/>
            </a:pPr>
            <a:r>
              <a:rPr lang="en-US" sz="900" dirty="0">
                <a:solidFill>
                  <a:srgbClr val="CC4500"/>
                </a:solidFill>
                <a:latin typeface="Arial" pitchFamily="34" charset="0"/>
                <a:ea typeface="Arial" pitchFamily="34" charset="-122"/>
                <a:cs typeface="Arial" pitchFamily="34" charset="-120"/>
              </a:rPr>
              <a:t>₹65K/mo</a:t>
            </a:r>
            <a:endParaRPr lang="en-US" sz="900" dirty="0"/>
          </a:p>
        </p:txBody>
      </p:sp>
      <p:sp>
        <p:nvSpPr>
          <p:cNvPr id="25" name="Text 23"/>
          <p:cNvSpPr/>
          <p:nvPr/>
        </p:nvSpPr>
        <p:spPr>
          <a:xfrm>
            <a:off x="4069080" y="2596896"/>
            <a:ext cx="411480" cy="301752"/>
          </a:xfrm>
          <a:prstGeom prst="rect">
            <a:avLst/>
          </a:prstGeom>
          <a:noFill/>
          <a:ln/>
        </p:spPr>
        <p:txBody>
          <a:bodyPr wrap="square" lIns="0" tIns="0" rIns="0" bIns="0" rtlCol="0" anchor="ctr"/>
          <a:lstStyle/>
          <a:p>
            <a:pPr indent="0" marL="0">
              <a:buNone/>
            </a:pPr>
            <a:r>
              <a:rPr lang="en-US" sz="800" b="1" dirty="0">
                <a:solidFill>
                  <a:srgbClr val="CC4500"/>
                </a:solidFill>
                <a:latin typeface="Arial" pitchFamily="34" charset="0"/>
                <a:ea typeface="Arial" pitchFamily="34" charset="-122"/>
                <a:cs typeface="Arial" pitchFamily="34" charset="-120"/>
              </a:rPr>
              <a:t>M2</a:t>
            </a:r>
            <a:endParaRPr lang="en-US" sz="800" dirty="0"/>
          </a:p>
        </p:txBody>
      </p:sp>
      <p:sp>
        <p:nvSpPr>
          <p:cNvPr id="26" name="Text 24"/>
          <p:cNvSpPr/>
          <p:nvPr/>
        </p:nvSpPr>
        <p:spPr>
          <a:xfrm>
            <a:off x="4526280" y="2596896"/>
            <a:ext cx="2286000" cy="301752"/>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Engineer #2 (Mobile)</a:t>
            </a:r>
            <a:endParaRPr lang="en-US" sz="1000" dirty="0"/>
          </a:p>
        </p:txBody>
      </p:sp>
      <p:sp>
        <p:nvSpPr>
          <p:cNvPr id="27" name="Text 25"/>
          <p:cNvSpPr/>
          <p:nvPr/>
        </p:nvSpPr>
        <p:spPr>
          <a:xfrm>
            <a:off x="6858000" y="2596896"/>
            <a:ext cx="640080" cy="301752"/>
          </a:xfrm>
          <a:prstGeom prst="rect">
            <a:avLst/>
          </a:prstGeom>
          <a:noFill/>
          <a:ln/>
        </p:spPr>
        <p:txBody>
          <a:bodyPr wrap="square" lIns="0" tIns="0" rIns="0" bIns="0" rtlCol="0" anchor="ctr"/>
          <a:lstStyle/>
          <a:p>
            <a:pPr indent="0" marL="0">
              <a:buNone/>
            </a:pPr>
            <a:r>
              <a:rPr lang="en-US" sz="900" dirty="0">
                <a:solidFill>
                  <a:srgbClr val="CC4500"/>
                </a:solidFill>
                <a:latin typeface="Arial" pitchFamily="34" charset="0"/>
                <a:ea typeface="Arial" pitchFamily="34" charset="-122"/>
                <a:cs typeface="Arial" pitchFamily="34" charset="-120"/>
              </a:rPr>
              <a:t>₹50K/mo</a:t>
            </a:r>
            <a:endParaRPr lang="en-US" sz="900" dirty="0"/>
          </a:p>
        </p:txBody>
      </p:sp>
      <p:sp>
        <p:nvSpPr>
          <p:cNvPr id="28" name="Text 26"/>
          <p:cNvSpPr/>
          <p:nvPr/>
        </p:nvSpPr>
        <p:spPr>
          <a:xfrm>
            <a:off x="4069080" y="2926080"/>
            <a:ext cx="411480" cy="301752"/>
          </a:xfrm>
          <a:prstGeom prst="rect">
            <a:avLst/>
          </a:prstGeom>
          <a:noFill/>
          <a:ln/>
        </p:spPr>
        <p:txBody>
          <a:bodyPr wrap="square" lIns="0" tIns="0" rIns="0" bIns="0" rtlCol="0" anchor="ctr"/>
          <a:lstStyle/>
          <a:p>
            <a:pPr indent="0" marL="0">
              <a:buNone/>
            </a:pPr>
            <a:r>
              <a:rPr lang="en-US" sz="800" b="1" dirty="0">
                <a:solidFill>
                  <a:srgbClr val="FF6B2B"/>
                </a:solidFill>
                <a:latin typeface="Arial" pitchFamily="34" charset="0"/>
                <a:ea typeface="Arial" pitchFamily="34" charset="-122"/>
                <a:cs typeface="Arial" pitchFamily="34" charset="-120"/>
              </a:rPr>
              <a:t>M3</a:t>
            </a:r>
            <a:endParaRPr lang="en-US" sz="800" dirty="0"/>
          </a:p>
        </p:txBody>
      </p:sp>
      <p:sp>
        <p:nvSpPr>
          <p:cNvPr id="29" name="Text 27"/>
          <p:cNvSpPr/>
          <p:nvPr/>
        </p:nvSpPr>
        <p:spPr>
          <a:xfrm>
            <a:off x="4526280" y="2926080"/>
            <a:ext cx="2286000" cy="301752"/>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AI/ML Engineer</a:t>
            </a:r>
            <a:endParaRPr lang="en-US" sz="1000" dirty="0"/>
          </a:p>
        </p:txBody>
      </p:sp>
      <p:sp>
        <p:nvSpPr>
          <p:cNvPr id="30" name="Text 28"/>
          <p:cNvSpPr/>
          <p:nvPr/>
        </p:nvSpPr>
        <p:spPr>
          <a:xfrm>
            <a:off x="6858000" y="2926080"/>
            <a:ext cx="640080" cy="301752"/>
          </a:xfrm>
          <a:prstGeom prst="rect">
            <a:avLst/>
          </a:prstGeom>
          <a:noFill/>
          <a:ln/>
        </p:spPr>
        <p:txBody>
          <a:bodyPr wrap="square" lIns="0" tIns="0" rIns="0" bIns="0" rtlCol="0" anchor="ctr"/>
          <a:lstStyle/>
          <a:p>
            <a:pPr indent="0" marL="0">
              <a:buNone/>
            </a:pPr>
            <a:r>
              <a:rPr lang="en-US" sz="900" dirty="0">
                <a:solidFill>
                  <a:srgbClr val="FF6B2B"/>
                </a:solidFill>
                <a:latin typeface="Arial" pitchFamily="34" charset="0"/>
                <a:ea typeface="Arial" pitchFamily="34" charset="-122"/>
                <a:cs typeface="Arial" pitchFamily="34" charset="-120"/>
              </a:rPr>
              <a:t>₹80K/mo</a:t>
            </a:r>
            <a:endParaRPr lang="en-US" sz="900" dirty="0"/>
          </a:p>
        </p:txBody>
      </p:sp>
      <p:sp>
        <p:nvSpPr>
          <p:cNvPr id="31" name="Text 29"/>
          <p:cNvSpPr/>
          <p:nvPr/>
        </p:nvSpPr>
        <p:spPr>
          <a:xfrm>
            <a:off x="4069080" y="3255264"/>
            <a:ext cx="411480" cy="301752"/>
          </a:xfrm>
          <a:prstGeom prst="rect">
            <a:avLst/>
          </a:prstGeom>
          <a:noFill/>
          <a:ln/>
        </p:spPr>
        <p:txBody>
          <a:bodyPr wrap="square" lIns="0" tIns="0" rIns="0" bIns="0" rtlCol="0" anchor="ctr"/>
          <a:lstStyle/>
          <a:p>
            <a:pPr indent="0" marL="0">
              <a:buNone/>
            </a:pPr>
            <a:r>
              <a:rPr lang="en-US" sz="800" b="1" dirty="0">
                <a:solidFill>
                  <a:srgbClr val="FF6B2B"/>
                </a:solidFill>
                <a:latin typeface="Arial" pitchFamily="34" charset="0"/>
                <a:ea typeface="Arial" pitchFamily="34" charset="-122"/>
                <a:cs typeface="Arial" pitchFamily="34" charset="-120"/>
              </a:rPr>
              <a:t>M3</a:t>
            </a:r>
            <a:endParaRPr lang="en-US" sz="800" dirty="0"/>
          </a:p>
        </p:txBody>
      </p:sp>
      <p:sp>
        <p:nvSpPr>
          <p:cNvPr id="32" name="Text 30"/>
          <p:cNvSpPr/>
          <p:nvPr/>
        </p:nvSpPr>
        <p:spPr>
          <a:xfrm>
            <a:off x="4526280" y="3255264"/>
            <a:ext cx="2286000" cy="301752"/>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CS Manager (Tamil)</a:t>
            </a:r>
            <a:endParaRPr lang="en-US" sz="1000" dirty="0"/>
          </a:p>
        </p:txBody>
      </p:sp>
      <p:sp>
        <p:nvSpPr>
          <p:cNvPr id="33" name="Text 31"/>
          <p:cNvSpPr/>
          <p:nvPr/>
        </p:nvSpPr>
        <p:spPr>
          <a:xfrm>
            <a:off x="6858000" y="3255264"/>
            <a:ext cx="640080" cy="301752"/>
          </a:xfrm>
          <a:prstGeom prst="rect">
            <a:avLst/>
          </a:prstGeom>
          <a:noFill/>
          <a:ln/>
        </p:spPr>
        <p:txBody>
          <a:bodyPr wrap="square" lIns="0" tIns="0" rIns="0" bIns="0" rtlCol="0" anchor="ctr"/>
          <a:lstStyle/>
          <a:p>
            <a:pPr indent="0" marL="0">
              <a:buNone/>
            </a:pPr>
            <a:r>
              <a:rPr lang="en-US" sz="900" dirty="0">
                <a:solidFill>
                  <a:srgbClr val="FF6B2B"/>
                </a:solidFill>
                <a:latin typeface="Arial" pitchFamily="34" charset="0"/>
                <a:ea typeface="Arial" pitchFamily="34" charset="-122"/>
                <a:cs typeface="Arial" pitchFamily="34" charset="-120"/>
              </a:rPr>
              <a:t>₹55K/mo</a:t>
            </a:r>
            <a:endParaRPr lang="en-US" sz="900" dirty="0"/>
          </a:p>
        </p:txBody>
      </p:sp>
      <p:sp>
        <p:nvSpPr>
          <p:cNvPr id="34" name="Text 32"/>
          <p:cNvSpPr/>
          <p:nvPr/>
        </p:nvSpPr>
        <p:spPr>
          <a:xfrm>
            <a:off x="4069080" y="3584448"/>
            <a:ext cx="411480" cy="301752"/>
          </a:xfrm>
          <a:prstGeom prst="rect">
            <a:avLst/>
          </a:prstGeom>
          <a:noFill/>
          <a:ln/>
        </p:spPr>
        <p:txBody>
          <a:bodyPr wrap="square" lIns="0" tIns="0" rIns="0" bIns="0" rtlCol="0" anchor="ctr"/>
          <a:lstStyle/>
          <a:p>
            <a:pPr indent="0" marL="0">
              <a:buNone/>
            </a:pPr>
            <a:r>
              <a:rPr lang="en-US" sz="800" b="1" dirty="0">
                <a:solidFill>
                  <a:srgbClr val="8899BB"/>
                </a:solidFill>
                <a:latin typeface="Arial" pitchFamily="34" charset="0"/>
                <a:ea typeface="Arial" pitchFamily="34" charset="-122"/>
                <a:cs typeface="Arial" pitchFamily="34" charset="-120"/>
              </a:rPr>
              <a:t>M4</a:t>
            </a:r>
            <a:endParaRPr lang="en-US" sz="800" dirty="0"/>
          </a:p>
        </p:txBody>
      </p:sp>
      <p:sp>
        <p:nvSpPr>
          <p:cNvPr id="35" name="Text 33"/>
          <p:cNvSpPr/>
          <p:nvPr/>
        </p:nvSpPr>
        <p:spPr>
          <a:xfrm>
            <a:off x="4526280" y="3584448"/>
            <a:ext cx="2286000" cy="301752"/>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BD Executive (ex-OEM)</a:t>
            </a:r>
            <a:endParaRPr lang="en-US" sz="1000" dirty="0"/>
          </a:p>
        </p:txBody>
      </p:sp>
      <p:sp>
        <p:nvSpPr>
          <p:cNvPr id="36" name="Text 34"/>
          <p:cNvSpPr/>
          <p:nvPr/>
        </p:nvSpPr>
        <p:spPr>
          <a:xfrm>
            <a:off x="6858000" y="3584448"/>
            <a:ext cx="640080" cy="301752"/>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₹45K/mo</a:t>
            </a:r>
            <a:endParaRPr lang="en-US" sz="900" dirty="0"/>
          </a:p>
        </p:txBody>
      </p:sp>
      <p:sp>
        <p:nvSpPr>
          <p:cNvPr id="37" name="Text 35"/>
          <p:cNvSpPr/>
          <p:nvPr/>
        </p:nvSpPr>
        <p:spPr>
          <a:xfrm>
            <a:off x="4069080" y="3931920"/>
            <a:ext cx="3383280" cy="320040"/>
          </a:xfrm>
          <a:prstGeom prst="rect">
            <a:avLst/>
          </a:prstGeom>
          <a:noFill/>
          <a:ln/>
        </p:spPr>
        <p:txBody>
          <a:bodyPr wrap="square" lIns="0" tIns="0" rIns="0" bIns="0" rtlCol="0" anchor="ctr"/>
          <a:lstStyle/>
          <a:p>
            <a:pPr indent="0" marL="0">
              <a:buNone/>
            </a:pPr>
            <a:r>
              <a:rPr lang="en-US" sz="1100" b="1" dirty="0">
                <a:solidFill>
                  <a:srgbClr val="CC4500"/>
                </a:solidFill>
                <a:latin typeface="Arial" pitchFamily="34" charset="0"/>
                <a:ea typeface="Arial" pitchFamily="34" charset="-122"/>
                <a:cs typeface="Arial" pitchFamily="34" charset="-120"/>
              </a:rPr>
              <a:t>Total Y1 People Cost: ₹1.12 Crore/year</a:t>
            </a:r>
            <a:endParaRPr lang="en-US" sz="1100" dirty="0"/>
          </a:p>
        </p:txBody>
      </p:sp>
      <p:sp>
        <p:nvSpPr>
          <p:cNvPr id="38" name="Text 36"/>
          <p:cNvSpPr/>
          <p:nvPr/>
        </p:nvSpPr>
        <p:spPr>
          <a:xfrm>
            <a:off x="4069080" y="4206240"/>
            <a:ext cx="3383280" cy="274320"/>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+10% ESOP pool for first 6 hires</a:t>
            </a:r>
            <a:endParaRPr lang="en-US" sz="900" dirty="0"/>
          </a:p>
        </p:txBody>
      </p:sp>
      <p:sp>
        <p:nvSpPr>
          <p:cNvPr id="39" name="Shape 37"/>
          <p:cNvSpPr/>
          <p:nvPr/>
        </p:nvSpPr>
        <p:spPr>
          <a:xfrm>
            <a:off x="7726680" y="1481328"/>
            <a:ext cx="4160520" cy="2926080"/>
          </a:xfrm>
          <a:prstGeom prst="rect">
            <a:avLst/>
          </a:prstGeom>
          <a:solidFill>
            <a:srgbClr val="0A1F3F"/>
          </a:solidFill>
          <a:ln w="12700">
            <a:solidFill>
              <a:srgbClr val="1A3A5C"/>
            </a:solidFill>
            <a:prstDash val="solid"/>
          </a:ln>
        </p:spPr>
      </p:sp>
      <p:sp>
        <p:nvSpPr>
          <p:cNvPr id="40" name="Text 38"/>
          <p:cNvSpPr/>
          <p:nvPr/>
        </p:nvSpPr>
        <p:spPr>
          <a:xfrm>
            <a:off x="7863840" y="1572768"/>
            <a:ext cx="36576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3-YEAR FINANCIAL SUMMARY</a:t>
            </a:r>
            <a:endParaRPr lang="en-US" sz="900" dirty="0"/>
          </a:p>
        </p:txBody>
      </p:sp>
      <p:sp>
        <p:nvSpPr>
          <p:cNvPr id="41" name="Text 39"/>
          <p:cNvSpPr/>
          <p:nvPr/>
        </p:nvSpPr>
        <p:spPr>
          <a:xfrm>
            <a:off x="7772400" y="1920240"/>
            <a:ext cx="960120" cy="329184"/>
          </a:xfrm>
          <a:prstGeom prst="rect">
            <a:avLst/>
          </a:prstGeom>
          <a:noFill/>
          <a:ln/>
        </p:spPr>
        <p:txBody>
          <a:bodyPr wrap="square" lIns="0" tIns="0" rIns="0" bIns="0" rtlCol="0" anchor="ctr"/>
          <a:lstStyle/>
          <a:p>
            <a:pPr algn="l" indent="0" marL="0">
              <a:buNone/>
            </a:pPr>
            <a:endParaRPr lang="en-US" sz="1000" dirty="0"/>
          </a:p>
        </p:txBody>
      </p:sp>
      <p:sp>
        <p:nvSpPr>
          <p:cNvPr id="42" name="Text 40"/>
          <p:cNvSpPr/>
          <p:nvPr/>
        </p:nvSpPr>
        <p:spPr>
          <a:xfrm>
            <a:off x="8778240" y="1920240"/>
            <a:ext cx="960120" cy="329184"/>
          </a:xfrm>
          <a:prstGeom prst="rect">
            <a:avLst/>
          </a:prstGeom>
          <a:noFill/>
          <a:ln/>
        </p:spPr>
        <p:txBody>
          <a:bodyPr wrap="square" lIns="0" tIns="0" rIns="0" bIns="0" rtlCol="0" anchor="ctr"/>
          <a:lstStyle/>
          <a:p>
            <a:pPr algn="ctr" indent="0" marL="0">
              <a:buNone/>
            </a:pPr>
            <a:r>
              <a:rPr lang="en-US" sz="1000" b="1" dirty="0">
                <a:solidFill>
                  <a:srgbClr val="CC4500"/>
                </a:solidFill>
                <a:latin typeface="Arial" pitchFamily="34" charset="0"/>
                <a:ea typeface="Arial" pitchFamily="34" charset="-122"/>
                <a:cs typeface="Arial" pitchFamily="34" charset="-120"/>
              </a:rPr>
              <a:t>Year 1</a:t>
            </a:r>
            <a:endParaRPr lang="en-US" sz="1000" dirty="0"/>
          </a:p>
        </p:txBody>
      </p:sp>
      <p:sp>
        <p:nvSpPr>
          <p:cNvPr id="43" name="Text 41"/>
          <p:cNvSpPr/>
          <p:nvPr/>
        </p:nvSpPr>
        <p:spPr>
          <a:xfrm>
            <a:off x="9784080" y="1920240"/>
            <a:ext cx="960120" cy="329184"/>
          </a:xfrm>
          <a:prstGeom prst="rect">
            <a:avLst/>
          </a:prstGeom>
          <a:noFill/>
          <a:ln/>
        </p:spPr>
        <p:txBody>
          <a:bodyPr wrap="square" lIns="0" tIns="0" rIns="0" bIns="0" rtlCol="0" anchor="ctr"/>
          <a:lstStyle/>
          <a:p>
            <a:pPr algn="ctr" indent="0" marL="0">
              <a:buNone/>
            </a:pPr>
            <a:r>
              <a:rPr lang="en-US" sz="1000" b="1" dirty="0">
                <a:solidFill>
                  <a:srgbClr val="CC4500"/>
                </a:solidFill>
                <a:latin typeface="Arial" pitchFamily="34" charset="0"/>
                <a:ea typeface="Arial" pitchFamily="34" charset="-122"/>
                <a:cs typeface="Arial" pitchFamily="34" charset="-120"/>
              </a:rPr>
              <a:t>Year 2</a:t>
            </a:r>
            <a:endParaRPr lang="en-US" sz="1000" dirty="0"/>
          </a:p>
        </p:txBody>
      </p:sp>
      <p:sp>
        <p:nvSpPr>
          <p:cNvPr id="44" name="Text 42"/>
          <p:cNvSpPr/>
          <p:nvPr/>
        </p:nvSpPr>
        <p:spPr>
          <a:xfrm>
            <a:off x="10789920" y="1920240"/>
            <a:ext cx="960120" cy="329184"/>
          </a:xfrm>
          <a:prstGeom prst="rect">
            <a:avLst/>
          </a:prstGeom>
          <a:noFill/>
          <a:ln/>
        </p:spPr>
        <p:txBody>
          <a:bodyPr wrap="square" lIns="0" tIns="0" rIns="0" bIns="0" rtlCol="0" anchor="ctr"/>
          <a:lstStyle/>
          <a:p>
            <a:pPr algn="ctr" indent="0" marL="0">
              <a:buNone/>
            </a:pPr>
            <a:r>
              <a:rPr lang="en-US" sz="1000" b="1" dirty="0">
                <a:solidFill>
                  <a:srgbClr val="CC4500"/>
                </a:solidFill>
                <a:latin typeface="Arial" pitchFamily="34" charset="0"/>
                <a:ea typeface="Arial" pitchFamily="34" charset="-122"/>
                <a:cs typeface="Arial" pitchFamily="34" charset="-120"/>
              </a:rPr>
              <a:t>Year 3</a:t>
            </a:r>
            <a:endParaRPr lang="en-US" sz="1000" dirty="0"/>
          </a:p>
        </p:txBody>
      </p:sp>
      <p:sp>
        <p:nvSpPr>
          <p:cNvPr id="45" name="Text 43"/>
          <p:cNvSpPr/>
          <p:nvPr/>
        </p:nvSpPr>
        <p:spPr>
          <a:xfrm>
            <a:off x="7772400" y="2267712"/>
            <a:ext cx="960120" cy="329184"/>
          </a:xfrm>
          <a:prstGeom prst="rect">
            <a:avLst/>
          </a:prstGeom>
          <a:noFill/>
          <a:ln/>
        </p:spPr>
        <p:txBody>
          <a:bodyPr wrap="square" lIns="0" tIns="0" rIns="0" bIns="0" rtlCol="0" anchor="ctr"/>
          <a:lstStyle/>
          <a:p>
            <a:pPr algn="l" indent="0" marL="0">
              <a:buNone/>
            </a:pPr>
            <a:r>
              <a:rPr lang="en-US" sz="1000" b="1" dirty="0">
                <a:solidFill>
                  <a:srgbClr val="8899BB"/>
                </a:solidFill>
                <a:latin typeface="Arial" pitchFamily="34" charset="0"/>
                <a:ea typeface="Arial" pitchFamily="34" charset="-122"/>
                <a:cs typeface="Arial" pitchFamily="34" charset="-120"/>
              </a:rPr>
              <a:t>ARR</a:t>
            </a:r>
            <a:endParaRPr lang="en-US" sz="1000" dirty="0"/>
          </a:p>
        </p:txBody>
      </p:sp>
      <p:sp>
        <p:nvSpPr>
          <p:cNvPr id="46" name="Text 44"/>
          <p:cNvSpPr/>
          <p:nvPr/>
        </p:nvSpPr>
        <p:spPr>
          <a:xfrm>
            <a:off x="8778240" y="2267712"/>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₹96L</a:t>
            </a:r>
            <a:endParaRPr lang="en-US" sz="1000" dirty="0"/>
          </a:p>
        </p:txBody>
      </p:sp>
      <p:sp>
        <p:nvSpPr>
          <p:cNvPr id="47" name="Text 45"/>
          <p:cNvSpPr/>
          <p:nvPr/>
        </p:nvSpPr>
        <p:spPr>
          <a:xfrm>
            <a:off x="9784080" y="2267712"/>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₹12Cr</a:t>
            </a:r>
            <a:endParaRPr lang="en-US" sz="1000" dirty="0"/>
          </a:p>
        </p:txBody>
      </p:sp>
      <p:sp>
        <p:nvSpPr>
          <p:cNvPr id="48" name="Text 46"/>
          <p:cNvSpPr/>
          <p:nvPr/>
        </p:nvSpPr>
        <p:spPr>
          <a:xfrm>
            <a:off x="10789920" y="2267712"/>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₹40Cr</a:t>
            </a:r>
            <a:endParaRPr lang="en-US" sz="1000" dirty="0"/>
          </a:p>
        </p:txBody>
      </p:sp>
      <p:sp>
        <p:nvSpPr>
          <p:cNvPr id="49" name="Text 47"/>
          <p:cNvSpPr/>
          <p:nvPr/>
        </p:nvSpPr>
        <p:spPr>
          <a:xfrm>
            <a:off x="7772400" y="2615184"/>
            <a:ext cx="960120" cy="329184"/>
          </a:xfrm>
          <a:prstGeom prst="rect">
            <a:avLst/>
          </a:prstGeom>
          <a:noFill/>
          <a:ln/>
        </p:spPr>
        <p:txBody>
          <a:bodyPr wrap="square" lIns="0" tIns="0" rIns="0" bIns="0" rtlCol="0" anchor="ctr"/>
          <a:lstStyle/>
          <a:p>
            <a:pPr algn="l" indent="0" marL="0">
              <a:buNone/>
            </a:pPr>
            <a:r>
              <a:rPr lang="en-US" sz="1000" b="1" dirty="0">
                <a:solidFill>
                  <a:srgbClr val="8899BB"/>
                </a:solidFill>
                <a:latin typeface="Arial" pitchFamily="34" charset="0"/>
                <a:ea typeface="Arial" pitchFamily="34" charset="-122"/>
                <a:cs typeface="Arial" pitchFamily="34" charset="-120"/>
              </a:rPr>
              <a:t>Dealers</a:t>
            </a:r>
            <a:endParaRPr lang="en-US" sz="1000" dirty="0"/>
          </a:p>
        </p:txBody>
      </p:sp>
      <p:sp>
        <p:nvSpPr>
          <p:cNvPr id="50" name="Text 48"/>
          <p:cNvSpPr/>
          <p:nvPr/>
        </p:nvSpPr>
        <p:spPr>
          <a:xfrm>
            <a:off x="8778240" y="2615184"/>
            <a:ext cx="96012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80</a:t>
            </a:r>
            <a:endParaRPr lang="en-US" sz="1000" dirty="0"/>
          </a:p>
        </p:txBody>
      </p:sp>
      <p:sp>
        <p:nvSpPr>
          <p:cNvPr id="51" name="Text 49"/>
          <p:cNvSpPr/>
          <p:nvPr/>
        </p:nvSpPr>
        <p:spPr>
          <a:xfrm>
            <a:off x="9784080" y="2615184"/>
            <a:ext cx="96012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400</a:t>
            </a:r>
            <a:endParaRPr lang="en-US" sz="1000" dirty="0"/>
          </a:p>
        </p:txBody>
      </p:sp>
      <p:sp>
        <p:nvSpPr>
          <p:cNvPr id="52" name="Text 50"/>
          <p:cNvSpPr/>
          <p:nvPr/>
        </p:nvSpPr>
        <p:spPr>
          <a:xfrm>
            <a:off x="10789920" y="2615184"/>
            <a:ext cx="96012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1,200</a:t>
            </a:r>
            <a:endParaRPr lang="en-US" sz="1000" dirty="0"/>
          </a:p>
        </p:txBody>
      </p:sp>
      <p:sp>
        <p:nvSpPr>
          <p:cNvPr id="53" name="Text 51"/>
          <p:cNvSpPr/>
          <p:nvPr/>
        </p:nvSpPr>
        <p:spPr>
          <a:xfrm>
            <a:off x="7772400" y="2962656"/>
            <a:ext cx="960120" cy="329184"/>
          </a:xfrm>
          <a:prstGeom prst="rect">
            <a:avLst/>
          </a:prstGeom>
          <a:noFill/>
          <a:ln/>
        </p:spPr>
        <p:txBody>
          <a:bodyPr wrap="square" lIns="0" tIns="0" rIns="0" bIns="0" rtlCol="0" anchor="ctr"/>
          <a:lstStyle/>
          <a:p>
            <a:pPr algn="l" indent="0" marL="0">
              <a:buNone/>
            </a:pPr>
            <a:r>
              <a:rPr lang="en-US" sz="1000" b="1" dirty="0">
                <a:solidFill>
                  <a:srgbClr val="8899BB"/>
                </a:solidFill>
                <a:latin typeface="Arial" pitchFamily="34" charset="0"/>
                <a:ea typeface="Arial" pitchFamily="34" charset="-122"/>
                <a:cs typeface="Arial" pitchFamily="34" charset="-120"/>
              </a:rPr>
              <a:t>Gross Margin</a:t>
            </a:r>
            <a:endParaRPr lang="en-US" sz="1000" dirty="0"/>
          </a:p>
        </p:txBody>
      </p:sp>
      <p:sp>
        <p:nvSpPr>
          <p:cNvPr id="54" name="Text 52"/>
          <p:cNvSpPr/>
          <p:nvPr/>
        </p:nvSpPr>
        <p:spPr>
          <a:xfrm>
            <a:off x="8778240" y="2962656"/>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65%</a:t>
            </a:r>
            <a:endParaRPr lang="en-US" sz="1000" dirty="0"/>
          </a:p>
        </p:txBody>
      </p:sp>
      <p:sp>
        <p:nvSpPr>
          <p:cNvPr id="55" name="Text 53"/>
          <p:cNvSpPr/>
          <p:nvPr/>
        </p:nvSpPr>
        <p:spPr>
          <a:xfrm>
            <a:off x="9784080" y="2962656"/>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72%</a:t>
            </a:r>
            <a:endParaRPr lang="en-US" sz="1000" dirty="0"/>
          </a:p>
        </p:txBody>
      </p:sp>
      <p:sp>
        <p:nvSpPr>
          <p:cNvPr id="56" name="Text 54"/>
          <p:cNvSpPr/>
          <p:nvPr/>
        </p:nvSpPr>
        <p:spPr>
          <a:xfrm>
            <a:off x="10789920" y="2962656"/>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76%</a:t>
            </a:r>
            <a:endParaRPr lang="en-US" sz="1000" dirty="0"/>
          </a:p>
        </p:txBody>
      </p:sp>
      <p:sp>
        <p:nvSpPr>
          <p:cNvPr id="57" name="Text 55"/>
          <p:cNvSpPr/>
          <p:nvPr/>
        </p:nvSpPr>
        <p:spPr>
          <a:xfrm>
            <a:off x="7772400" y="3310128"/>
            <a:ext cx="960120" cy="329184"/>
          </a:xfrm>
          <a:prstGeom prst="rect">
            <a:avLst/>
          </a:prstGeom>
          <a:noFill/>
          <a:ln/>
        </p:spPr>
        <p:txBody>
          <a:bodyPr wrap="square" lIns="0" tIns="0" rIns="0" bIns="0" rtlCol="0" anchor="ctr"/>
          <a:lstStyle/>
          <a:p>
            <a:pPr algn="l" indent="0" marL="0">
              <a:buNone/>
            </a:pPr>
            <a:r>
              <a:rPr lang="en-US" sz="1000" b="1" dirty="0">
                <a:solidFill>
                  <a:srgbClr val="8899BB"/>
                </a:solidFill>
                <a:latin typeface="Arial" pitchFamily="34" charset="0"/>
                <a:ea typeface="Arial" pitchFamily="34" charset="-122"/>
                <a:cs typeface="Arial" pitchFamily="34" charset="-120"/>
              </a:rPr>
              <a:t>Net Burn</a:t>
            </a:r>
            <a:endParaRPr lang="en-US" sz="1000" dirty="0"/>
          </a:p>
        </p:txBody>
      </p:sp>
      <p:sp>
        <p:nvSpPr>
          <p:cNvPr id="58" name="Text 56"/>
          <p:cNvSpPr/>
          <p:nvPr/>
        </p:nvSpPr>
        <p:spPr>
          <a:xfrm>
            <a:off x="8778240" y="3310128"/>
            <a:ext cx="96012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₹7L/mo</a:t>
            </a:r>
            <a:endParaRPr lang="en-US" sz="1000" dirty="0"/>
          </a:p>
        </p:txBody>
      </p:sp>
      <p:sp>
        <p:nvSpPr>
          <p:cNvPr id="59" name="Text 57"/>
          <p:cNvSpPr/>
          <p:nvPr/>
        </p:nvSpPr>
        <p:spPr>
          <a:xfrm>
            <a:off x="9784080" y="3310128"/>
            <a:ext cx="96012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₹18L/mo</a:t>
            </a:r>
            <a:endParaRPr lang="en-US" sz="1000" dirty="0"/>
          </a:p>
        </p:txBody>
      </p:sp>
      <p:sp>
        <p:nvSpPr>
          <p:cNvPr id="60" name="Text 58"/>
          <p:cNvSpPr/>
          <p:nvPr/>
        </p:nvSpPr>
        <p:spPr>
          <a:xfrm>
            <a:off x="10789920" y="3310128"/>
            <a:ext cx="960120" cy="329184"/>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Profitable</a:t>
            </a:r>
            <a:endParaRPr lang="en-US" sz="1000" dirty="0"/>
          </a:p>
        </p:txBody>
      </p:sp>
      <p:sp>
        <p:nvSpPr>
          <p:cNvPr id="61" name="Text 59"/>
          <p:cNvSpPr/>
          <p:nvPr/>
        </p:nvSpPr>
        <p:spPr>
          <a:xfrm>
            <a:off x="7772400" y="3657600"/>
            <a:ext cx="960120" cy="329184"/>
          </a:xfrm>
          <a:prstGeom prst="rect">
            <a:avLst/>
          </a:prstGeom>
          <a:noFill/>
          <a:ln/>
        </p:spPr>
        <p:txBody>
          <a:bodyPr wrap="square" lIns="0" tIns="0" rIns="0" bIns="0" rtlCol="0" anchor="ctr"/>
          <a:lstStyle/>
          <a:p>
            <a:pPr algn="l" indent="0" marL="0">
              <a:buNone/>
            </a:pPr>
            <a:r>
              <a:rPr lang="en-US" sz="1000" b="1" dirty="0">
                <a:solidFill>
                  <a:srgbClr val="8899BB"/>
                </a:solidFill>
                <a:latin typeface="Arial" pitchFamily="34" charset="0"/>
                <a:ea typeface="Arial" pitchFamily="34" charset="-122"/>
                <a:cs typeface="Arial" pitchFamily="34" charset="-120"/>
              </a:rPr>
              <a:t>Team</a:t>
            </a:r>
            <a:endParaRPr lang="en-US" sz="1000" dirty="0"/>
          </a:p>
        </p:txBody>
      </p:sp>
      <p:sp>
        <p:nvSpPr>
          <p:cNvPr id="62" name="Text 60"/>
          <p:cNvSpPr/>
          <p:nvPr/>
        </p:nvSpPr>
        <p:spPr>
          <a:xfrm>
            <a:off x="8778240" y="3657600"/>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12</a:t>
            </a:r>
            <a:endParaRPr lang="en-US" sz="1000" dirty="0"/>
          </a:p>
        </p:txBody>
      </p:sp>
      <p:sp>
        <p:nvSpPr>
          <p:cNvPr id="63" name="Text 61"/>
          <p:cNvSpPr/>
          <p:nvPr/>
        </p:nvSpPr>
        <p:spPr>
          <a:xfrm>
            <a:off x="9784080" y="3657600"/>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35</a:t>
            </a:r>
            <a:endParaRPr lang="en-US" sz="1000" dirty="0"/>
          </a:p>
        </p:txBody>
      </p:sp>
      <p:sp>
        <p:nvSpPr>
          <p:cNvPr id="64" name="Text 62"/>
          <p:cNvSpPr/>
          <p:nvPr/>
        </p:nvSpPr>
        <p:spPr>
          <a:xfrm>
            <a:off x="10789920" y="3657600"/>
            <a:ext cx="960120" cy="329184"/>
          </a:xfrm>
          <a:prstGeom prst="rect">
            <a:avLst/>
          </a:prstGeom>
          <a:noFill/>
          <a:ln/>
        </p:spPr>
        <p:txBody>
          <a:bodyPr wrap="square" lIns="0" tIns="0" rIns="0" bIns="0" rtlCol="0" anchor="ctr"/>
          <a:lstStyle/>
          <a:p>
            <a:pPr algn="ctr" indent="0" marL="0">
              <a:buNone/>
            </a:pPr>
            <a:r>
              <a:rPr lang="en-US" sz="1000" dirty="0">
                <a:solidFill>
                  <a:srgbClr val="E8EDF5"/>
                </a:solidFill>
                <a:latin typeface="Arial" pitchFamily="34" charset="0"/>
                <a:ea typeface="Arial" pitchFamily="34" charset="-122"/>
                <a:cs typeface="Arial" pitchFamily="34" charset="-120"/>
              </a:rPr>
              <a:t>90</a:t>
            </a:r>
            <a:endParaRPr lang="en-US" sz="1000" dirty="0"/>
          </a:p>
        </p:txBody>
      </p:sp>
      <p:sp>
        <p:nvSpPr>
          <p:cNvPr id="65" name="Shape 63"/>
          <p:cNvSpPr/>
          <p:nvPr/>
        </p:nvSpPr>
        <p:spPr>
          <a:xfrm>
            <a:off x="274320" y="4572000"/>
            <a:ext cx="11612880" cy="731520"/>
          </a:xfrm>
          <a:prstGeom prst="rect">
            <a:avLst/>
          </a:prstGeom>
          <a:solidFill>
            <a:srgbClr val="0A1F3F"/>
          </a:solidFill>
          <a:ln w="12700">
            <a:solidFill>
              <a:srgbClr val="1A3A5C"/>
            </a:solidFill>
            <a:prstDash val="solid"/>
          </a:ln>
        </p:spPr>
      </p:sp>
      <p:sp>
        <p:nvSpPr>
          <p:cNvPr id="66" name="Text 64"/>
          <p:cNvSpPr/>
          <p:nvPr/>
        </p:nvSpPr>
        <p:spPr>
          <a:xfrm>
            <a:off x="411480" y="4645152"/>
            <a:ext cx="27432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ADVISORS BEING ENGAGED:</a:t>
            </a:r>
            <a:endParaRPr lang="en-US" sz="900" dirty="0"/>
          </a:p>
        </p:txBody>
      </p:sp>
      <p:sp>
        <p:nvSpPr>
          <p:cNvPr id="67" name="Text 65"/>
          <p:cNvSpPr/>
          <p:nvPr/>
        </p:nvSpPr>
        <p:spPr>
          <a:xfrm>
            <a:off x="3200400" y="4645152"/>
            <a:ext cx="8503920" cy="594360"/>
          </a:xfrm>
          <a:prstGeom prst="rect">
            <a:avLst/>
          </a:prstGeom>
          <a:noFill/>
          <a:ln/>
        </p:spPr>
        <p:txBody>
          <a:bodyPr wrap="square" lIns="0" tIns="0" rIns="0" bIns="0" rtlCol="0" anchor="ctr"/>
          <a:lstStyle/>
          <a:p>
            <a:pPr indent="0" marL="0">
              <a:buNone/>
            </a:pPr>
            <a:r>
              <a:rPr lang="en-US" sz="1000" dirty="0">
                <a:solidFill>
                  <a:srgbClr val="8899BB"/>
                </a:solidFill>
                <a:latin typeface="Arial" pitchFamily="34" charset="0"/>
                <a:ea typeface="Arial" pitchFamily="34" charset="-122"/>
                <a:cs typeface="Arial" pitchFamily="34" charset="-120"/>
              </a:rPr>
              <a:t>Automotive Domain Advisor (ex-Hyundai MD Chennai)  ·  AI Technical Advisor (IIT Madras)  ·  Startup Legal Advisor  ·  CA &amp; Financial Advisor (Startup-focused)</a:t>
            </a:r>
            <a:endParaRPr lang="en-US" sz="1000" dirty="0"/>
          </a:p>
        </p:txBody>
      </p:sp>
      <p:sp>
        <p:nvSpPr>
          <p:cNvPr id="68" name="Shape 66"/>
          <p:cNvSpPr/>
          <p:nvPr/>
        </p:nvSpPr>
        <p:spPr>
          <a:xfrm>
            <a:off x="0" y="6565392"/>
            <a:ext cx="12188952" cy="18288"/>
          </a:xfrm>
          <a:prstGeom prst="rect">
            <a:avLst/>
          </a:prstGeom>
          <a:solidFill>
            <a:srgbClr val="1A3A5C"/>
          </a:solidFill>
          <a:ln w="12700">
            <a:solidFill>
              <a:srgbClr val="1A3A5C"/>
            </a:solidFill>
            <a:prstDash val="solid"/>
          </a:ln>
        </p:spPr>
      </p:sp>
      <p:sp>
        <p:nvSpPr>
          <p:cNvPr id="69" name="Text 67"/>
          <p:cNvSpPr/>
          <p:nvPr/>
        </p:nvSpPr>
        <p:spPr>
          <a:xfrm>
            <a:off x="274320" y="6583680"/>
            <a:ext cx="9144000" cy="228600"/>
          </a:xfrm>
          <a:prstGeom prst="rect">
            <a:avLst/>
          </a:prstGeom>
          <a:noFill/>
          <a:ln/>
        </p:spPr>
        <p:txBody>
          <a:bodyPr wrap="square" lIns="0" tIns="0" rIns="0" bIns="0" rtlCol="0" anchor="ctr"/>
          <a:lstStyle/>
          <a:p>
            <a:pPr indent="0" marL="0">
              <a:buNone/>
            </a:pPr>
            <a:r>
              <a:rPr lang="en-US" sz="800" dirty="0">
                <a:solidFill>
                  <a:srgbClr val="1A3A5C"/>
                </a:solidFill>
                <a:latin typeface="Arial" pitchFamily="34" charset="0"/>
                <a:ea typeface="Arial" pitchFamily="34" charset="-122"/>
                <a:cs typeface="Arial" pitchFamily="34" charset="-120"/>
              </a:rPr>
              <a:t>AutoEra AI Solutions Pvt. Ltd.  |  Chennai, Tamil Nadu  |  UDYAM-TN-24-0162449  |  CONFIDENTIAL</a:t>
            </a:r>
            <a:endParaRPr lang="en-US" sz="800" dirty="0"/>
          </a:p>
        </p:txBody>
      </p:sp>
      <p:sp>
        <p:nvSpPr>
          <p:cNvPr id="70" name="Text 68"/>
          <p:cNvSpPr/>
          <p:nvPr/>
        </p:nvSpPr>
        <p:spPr>
          <a:xfrm>
            <a:off x="11612880" y="6537960"/>
            <a:ext cx="457200" cy="228600"/>
          </a:xfrm>
          <a:prstGeom prst="rect">
            <a:avLst/>
          </a:prstGeom>
          <a:noFill/>
          <a:ln/>
        </p:spPr>
        <p:txBody>
          <a:bodyPr wrap="square" lIns="0" tIns="0" rIns="0" bIns="0" rtlCol="0" anchor="ctr"/>
          <a:lstStyle/>
          <a:p>
            <a:pPr algn="r" indent="0" marL="0">
              <a:buNone/>
            </a:pPr>
            <a:r>
              <a:rPr lang="en-US" sz="900" dirty="0">
                <a:solidFill>
                  <a:srgbClr val="1A3A5C"/>
                </a:solidFill>
                <a:latin typeface="Arial" pitchFamily="34" charset="0"/>
                <a:ea typeface="Arial" pitchFamily="34" charset="-122"/>
                <a:cs typeface="Arial" pitchFamily="34" charset="-120"/>
              </a:rPr>
              <a:t>9/10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1329"/>
          </a:solidFill>
          <a:ln w="12700">
            <a:solidFill>
              <a:srgbClr val="061329"/>
            </a:solidFill>
            <a:prstDash val="solid"/>
          </a:ln>
        </p:spPr>
      </p:sp>
      <p:sp>
        <p:nvSpPr>
          <p:cNvPr id="3" name="Shape 1"/>
          <p:cNvSpPr/>
          <p:nvPr/>
        </p:nvSpPr>
        <p:spPr>
          <a:xfrm>
            <a:off x="0" y="18288"/>
            <a:ext cx="12188952" cy="36576"/>
          </a:xfrm>
          <a:prstGeom prst="rect">
            <a:avLst/>
          </a:prstGeom>
          <a:solidFill>
            <a:srgbClr val="CC4500"/>
          </a:solidFill>
          <a:ln w="12700">
            <a:solidFill>
              <a:srgbClr val="CC4500"/>
            </a:solidFill>
            <a:prstDash val="solid"/>
          </a:ln>
        </p:spPr>
      </p:sp>
      <p:sp>
        <p:nvSpPr>
          <p:cNvPr id="4" name="Text 2"/>
          <p:cNvSpPr/>
          <p:nvPr/>
        </p:nvSpPr>
        <p:spPr>
          <a:xfrm>
            <a:off x="274320" y="137160"/>
            <a:ext cx="20116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AUTO</a:t>
            </a:r>
            <a:pPr indent="0" marL="0">
              <a:buNone/>
            </a:pPr>
            <a:r>
              <a:rPr lang="en-US" sz="1300" b="1" dirty="0">
                <a:solidFill>
                  <a:srgbClr val="CC4500"/>
                </a:solidFill>
                <a:latin typeface="Arial" pitchFamily="34" charset="0"/>
                <a:ea typeface="Arial" pitchFamily="34" charset="-122"/>
                <a:cs typeface="Arial" pitchFamily="34" charset="-120"/>
              </a:rPr>
              <a:t>ERA</a:t>
            </a:r>
            <a:pPr indent="0" marL="0">
              <a:buNone/>
            </a:pPr>
            <a:r>
              <a:rPr lang="en-US" sz="1300" dirty="0">
                <a:solidFill>
                  <a:srgbClr val="FFFFFF"/>
                </a:solidFill>
                <a:latin typeface="Arial" pitchFamily="34" charset="0"/>
                <a:ea typeface="Arial" pitchFamily="34" charset="-122"/>
                <a:cs typeface="Arial" pitchFamily="34" charset="-120"/>
              </a:rPr>
              <a:t> AI</a:t>
            </a:r>
            <a:endParaRPr lang="en-US" sz="1300" dirty="0"/>
          </a:p>
        </p:txBody>
      </p:sp>
      <p:sp>
        <p:nvSpPr>
          <p:cNvPr id="5" name="Text 3"/>
          <p:cNvSpPr/>
          <p:nvPr/>
        </p:nvSpPr>
        <p:spPr>
          <a:xfrm>
            <a:off x="274320" y="457200"/>
            <a:ext cx="1828800" cy="256032"/>
          </a:xfrm>
          <a:prstGeom prst="rect">
            <a:avLst/>
          </a:prstGeom>
          <a:noFill/>
          <a:ln/>
        </p:spPr>
        <p:txBody>
          <a:bodyPr wrap="square" lIns="0" tIns="0" rIns="0" bIns="0" rtlCol="0" anchor="ctr"/>
          <a:lstStyle/>
          <a:p>
            <a:pPr algn="l" indent="0" marL="0">
              <a:buNone/>
            </a:pPr>
            <a:r>
              <a:rPr lang="en-US" sz="900" b="1" spc="400" kern="0" dirty="0">
                <a:solidFill>
                  <a:srgbClr val="CC4500"/>
                </a:solidFill>
                <a:latin typeface="Arial" pitchFamily="34" charset="0"/>
                <a:ea typeface="Arial" pitchFamily="34" charset="-122"/>
                <a:cs typeface="Arial" pitchFamily="34" charset="-120"/>
              </a:rPr>
              <a:t>THE ASK</a:t>
            </a:r>
            <a:endParaRPr lang="en-US" sz="900" dirty="0"/>
          </a:p>
        </p:txBody>
      </p:sp>
      <p:sp>
        <p:nvSpPr>
          <p:cNvPr id="6" name="Text 4"/>
          <p:cNvSpPr/>
          <p:nvPr/>
        </p:nvSpPr>
        <p:spPr>
          <a:xfrm>
            <a:off x="274320" y="685800"/>
            <a:ext cx="7772400" cy="1005840"/>
          </a:xfrm>
          <a:prstGeom prst="rect">
            <a:avLst/>
          </a:prstGeom>
          <a:noFill/>
          <a:ln/>
        </p:spPr>
        <p:txBody>
          <a:bodyPr wrap="square" lIns="0" tIns="0" rIns="0" bIns="0" rtlCol="0" anchor="ctr"/>
          <a:lstStyle/>
          <a:p>
            <a:pPr indent="0" marL="0">
              <a:buNone/>
            </a:pPr>
            <a:r>
              <a:rPr lang="en-US" sz="6000" b="1" dirty="0">
                <a:solidFill>
                  <a:srgbClr val="CC4500"/>
                </a:solidFill>
                <a:latin typeface="Arial" pitchFamily="34" charset="0"/>
                <a:ea typeface="Arial" pitchFamily="34" charset="-122"/>
                <a:cs typeface="Arial" pitchFamily="34" charset="-120"/>
              </a:rPr>
              <a:t>₹2 Crore</a:t>
            </a:r>
            <a:endParaRPr lang="en-US" sz="6000" dirty="0"/>
          </a:p>
        </p:txBody>
      </p:sp>
      <p:sp>
        <p:nvSpPr>
          <p:cNvPr id="7" name="Text 5"/>
          <p:cNvSpPr/>
          <p:nvPr/>
        </p:nvSpPr>
        <p:spPr>
          <a:xfrm>
            <a:off x="274320" y="1645920"/>
            <a:ext cx="7772400" cy="365760"/>
          </a:xfrm>
          <a:prstGeom prst="rect">
            <a:avLst/>
          </a:prstGeom>
          <a:noFill/>
          <a:ln/>
        </p:spPr>
        <p:txBody>
          <a:bodyPr wrap="square" lIns="0" tIns="0" rIns="0" bIns="0" rtlCol="0" anchor="ctr"/>
          <a:lstStyle/>
          <a:p>
            <a:pPr indent="0" marL="0">
              <a:buNone/>
            </a:pPr>
            <a:r>
              <a:rPr lang="en-US" sz="1400" dirty="0">
                <a:solidFill>
                  <a:srgbClr val="8899BB"/>
                </a:solidFill>
                <a:latin typeface="Arial" pitchFamily="34" charset="0"/>
                <a:ea typeface="Arial" pitchFamily="34" charset="-122"/>
                <a:cs typeface="Arial" pitchFamily="34" charset="-120"/>
              </a:rPr>
              <a:t>Pre-Seed Round  ·  SAFE or Equity  ·  18-Month Runway</a:t>
            </a:r>
            <a:endParaRPr lang="en-US" sz="1400" dirty="0"/>
          </a:p>
        </p:txBody>
      </p:sp>
      <p:sp>
        <p:nvSpPr>
          <p:cNvPr id="8" name="Shape 6"/>
          <p:cNvSpPr/>
          <p:nvPr/>
        </p:nvSpPr>
        <p:spPr>
          <a:xfrm>
            <a:off x="274320" y="2103120"/>
            <a:ext cx="3200400" cy="36576"/>
          </a:xfrm>
          <a:prstGeom prst="rect">
            <a:avLst/>
          </a:prstGeom>
          <a:solidFill>
            <a:srgbClr val="CC4500"/>
          </a:solidFill>
          <a:ln w="12700">
            <a:solidFill>
              <a:srgbClr val="CC4500"/>
            </a:solidFill>
            <a:prstDash val="solid"/>
          </a:ln>
        </p:spPr>
      </p:sp>
      <p:sp>
        <p:nvSpPr>
          <p:cNvPr id="9" name="Shape 7"/>
          <p:cNvSpPr/>
          <p:nvPr/>
        </p:nvSpPr>
        <p:spPr>
          <a:xfrm>
            <a:off x="274320" y="2240280"/>
            <a:ext cx="6967728" cy="411480"/>
          </a:xfrm>
          <a:prstGeom prst="rect">
            <a:avLst/>
          </a:prstGeom>
          <a:solidFill>
            <a:srgbClr val="CC4500"/>
          </a:solidFill>
          <a:ln w="12700">
            <a:solidFill>
              <a:srgbClr val="CC4500"/>
            </a:solidFill>
            <a:prstDash val="solid"/>
          </a:ln>
        </p:spPr>
      </p:sp>
      <p:sp>
        <p:nvSpPr>
          <p:cNvPr id="10" name="Shape 8"/>
          <p:cNvSpPr/>
          <p:nvPr/>
        </p:nvSpPr>
        <p:spPr>
          <a:xfrm>
            <a:off x="7242048" y="2240280"/>
            <a:ext cx="1393546" cy="411480"/>
          </a:xfrm>
          <a:prstGeom prst="rect">
            <a:avLst/>
          </a:prstGeom>
          <a:solidFill>
            <a:srgbClr val="FF6B2B"/>
          </a:solidFill>
          <a:ln w="12700">
            <a:solidFill>
              <a:srgbClr val="FF6B2B"/>
            </a:solidFill>
            <a:prstDash val="solid"/>
          </a:ln>
        </p:spPr>
      </p:sp>
      <p:sp>
        <p:nvSpPr>
          <p:cNvPr id="11" name="Shape 9"/>
          <p:cNvSpPr/>
          <p:nvPr/>
        </p:nvSpPr>
        <p:spPr>
          <a:xfrm>
            <a:off x="8635594" y="2240280"/>
            <a:ext cx="929030" cy="411480"/>
          </a:xfrm>
          <a:prstGeom prst="rect">
            <a:avLst/>
          </a:prstGeom>
          <a:solidFill>
            <a:srgbClr val="1A3A5C"/>
          </a:solidFill>
          <a:ln w="12700">
            <a:solidFill>
              <a:srgbClr val="1A3A5C"/>
            </a:solidFill>
            <a:prstDash val="solid"/>
          </a:ln>
        </p:spPr>
      </p:sp>
      <p:sp>
        <p:nvSpPr>
          <p:cNvPr id="12" name="Shape 10"/>
          <p:cNvSpPr/>
          <p:nvPr/>
        </p:nvSpPr>
        <p:spPr>
          <a:xfrm>
            <a:off x="9564624" y="2240280"/>
            <a:ext cx="696773" cy="411480"/>
          </a:xfrm>
          <a:prstGeom prst="rect">
            <a:avLst/>
          </a:prstGeom>
          <a:solidFill>
            <a:srgbClr val="15803D"/>
          </a:solidFill>
          <a:ln w="12700">
            <a:solidFill>
              <a:srgbClr val="15803D"/>
            </a:solidFill>
            <a:prstDash val="solid"/>
          </a:ln>
        </p:spPr>
      </p:sp>
      <p:sp>
        <p:nvSpPr>
          <p:cNvPr id="13" name="Shape 11"/>
          <p:cNvSpPr/>
          <p:nvPr/>
        </p:nvSpPr>
        <p:spPr>
          <a:xfrm>
            <a:off x="10261397" y="2240280"/>
            <a:ext cx="580644" cy="411480"/>
          </a:xfrm>
          <a:prstGeom prst="rect">
            <a:avLst/>
          </a:prstGeom>
          <a:solidFill>
            <a:srgbClr val="8899BB"/>
          </a:solidFill>
          <a:ln w="12700">
            <a:solidFill>
              <a:srgbClr val="8899BB"/>
            </a:solidFill>
            <a:prstDash val="solid"/>
          </a:ln>
        </p:spPr>
      </p:sp>
      <p:sp>
        <p:nvSpPr>
          <p:cNvPr id="14" name="Shape 12"/>
          <p:cNvSpPr/>
          <p:nvPr/>
        </p:nvSpPr>
        <p:spPr>
          <a:xfrm>
            <a:off x="10842041" y="2240280"/>
            <a:ext cx="1045159" cy="411480"/>
          </a:xfrm>
          <a:prstGeom prst="rect">
            <a:avLst/>
          </a:prstGeom>
          <a:solidFill>
            <a:srgbClr val="991B1B"/>
          </a:solidFill>
          <a:ln w="12700">
            <a:solidFill>
              <a:srgbClr val="991B1B"/>
            </a:solidFill>
            <a:prstDash val="solid"/>
          </a:ln>
        </p:spPr>
      </p:sp>
      <p:sp>
        <p:nvSpPr>
          <p:cNvPr id="15" name="Shape 13"/>
          <p:cNvSpPr/>
          <p:nvPr/>
        </p:nvSpPr>
        <p:spPr>
          <a:xfrm>
            <a:off x="274320" y="2788920"/>
            <a:ext cx="3703320" cy="1115568"/>
          </a:xfrm>
          <a:prstGeom prst="rect">
            <a:avLst/>
          </a:prstGeom>
          <a:solidFill>
            <a:srgbClr val="0A1F3F"/>
          </a:solidFill>
          <a:ln w="12700">
            <a:solidFill>
              <a:srgbClr val="1A3A5C"/>
            </a:solidFill>
            <a:prstDash val="solid"/>
          </a:ln>
        </p:spPr>
      </p:sp>
      <p:sp>
        <p:nvSpPr>
          <p:cNvPr id="16" name="Shape 14"/>
          <p:cNvSpPr/>
          <p:nvPr/>
        </p:nvSpPr>
        <p:spPr>
          <a:xfrm>
            <a:off x="274320" y="2788920"/>
            <a:ext cx="201168" cy="1115568"/>
          </a:xfrm>
          <a:prstGeom prst="rect">
            <a:avLst/>
          </a:prstGeom>
          <a:solidFill>
            <a:srgbClr val="CC4500"/>
          </a:solidFill>
          <a:ln w="12700">
            <a:solidFill>
              <a:srgbClr val="CC4500"/>
            </a:solidFill>
            <a:prstDash val="solid"/>
          </a:ln>
        </p:spPr>
      </p:sp>
      <p:sp>
        <p:nvSpPr>
          <p:cNvPr id="17" name="Text 15"/>
          <p:cNvSpPr/>
          <p:nvPr/>
        </p:nvSpPr>
        <p:spPr>
          <a:xfrm>
            <a:off x="566928" y="2898648"/>
            <a:ext cx="329184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60%  ₹1.2 Cr</a:t>
            </a:r>
            <a:endParaRPr lang="en-US" sz="1600" dirty="0"/>
          </a:p>
        </p:txBody>
      </p:sp>
      <p:sp>
        <p:nvSpPr>
          <p:cNvPr id="18" name="Text 16"/>
          <p:cNvSpPr/>
          <p:nvPr/>
        </p:nvSpPr>
        <p:spPr>
          <a:xfrm>
            <a:off x="566928" y="3264408"/>
            <a:ext cx="3291840" cy="292608"/>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Product &amp; Engineering</a:t>
            </a:r>
            <a:endParaRPr lang="en-US" sz="1100" dirty="0"/>
          </a:p>
        </p:txBody>
      </p:sp>
      <p:sp>
        <p:nvSpPr>
          <p:cNvPr id="19" name="Text 17"/>
          <p:cNvSpPr/>
          <p:nvPr/>
        </p:nvSpPr>
        <p:spPr>
          <a:xfrm>
            <a:off x="566928" y="3538728"/>
            <a:ext cx="3291840" cy="29260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3 engineers + AI/ML + DevOps</a:t>
            </a:r>
            <a:endParaRPr lang="en-US" sz="900" dirty="0"/>
          </a:p>
        </p:txBody>
      </p:sp>
      <p:sp>
        <p:nvSpPr>
          <p:cNvPr id="20" name="Shape 18"/>
          <p:cNvSpPr/>
          <p:nvPr/>
        </p:nvSpPr>
        <p:spPr>
          <a:xfrm>
            <a:off x="4206240" y="2788920"/>
            <a:ext cx="3703320" cy="1115568"/>
          </a:xfrm>
          <a:prstGeom prst="rect">
            <a:avLst/>
          </a:prstGeom>
          <a:solidFill>
            <a:srgbClr val="0A1F3F"/>
          </a:solidFill>
          <a:ln w="12700">
            <a:solidFill>
              <a:srgbClr val="1A3A5C"/>
            </a:solidFill>
            <a:prstDash val="solid"/>
          </a:ln>
        </p:spPr>
      </p:sp>
      <p:sp>
        <p:nvSpPr>
          <p:cNvPr id="21" name="Shape 19"/>
          <p:cNvSpPr/>
          <p:nvPr/>
        </p:nvSpPr>
        <p:spPr>
          <a:xfrm>
            <a:off x="4206240" y="2788920"/>
            <a:ext cx="201168" cy="1115568"/>
          </a:xfrm>
          <a:prstGeom prst="rect">
            <a:avLst/>
          </a:prstGeom>
          <a:solidFill>
            <a:srgbClr val="FF6B2B"/>
          </a:solidFill>
          <a:ln w="12700">
            <a:solidFill>
              <a:srgbClr val="FF6B2B"/>
            </a:solidFill>
            <a:prstDash val="solid"/>
          </a:ln>
        </p:spPr>
      </p:sp>
      <p:sp>
        <p:nvSpPr>
          <p:cNvPr id="22" name="Text 20"/>
          <p:cNvSpPr/>
          <p:nvPr/>
        </p:nvSpPr>
        <p:spPr>
          <a:xfrm>
            <a:off x="4498848" y="2898648"/>
            <a:ext cx="329184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12%  ₹24L</a:t>
            </a:r>
            <a:endParaRPr lang="en-US" sz="1600" dirty="0"/>
          </a:p>
        </p:txBody>
      </p:sp>
      <p:sp>
        <p:nvSpPr>
          <p:cNvPr id="23" name="Text 21"/>
          <p:cNvSpPr/>
          <p:nvPr/>
        </p:nvSpPr>
        <p:spPr>
          <a:xfrm>
            <a:off x="4498848" y="3264408"/>
            <a:ext cx="3291840" cy="292608"/>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Sales &amp; GTM</a:t>
            </a:r>
            <a:endParaRPr lang="en-US" sz="1100" dirty="0"/>
          </a:p>
        </p:txBody>
      </p:sp>
      <p:sp>
        <p:nvSpPr>
          <p:cNvPr id="24" name="Text 22"/>
          <p:cNvSpPr/>
          <p:nvPr/>
        </p:nvSpPr>
        <p:spPr>
          <a:xfrm>
            <a:off x="4498848" y="3538728"/>
            <a:ext cx="3291840" cy="29260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Domain expert + BD + events</a:t>
            </a:r>
            <a:endParaRPr lang="en-US" sz="900" dirty="0"/>
          </a:p>
        </p:txBody>
      </p:sp>
      <p:sp>
        <p:nvSpPr>
          <p:cNvPr id="25" name="Shape 23"/>
          <p:cNvSpPr/>
          <p:nvPr/>
        </p:nvSpPr>
        <p:spPr>
          <a:xfrm>
            <a:off x="8138160" y="2788920"/>
            <a:ext cx="3703320" cy="1115568"/>
          </a:xfrm>
          <a:prstGeom prst="rect">
            <a:avLst/>
          </a:prstGeom>
          <a:solidFill>
            <a:srgbClr val="0A1F3F"/>
          </a:solidFill>
          <a:ln w="12700">
            <a:solidFill>
              <a:srgbClr val="1A3A5C"/>
            </a:solidFill>
            <a:prstDash val="solid"/>
          </a:ln>
        </p:spPr>
      </p:sp>
      <p:sp>
        <p:nvSpPr>
          <p:cNvPr id="26" name="Shape 24"/>
          <p:cNvSpPr/>
          <p:nvPr/>
        </p:nvSpPr>
        <p:spPr>
          <a:xfrm>
            <a:off x="8138160" y="2788920"/>
            <a:ext cx="201168" cy="1115568"/>
          </a:xfrm>
          <a:prstGeom prst="rect">
            <a:avLst/>
          </a:prstGeom>
          <a:solidFill>
            <a:srgbClr val="1A3A5C"/>
          </a:solidFill>
          <a:ln w="12700">
            <a:solidFill>
              <a:srgbClr val="1A3A5C"/>
            </a:solidFill>
            <a:prstDash val="solid"/>
          </a:ln>
        </p:spPr>
      </p:sp>
      <p:sp>
        <p:nvSpPr>
          <p:cNvPr id="27" name="Text 25"/>
          <p:cNvSpPr/>
          <p:nvPr/>
        </p:nvSpPr>
        <p:spPr>
          <a:xfrm>
            <a:off x="8430768" y="2898648"/>
            <a:ext cx="329184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8%  ₹16L</a:t>
            </a:r>
            <a:endParaRPr lang="en-US" sz="1600" dirty="0"/>
          </a:p>
        </p:txBody>
      </p:sp>
      <p:sp>
        <p:nvSpPr>
          <p:cNvPr id="28" name="Text 26"/>
          <p:cNvSpPr/>
          <p:nvPr/>
        </p:nvSpPr>
        <p:spPr>
          <a:xfrm>
            <a:off x="8430768" y="3264408"/>
            <a:ext cx="3291840" cy="292608"/>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Operations &amp; Legal</a:t>
            </a:r>
            <a:endParaRPr lang="en-US" sz="1100" dirty="0"/>
          </a:p>
        </p:txBody>
      </p:sp>
      <p:sp>
        <p:nvSpPr>
          <p:cNvPr id="29" name="Text 27"/>
          <p:cNvSpPr/>
          <p:nvPr/>
        </p:nvSpPr>
        <p:spPr>
          <a:xfrm>
            <a:off x="8430768" y="3538728"/>
            <a:ext cx="3291840" cy="29260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CA + legal + office + compliance</a:t>
            </a:r>
            <a:endParaRPr lang="en-US" sz="900" dirty="0"/>
          </a:p>
        </p:txBody>
      </p:sp>
      <p:sp>
        <p:nvSpPr>
          <p:cNvPr id="30" name="Shape 28"/>
          <p:cNvSpPr/>
          <p:nvPr/>
        </p:nvSpPr>
        <p:spPr>
          <a:xfrm>
            <a:off x="274320" y="4069080"/>
            <a:ext cx="3703320" cy="1115568"/>
          </a:xfrm>
          <a:prstGeom prst="rect">
            <a:avLst/>
          </a:prstGeom>
          <a:solidFill>
            <a:srgbClr val="0A1F3F"/>
          </a:solidFill>
          <a:ln w="12700">
            <a:solidFill>
              <a:srgbClr val="1A3A5C"/>
            </a:solidFill>
            <a:prstDash val="solid"/>
          </a:ln>
        </p:spPr>
      </p:sp>
      <p:sp>
        <p:nvSpPr>
          <p:cNvPr id="31" name="Shape 29"/>
          <p:cNvSpPr/>
          <p:nvPr/>
        </p:nvSpPr>
        <p:spPr>
          <a:xfrm>
            <a:off x="274320" y="4069080"/>
            <a:ext cx="201168" cy="1115568"/>
          </a:xfrm>
          <a:prstGeom prst="rect">
            <a:avLst/>
          </a:prstGeom>
          <a:solidFill>
            <a:srgbClr val="15803D"/>
          </a:solidFill>
          <a:ln w="12700">
            <a:solidFill>
              <a:srgbClr val="15803D"/>
            </a:solidFill>
            <a:prstDash val="solid"/>
          </a:ln>
        </p:spPr>
      </p:sp>
      <p:sp>
        <p:nvSpPr>
          <p:cNvPr id="32" name="Text 30"/>
          <p:cNvSpPr/>
          <p:nvPr/>
        </p:nvSpPr>
        <p:spPr>
          <a:xfrm>
            <a:off x="566928" y="4178808"/>
            <a:ext cx="329184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6%  ₹12L</a:t>
            </a:r>
            <a:endParaRPr lang="en-US" sz="1600" dirty="0"/>
          </a:p>
        </p:txBody>
      </p:sp>
      <p:sp>
        <p:nvSpPr>
          <p:cNvPr id="33" name="Text 31"/>
          <p:cNvSpPr/>
          <p:nvPr/>
        </p:nvSpPr>
        <p:spPr>
          <a:xfrm>
            <a:off x="566928" y="4544568"/>
            <a:ext cx="3291840" cy="292608"/>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Customer Success</a:t>
            </a:r>
            <a:endParaRPr lang="en-US" sz="1100" dirty="0"/>
          </a:p>
        </p:txBody>
      </p:sp>
      <p:sp>
        <p:nvSpPr>
          <p:cNvPr id="34" name="Text 32"/>
          <p:cNvSpPr/>
          <p:nvPr/>
        </p:nvSpPr>
        <p:spPr>
          <a:xfrm>
            <a:off x="566928" y="4818888"/>
            <a:ext cx="3291840" cy="29260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CS Manager + onboarding tools</a:t>
            </a:r>
            <a:endParaRPr lang="en-US" sz="900" dirty="0"/>
          </a:p>
        </p:txBody>
      </p:sp>
      <p:sp>
        <p:nvSpPr>
          <p:cNvPr id="35" name="Shape 33"/>
          <p:cNvSpPr/>
          <p:nvPr/>
        </p:nvSpPr>
        <p:spPr>
          <a:xfrm>
            <a:off x="4206240" y="4069080"/>
            <a:ext cx="3703320" cy="1115568"/>
          </a:xfrm>
          <a:prstGeom prst="rect">
            <a:avLst/>
          </a:prstGeom>
          <a:solidFill>
            <a:srgbClr val="0A1F3F"/>
          </a:solidFill>
          <a:ln w="12700">
            <a:solidFill>
              <a:srgbClr val="1A3A5C"/>
            </a:solidFill>
            <a:prstDash val="solid"/>
          </a:ln>
        </p:spPr>
      </p:sp>
      <p:sp>
        <p:nvSpPr>
          <p:cNvPr id="36" name="Shape 34"/>
          <p:cNvSpPr/>
          <p:nvPr/>
        </p:nvSpPr>
        <p:spPr>
          <a:xfrm>
            <a:off x="4206240" y="4069080"/>
            <a:ext cx="201168" cy="1115568"/>
          </a:xfrm>
          <a:prstGeom prst="rect">
            <a:avLst/>
          </a:prstGeom>
          <a:solidFill>
            <a:srgbClr val="8899BB"/>
          </a:solidFill>
          <a:ln w="12700">
            <a:solidFill>
              <a:srgbClr val="8899BB"/>
            </a:solidFill>
            <a:prstDash val="solid"/>
          </a:ln>
        </p:spPr>
      </p:sp>
      <p:sp>
        <p:nvSpPr>
          <p:cNvPr id="37" name="Text 35"/>
          <p:cNvSpPr/>
          <p:nvPr/>
        </p:nvSpPr>
        <p:spPr>
          <a:xfrm>
            <a:off x="4498848" y="4178808"/>
            <a:ext cx="329184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5%  ₹10L</a:t>
            </a:r>
            <a:endParaRPr lang="en-US" sz="1600" dirty="0"/>
          </a:p>
        </p:txBody>
      </p:sp>
      <p:sp>
        <p:nvSpPr>
          <p:cNvPr id="38" name="Text 36"/>
          <p:cNvSpPr/>
          <p:nvPr/>
        </p:nvSpPr>
        <p:spPr>
          <a:xfrm>
            <a:off x="4498848" y="4544568"/>
            <a:ext cx="3291840" cy="292608"/>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Marketing</a:t>
            </a:r>
            <a:endParaRPr lang="en-US" sz="1100" dirty="0"/>
          </a:p>
        </p:txBody>
      </p:sp>
      <p:sp>
        <p:nvSpPr>
          <p:cNvPr id="39" name="Text 37"/>
          <p:cNvSpPr/>
          <p:nvPr/>
        </p:nvSpPr>
        <p:spPr>
          <a:xfrm>
            <a:off x="4498848" y="4818888"/>
            <a:ext cx="3291840" cy="29260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Digital + LinkedIn + events</a:t>
            </a:r>
            <a:endParaRPr lang="en-US" sz="900" dirty="0"/>
          </a:p>
        </p:txBody>
      </p:sp>
      <p:sp>
        <p:nvSpPr>
          <p:cNvPr id="40" name="Shape 38"/>
          <p:cNvSpPr/>
          <p:nvPr/>
        </p:nvSpPr>
        <p:spPr>
          <a:xfrm>
            <a:off x="8138160" y="4069080"/>
            <a:ext cx="3703320" cy="1115568"/>
          </a:xfrm>
          <a:prstGeom prst="rect">
            <a:avLst/>
          </a:prstGeom>
          <a:solidFill>
            <a:srgbClr val="0A1F3F"/>
          </a:solidFill>
          <a:ln w="12700">
            <a:solidFill>
              <a:srgbClr val="1A3A5C"/>
            </a:solidFill>
            <a:prstDash val="solid"/>
          </a:ln>
        </p:spPr>
      </p:sp>
      <p:sp>
        <p:nvSpPr>
          <p:cNvPr id="41" name="Shape 39"/>
          <p:cNvSpPr/>
          <p:nvPr/>
        </p:nvSpPr>
        <p:spPr>
          <a:xfrm>
            <a:off x="8138160" y="4069080"/>
            <a:ext cx="201168" cy="1115568"/>
          </a:xfrm>
          <a:prstGeom prst="rect">
            <a:avLst/>
          </a:prstGeom>
          <a:solidFill>
            <a:srgbClr val="991B1B"/>
          </a:solidFill>
          <a:ln w="12700">
            <a:solidFill>
              <a:srgbClr val="991B1B"/>
            </a:solidFill>
            <a:prstDash val="solid"/>
          </a:ln>
        </p:spPr>
      </p:sp>
      <p:sp>
        <p:nvSpPr>
          <p:cNvPr id="42" name="Text 40"/>
          <p:cNvSpPr/>
          <p:nvPr/>
        </p:nvSpPr>
        <p:spPr>
          <a:xfrm>
            <a:off x="8430768" y="4178808"/>
            <a:ext cx="3291840"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9%  ₹18L</a:t>
            </a:r>
            <a:endParaRPr lang="en-US" sz="1600" dirty="0"/>
          </a:p>
        </p:txBody>
      </p:sp>
      <p:sp>
        <p:nvSpPr>
          <p:cNvPr id="43" name="Text 41"/>
          <p:cNvSpPr/>
          <p:nvPr/>
        </p:nvSpPr>
        <p:spPr>
          <a:xfrm>
            <a:off x="8430768" y="4544568"/>
            <a:ext cx="3291840" cy="292608"/>
          </a:xfrm>
          <a:prstGeom prst="rect">
            <a:avLst/>
          </a:prstGeom>
          <a:noFill/>
          <a:ln/>
        </p:spPr>
        <p:txBody>
          <a:bodyPr wrap="square" lIns="0" tIns="0" rIns="0" bIns="0" rtlCol="0" anchor="ctr"/>
          <a:lstStyle/>
          <a:p>
            <a:pPr indent="0" marL="0">
              <a:buNone/>
            </a:pPr>
            <a:r>
              <a:rPr lang="en-US" sz="1100" dirty="0">
                <a:solidFill>
                  <a:srgbClr val="CC4500"/>
                </a:solidFill>
                <a:latin typeface="Arial" pitchFamily="34" charset="0"/>
                <a:ea typeface="Arial" pitchFamily="34" charset="-122"/>
                <a:cs typeface="Arial" pitchFamily="34" charset="-120"/>
              </a:rPr>
              <a:t>Emergency Reserve</a:t>
            </a:r>
            <a:endParaRPr lang="en-US" sz="1100" dirty="0"/>
          </a:p>
        </p:txBody>
      </p:sp>
      <p:sp>
        <p:nvSpPr>
          <p:cNvPr id="44" name="Text 42"/>
          <p:cNvSpPr/>
          <p:nvPr/>
        </p:nvSpPr>
        <p:spPr>
          <a:xfrm>
            <a:off x="8430768" y="4818888"/>
            <a:ext cx="3291840" cy="29260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Locked until M15 — existential only</a:t>
            </a:r>
            <a:endParaRPr lang="en-US" sz="900" dirty="0"/>
          </a:p>
        </p:txBody>
      </p:sp>
      <p:sp>
        <p:nvSpPr>
          <p:cNvPr id="45" name="Shape 43"/>
          <p:cNvSpPr/>
          <p:nvPr/>
        </p:nvSpPr>
        <p:spPr>
          <a:xfrm>
            <a:off x="274320" y="5349240"/>
            <a:ext cx="11612880" cy="256032"/>
          </a:xfrm>
          <a:prstGeom prst="rect">
            <a:avLst/>
          </a:prstGeom>
          <a:solidFill>
            <a:srgbClr val="1A3A5C"/>
          </a:solidFill>
          <a:ln w="12700">
            <a:solidFill>
              <a:srgbClr val="1A3A5C"/>
            </a:solidFill>
            <a:prstDash val="solid"/>
          </a:ln>
        </p:spPr>
      </p:sp>
      <p:sp>
        <p:nvSpPr>
          <p:cNvPr id="46" name="Text 44"/>
          <p:cNvSpPr/>
          <p:nvPr/>
        </p:nvSpPr>
        <p:spPr>
          <a:xfrm>
            <a:off x="274320" y="5349240"/>
            <a:ext cx="11612880" cy="256032"/>
          </a:xfrm>
          <a:prstGeom prst="rect">
            <a:avLst/>
          </a:prstGeom>
          <a:noFill/>
          <a:ln/>
        </p:spPr>
        <p:txBody>
          <a:bodyPr wrap="square" lIns="0" tIns="0" rIns="0" bIns="0" rtlCol="0" anchor="ctr"/>
          <a:lstStyle/>
          <a:p>
            <a:pPr algn="ctr" indent="0" marL="0">
              <a:buNone/>
            </a:pPr>
            <a:r>
              <a:rPr lang="en-US" sz="1000" b="1" spc="300" kern="0" dirty="0">
                <a:solidFill>
                  <a:srgbClr val="CC4500"/>
                </a:solidFill>
                <a:latin typeface="Arial" pitchFamily="34" charset="0"/>
                <a:ea typeface="Arial" pitchFamily="34" charset="-122"/>
                <a:cs typeface="Arial" pitchFamily="34" charset="-120"/>
              </a:rPr>
              <a:t>WHAT THIS CAPITAL ACHIEVES IN 18 MONTHS</a:t>
            </a:r>
            <a:endParaRPr lang="en-US" sz="1000" dirty="0"/>
          </a:p>
        </p:txBody>
      </p:sp>
      <p:sp>
        <p:nvSpPr>
          <p:cNvPr id="47" name="Shape 45"/>
          <p:cNvSpPr/>
          <p:nvPr/>
        </p:nvSpPr>
        <p:spPr>
          <a:xfrm>
            <a:off x="320040" y="5669280"/>
            <a:ext cx="2267712" cy="685800"/>
          </a:xfrm>
          <a:prstGeom prst="rect">
            <a:avLst/>
          </a:prstGeom>
          <a:solidFill>
            <a:srgbClr val="0A1F3F"/>
          </a:solidFill>
          <a:ln w="12700">
            <a:solidFill>
              <a:srgbClr val="CC4500"/>
            </a:solidFill>
            <a:prstDash val="solid"/>
          </a:ln>
        </p:spPr>
      </p:sp>
      <p:sp>
        <p:nvSpPr>
          <p:cNvPr id="48" name="Text 46"/>
          <p:cNvSpPr/>
          <p:nvPr/>
        </p:nvSpPr>
        <p:spPr>
          <a:xfrm>
            <a:off x="411480" y="5687568"/>
            <a:ext cx="548640" cy="228600"/>
          </a:xfrm>
          <a:prstGeom prst="rect">
            <a:avLst/>
          </a:prstGeom>
          <a:noFill/>
          <a:ln/>
        </p:spPr>
        <p:txBody>
          <a:bodyPr wrap="square" lIns="0" tIns="0" rIns="0" bIns="0" rtlCol="0" anchor="ctr"/>
          <a:lstStyle/>
          <a:p>
            <a:pPr indent="0" marL="0">
              <a:buNone/>
            </a:pPr>
            <a:r>
              <a:rPr lang="en-US" sz="900" b="1" dirty="0">
                <a:solidFill>
                  <a:srgbClr val="CC4500"/>
                </a:solidFill>
                <a:latin typeface="Arial" pitchFamily="34" charset="0"/>
                <a:ea typeface="Arial" pitchFamily="34" charset="-122"/>
                <a:cs typeface="Arial" pitchFamily="34" charset="-120"/>
              </a:rPr>
              <a:t>M3</a:t>
            </a:r>
            <a:endParaRPr lang="en-US" sz="900" dirty="0"/>
          </a:p>
        </p:txBody>
      </p:sp>
      <p:sp>
        <p:nvSpPr>
          <p:cNvPr id="49" name="Text 47"/>
          <p:cNvSpPr/>
          <p:nvPr/>
        </p:nvSpPr>
        <p:spPr>
          <a:xfrm>
            <a:off x="411480" y="5907024"/>
            <a:ext cx="210312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MVP Live</a:t>
            </a:r>
            <a:endParaRPr lang="en-US" sz="1100" dirty="0"/>
          </a:p>
        </p:txBody>
      </p:sp>
      <p:sp>
        <p:nvSpPr>
          <p:cNvPr id="50" name="Text 48"/>
          <p:cNvSpPr/>
          <p:nvPr/>
        </p:nvSpPr>
        <p:spPr>
          <a:xfrm>
            <a:off x="411480" y="6108192"/>
            <a:ext cx="2103120" cy="20116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5 pilot dealers</a:t>
            </a:r>
            <a:endParaRPr lang="en-US" sz="900" dirty="0"/>
          </a:p>
        </p:txBody>
      </p:sp>
      <p:sp>
        <p:nvSpPr>
          <p:cNvPr id="51" name="Shape 49"/>
          <p:cNvSpPr/>
          <p:nvPr/>
        </p:nvSpPr>
        <p:spPr>
          <a:xfrm>
            <a:off x="2679192" y="5669280"/>
            <a:ext cx="2267712" cy="685800"/>
          </a:xfrm>
          <a:prstGeom prst="rect">
            <a:avLst/>
          </a:prstGeom>
          <a:solidFill>
            <a:srgbClr val="0A1F3F"/>
          </a:solidFill>
          <a:ln w="12700">
            <a:solidFill>
              <a:srgbClr val="CC4500"/>
            </a:solidFill>
            <a:prstDash val="solid"/>
          </a:ln>
        </p:spPr>
      </p:sp>
      <p:sp>
        <p:nvSpPr>
          <p:cNvPr id="52" name="Text 50"/>
          <p:cNvSpPr/>
          <p:nvPr/>
        </p:nvSpPr>
        <p:spPr>
          <a:xfrm>
            <a:off x="2770632" y="5687568"/>
            <a:ext cx="548640" cy="228600"/>
          </a:xfrm>
          <a:prstGeom prst="rect">
            <a:avLst/>
          </a:prstGeom>
          <a:noFill/>
          <a:ln/>
        </p:spPr>
        <p:txBody>
          <a:bodyPr wrap="square" lIns="0" tIns="0" rIns="0" bIns="0" rtlCol="0" anchor="ctr"/>
          <a:lstStyle/>
          <a:p>
            <a:pPr indent="0" marL="0">
              <a:buNone/>
            </a:pPr>
            <a:r>
              <a:rPr lang="en-US" sz="900" b="1" dirty="0">
                <a:solidFill>
                  <a:srgbClr val="CC4500"/>
                </a:solidFill>
                <a:latin typeface="Arial" pitchFamily="34" charset="0"/>
                <a:ea typeface="Arial" pitchFamily="34" charset="-122"/>
                <a:cs typeface="Arial" pitchFamily="34" charset="-120"/>
              </a:rPr>
              <a:t>M6</a:t>
            </a:r>
            <a:endParaRPr lang="en-US" sz="900" dirty="0"/>
          </a:p>
        </p:txBody>
      </p:sp>
      <p:sp>
        <p:nvSpPr>
          <p:cNvPr id="53" name="Text 51"/>
          <p:cNvSpPr/>
          <p:nvPr/>
        </p:nvSpPr>
        <p:spPr>
          <a:xfrm>
            <a:off x="2770632" y="5907024"/>
            <a:ext cx="210312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PMF Signal</a:t>
            </a:r>
            <a:endParaRPr lang="en-US" sz="1100" dirty="0"/>
          </a:p>
        </p:txBody>
      </p:sp>
      <p:sp>
        <p:nvSpPr>
          <p:cNvPr id="54" name="Text 52"/>
          <p:cNvSpPr/>
          <p:nvPr/>
        </p:nvSpPr>
        <p:spPr>
          <a:xfrm>
            <a:off x="2770632" y="6108192"/>
            <a:ext cx="2103120" cy="20116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30 dealers, NPS&gt;40</a:t>
            </a:r>
            <a:endParaRPr lang="en-US" sz="900" dirty="0"/>
          </a:p>
        </p:txBody>
      </p:sp>
      <p:sp>
        <p:nvSpPr>
          <p:cNvPr id="55" name="Shape 53"/>
          <p:cNvSpPr/>
          <p:nvPr/>
        </p:nvSpPr>
        <p:spPr>
          <a:xfrm>
            <a:off x="5038344" y="5669280"/>
            <a:ext cx="2267712" cy="685800"/>
          </a:xfrm>
          <a:prstGeom prst="rect">
            <a:avLst/>
          </a:prstGeom>
          <a:solidFill>
            <a:srgbClr val="0A1F3F"/>
          </a:solidFill>
          <a:ln w="12700">
            <a:solidFill>
              <a:srgbClr val="CC4500"/>
            </a:solidFill>
            <a:prstDash val="solid"/>
          </a:ln>
        </p:spPr>
      </p:sp>
      <p:sp>
        <p:nvSpPr>
          <p:cNvPr id="56" name="Text 54"/>
          <p:cNvSpPr/>
          <p:nvPr/>
        </p:nvSpPr>
        <p:spPr>
          <a:xfrm>
            <a:off x="5129784" y="5687568"/>
            <a:ext cx="548640" cy="228600"/>
          </a:xfrm>
          <a:prstGeom prst="rect">
            <a:avLst/>
          </a:prstGeom>
          <a:noFill/>
          <a:ln/>
        </p:spPr>
        <p:txBody>
          <a:bodyPr wrap="square" lIns="0" tIns="0" rIns="0" bIns="0" rtlCol="0" anchor="ctr"/>
          <a:lstStyle/>
          <a:p>
            <a:pPr indent="0" marL="0">
              <a:buNone/>
            </a:pPr>
            <a:r>
              <a:rPr lang="en-US" sz="900" b="1" dirty="0">
                <a:solidFill>
                  <a:srgbClr val="CC4500"/>
                </a:solidFill>
                <a:latin typeface="Arial" pitchFamily="34" charset="0"/>
                <a:ea typeface="Arial" pitchFamily="34" charset="-122"/>
                <a:cs typeface="Arial" pitchFamily="34" charset="-120"/>
              </a:rPr>
              <a:t>M9</a:t>
            </a:r>
            <a:endParaRPr lang="en-US" sz="900" dirty="0"/>
          </a:p>
        </p:txBody>
      </p:sp>
      <p:sp>
        <p:nvSpPr>
          <p:cNvPr id="57" name="Text 55"/>
          <p:cNvSpPr/>
          <p:nvPr/>
        </p:nvSpPr>
        <p:spPr>
          <a:xfrm>
            <a:off x="5129784" y="5907024"/>
            <a:ext cx="210312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Series A Prep</a:t>
            </a:r>
            <a:endParaRPr lang="en-US" sz="1100" dirty="0"/>
          </a:p>
        </p:txBody>
      </p:sp>
      <p:sp>
        <p:nvSpPr>
          <p:cNvPr id="58" name="Text 56"/>
          <p:cNvSpPr/>
          <p:nvPr/>
        </p:nvSpPr>
        <p:spPr>
          <a:xfrm>
            <a:off x="5129784" y="6108192"/>
            <a:ext cx="2103120" cy="20116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₹3.6L MRR</a:t>
            </a:r>
            <a:endParaRPr lang="en-US" sz="900" dirty="0"/>
          </a:p>
        </p:txBody>
      </p:sp>
      <p:sp>
        <p:nvSpPr>
          <p:cNvPr id="59" name="Shape 57"/>
          <p:cNvSpPr/>
          <p:nvPr/>
        </p:nvSpPr>
        <p:spPr>
          <a:xfrm>
            <a:off x="7397496" y="5669280"/>
            <a:ext cx="2267712" cy="685800"/>
          </a:xfrm>
          <a:prstGeom prst="rect">
            <a:avLst/>
          </a:prstGeom>
          <a:solidFill>
            <a:srgbClr val="0A1F3F"/>
          </a:solidFill>
          <a:ln w="12700">
            <a:solidFill>
              <a:srgbClr val="CC4500"/>
            </a:solidFill>
            <a:prstDash val="solid"/>
          </a:ln>
        </p:spPr>
      </p:sp>
      <p:sp>
        <p:nvSpPr>
          <p:cNvPr id="60" name="Text 58"/>
          <p:cNvSpPr/>
          <p:nvPr/>
        </p:nvSpPr>
        <p:spPr>
          <a:xfrm>
            <a:off x="7488936" y="5687568"/>
            <a:ext cx="548640" cy="228600"/>
          </a:xfrm>
          <a:prstGeom prst="rect">
            <a:avLst/>
          </a:prstGeom>
          <a:noFill/>
          <a:ln/>
        </p:spPr>
        <p:txBody>
          <a:bodyPr wrap="square" lIns="0" tIns="0" rIns="0" bIns="0" rtlCol="0" anchor="ctr"/>
          <a:lstStyle/>
          <a:p>
            <a:pPr indent="0" marL="0">
              <a:buNone/>
            </a:pPr>
            <a:r>
              <a:rPr lang="en-US" sz="900" b="1" dirty="0">
                <a:solidFill>
                  <a:srgbClr val="CC4500"/>
                </a:solidFill>
                <a:latin typeface="Arial" pitchFamily="34" charset="0"/>
                <a:ea typeface="Arial" pitchFamily="34" charset="-122"/>
                <a:cs typeface="Arial" pitchFamily="34" charset="-120"/>
              </a:rPr>
              <a:t>M12</a:t>
            </a:r>
            <a:endParaRPr lang="en-US" sz="900" dirty="0"/>
          </a:p>
        </p:txBody>
      </p:sp>
      <p:sp>
        <p:nvSpPr>
          <p:cNvPr id="61" name="Text 59"/>
          <p:cNvSpPr/>
          <p:nvPr/>
        </p:nvSpPr>
        <p:spPr>
          <a:xfrm>
            <a:off x="7488936" y="5907024"/>
            <a:ext cx="210312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Scale TN</a:t>
            </a:r>
            <a:endParaRPr lang="en-US" sz="1100" dirty="0"/>
          </a:p>
        </p:txBody>
      </p:sp>
      <p:sp>
        <p:nvSpPr>
          <p:cNvPr id="62" name="Text 60"/>
          <p:cNvSpPr/>
          <p:nvPr/>
        </p:nvSpPr>
        <p:spPr>
          <a:xfrm>
            <a:off x="7488936" y="6108192"/>
            <a:ext cx="2103120" cy="20116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80 dealers</a:t>
            </a:r>
            <a:endParaRPr lang="en-US" sz="900" dirty="0"/>
          </a:p>
        </p:txBody>
      </p:sp>
      <p:sp>
        <p:nvSpPr>
          <p:cNvPr id="63" name="Shape 61"/>
          <p:cNvSpPr/>
          <p:nvPr/>
        </p:nvSpPr>
        <p:spPr>
          <a:xfrm>
            <a:off x="9756648" y="5669280"/>
            <a:ext cx="2267712" cy="685800"/>
          </a:xfrm>
          <a:prstGeom prst="rect">
            <a:avLst/>
          </a:prstGeom>
          <a:solidFill>
            <a:srgbClr val="0A1F3F"/>
          </a:solidFill>
          <a:ln w="12700">
            <a:solidFill>
              <a:srgbClr val="CC4500"/>
            </a:solidFill>
            <a:prstDash val="solid"/>
          </a:ln>
        </p:spPr>
      </p:sp>
      <p:sp>
        <p:nvSpPr>
          <p:cNvPr id="64" name="Text 62"/>
          <p:cNvSpPr/>
          <p:nvPr/>
        </p:nvSpPr>
        <p:spPr>
          <a:xfrm>
            <a:off x="9848088" y="5687568"/>
            <a:ext cx="548640" cy="228600"/>
          </a:xfrm>
          <a:prstGeom prst="rect">
            <a:avLst/>
          </a:prstGeom>
          <a:noFill/>
          <a:ln/>
        </p:spPr>
        <p:txBody>
          <a:bodyPr wrap="square" lIns="0" tIns="0" rIns="0" bIns="0" rtlCol="0" anchor="ctr"/>
          <a:lstStyle/>
          <a:p>
            <a:pPr indent="0" marL="0">
              <a:buNone/>
            </a:pPr>
            <a:r>
              <a:rPr lang="en-US" sz="900" b="1" dirty="0">
                <a:solidFill>
                  <a:srgbClr val="CC4500"/>
                </a:solidFill>
                <a:latin typeface="Arial" pitchFamily="34" charset="0"/>
                <a:ea typeface="Arial" pitchFamily="34" charset="-122"/>
                <a:cs typeface="Arial" pitchFamily="34" charset="-120"/>
              </a:rPr>
              <a:t>M18</a:t>
            </a:r>
            <a:endParaRPr lang="en-US" sz="900" dirty="0"/>
          </a:p>
        </p:txBody>
      </p:sp>
      <p:sp>
        <p:nvSpPr>
          <p:cNvPr id="65" name="Text 63"/>
          <p:cNvSpPr/>
          <p:nvPr/>
        </p:nvSpPr>
        <p:spPr>
          <a:xfrm>
            <a:off x="9848088" y="5907024"/>
            <a:ext cx="2103120" cy="2286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Series A Close</a:t>
            </a:r>
            <a:endParaRPr lang="en-US" sz="1100" dirty="0"/>
          </a:p>
        </p:txBody>
      </p:sp>
      <p:sp>
        <p:nvSpPr>
          <p:cNvPr id="66" name="Text 64"/>
          <p:cNvSpPr/>
          <p:nvPr/>
        </p:nvSpPr>
        <p:spPr>
          <a:xfrm>
            <a:off x="9848088" y="6108192"/>
            <a:ext cx="2103120" cy="201168"/>
          </a:xfrm>
          <a:prstGeom prst="rect">
            <a:avLst/>
          </a:prstGeom>
          <a:noFill/>
          <a:ln/>
        </p:spPr>
        <p:txBody>
          <a:bodyPr wrap="square" lIns="0" tIns="0" rIns="0" bIns="0" rtlCol="0" anchor="ctr"/>
          <a:lstStyle/>
          <a:p>
            <a:pPr indent="0" marL="0">
              <a:buNone/>
            </a:pPr>
            <a:r>
              <a:rPr lang="en-US" sz="900" dirty="0">
                <a:solidFill>
                  <a:srgbClr val="8899BB"/>
                </a:solidFill>
                <a:latin typeface="Arial" pitchFamily="34" charset="0"/>
                <a:ea typeface="Arial" pitchFamily="34" charset="-122"/>
                <a:cs typeface="Arial" pitchFamily="34" charset="-120"/>
              </a:rPr>
              <a:t>₹15–25Cr target</a:t>
            </a:r>
            <a:endParaRPr lang="en-US" sz="900" dirty="0"/>
          </a:p>
        </p:txBody>
      </p:sp>
      <p:sp>
        <p:nvSpPr>
          <p:cNvPr id="67" name="Shape 65"/>
          <p:cNvSpPr/>
          <p:nvPr/>
        </p:nvSpPr>
        <p:spPr>
          <a:xfrm>
            <a:off x="8686800" y="530352"/>
            <a:ext cx="3200400" cy="4736592"/>
          </a:xfrm>
          <a:prstGeom prst="rect">
            <a:avLst/>
          </a:prstGeom>
          <a:solidFill>
            <a:srgbClr val="CC4500"/>
          </a:solidFill>
          <a:ln w="12700">
            <a:solidFill>
              <a:srgbClr val="CC4500"/>
            </a:solidFill>
            <a:prstDash val="solid"/>
          </a:ln>
        </p:spPr>
      </p:sp>
      <p:sp>
        <p:nvSpPr>
          <p:cNvPr id="68" name="Text 66"/>
          <p:cNvSpPr/>
          <p:nvPr/>
        </p:nvSpPr>
        <p:spPr>
          <a:xfrm>
            <a:off x="8778240" y="658368"/>
            <a:ext cx="3017520" cy="7315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INVESTOR</a:t>
            </a:r>
            <a:endParaRPr lang="en-US" sz="1300" dirty="0"/>
          </a:p>
          <a:p>
            <a:pPr algn="ctr" indent="0" marL="0">
              <a:buNone/>
            </a:pPr>
            <a:r>
              <a:rPr lang="en-US" sz="1300" b="1" spc="200" kern="0" dirty="0">
                <a:solidFill>
                  <a:srgbClr val="FFFFFF"/>
                </a:solidFill>
                <a:latin typeface="Arial" pitchFamily="34" charset="0"/>
                <a:ea typeface="Arial" pitchFamily="34" charset="-122"/>
                <a:cs typeface="Arial" pitchFamily="34" charset="-120"/>
              </a:rPr>
              <a:t>OPPORTUNITY</a:t>
            </a:r>
            <a:endParaRPr lang="en-US" sz="1300" dirty="0"/>
          </a:p>
        </p:txBody>
      </p:sp>
      <p:sp>
        <p:nvSpPr>
          <p:cNvPr id="69" name="Shape 67"/>
          <p:cNvSpPr/>
          <p:nvPr/>
        </p:nvSpPr>
        <p:spPr>
          <a:xfrm>
            <a:off x="8869680" y="1417320"/>
            <a:ext cx="2743200" cy="0"/>
          </a:xfrm>
          <a:prstGeom prst="line">
            <a:avLst/>
          </a:prstGeom>
          <a:noFill/>
          <a:ln w="12700">
            <a:solidFill>
              <a:srgbClr val="FFFFFF">
                <a:alpha val="60000"/>
              </a:srgbClr>
            </a:solidFill>
            <a:prstDash val="solid"/>
          </a:ln>
        </p:spPr>
      </p:sp>
      <p:sp>
        <p:nvSpPr>
          <p:cNvPr id="70" name="Text 68"/>
          <p:cNvSpPr/>
          <p:nvPr/>
        </p:nvSpPr>
        <p:spPr>
          <a:xfrm>
            <a:off x="8778240" y="1554480"/>
            <a:ext cx="301752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 Crore</a:t>
            </a:r>
            <a:endParaRPr lang="en-US" sz="1800" dirty="0"/>
          </a:p>
        </p:txBody>
      </p:sp>
      <p:sp>
        <p:nvSpPr>
          <p:cNvPr id="71" name="Text 69"/>
          <p:cNvSpPr/>
          <p:nvPr/>
        </p:nvSpPr>
        <p:spPr>
          <a:xfrm>
            <a:off x="8778240" y="1828800"/>
            <a:ext cx="3017520" cy="256032"/>
          </a:xfrm>
          <a:prstGeom prst="rect">
            <a:avLst/>
          </a:prstGeom>
          <a:noFill/>
          <a:ln/>
        </p:spPr>
        <p:txBody>
          <a:bodyPr wrap="square" lIns="0" tIns="0" rIns="0" bIns="0" rtlCol="0" anchor="ctr"/>
          <a:lstStyle/>
          <a:p>
            <a:pPr algn="ctr" indent="0" marL="0">
              <a:buNone/>
            </a:pPr>
            <a:r>
              <a:rPr lang="en-US" sz="900" dirty="0">
                <a:solidFill>
                  <a:srgbClr val="FFDDCC"/>
                </a:solidFill>
                <a:latin typeface="Arial" pitchFamily="34" charset="0"/>
                <a:ea typeface="Arial" pitchFamily="34" charset="-122"/>
                <a:cs typeface="Arial" pitchFamily="34" charset="-120"/>
              </a:rPr>
              <a:t>Pre-Seed Investment</a:t>
            </a:r>
            <a:endParaRPr lang="en-US" sz="900" dirty="0"/>
          </a:p>
        </p:txBody>
      </p:sp>
      <p:sp>
        <p:nvSpPr>
          <p:cNvPr id="72" name="Text 70"/>
          <p:cNvSpPr/>
          <p:nvPr/>
        </p:nvSpPr>
        <p:spPr>
          <a:xfrm>
            <a:off x="8778240" y="2103120"/>
            <a:ext cx="301752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 Crore</a:t>
            </a:r>
            <a:endParaRPr lang="en-US" sz="1800" dirty="0"/>
          </a:p>
        </p:txBody>
      </p:sp>
      <p:sp>
        <p:nvSpPr>
          <p:cNvPr id="73" name="Text 71"/>
          <p:cNvSpPr/>
          <p:nvPr/>
        </p:nvSpPr>
        <p:spPr>
          <a:xfrm>
            <a:off x="8778240" y="2377440"/>
            <a:ext cx="3017520" cy="256032"/>
          </a:xfrm>
          <a:prstGeom prst="rect">
            <a:avLst/>
          </a:prstGeom>
          <a:noFill/>
          <a:ln/>
        </p:spPr>
        <p:txBody>
          <a:bodyPr wrap="square" lIns="0" tIns="0" rIns="0" bIns="0" rtlCol="0" anchor="ctr"/>
          <a:lstStyle/>
          <a:p>
            <a:pPr algn="ctr" indent="0" marL="0">
              <a:buNone/>
            </a:pPr>
            <a:r>
              <a:rPr lang="en-US" sz="900" dirty="0">
                <a:solidFill>
                  <a:srgbClr val="FFDDCC"/>
                </a:solidFill>
                <a:latin typeface="Arial" pitchFamily="34" charset="0"/>
                <a:ea typeface="Arial" pitchFamily="34" charset="-122"/>
                <a:cs typeface="Arial" pitchFamily="34" charset="-120"/>
              </a:rPr>
              <a:t>Pre-Money Valuation</a:t>
            </a:r>
            <a:endParaRPr lang="en-US" sz="900" dirty="0"/>
          </a:p>
        </p:txBody>
      </p:sp>
      <p:sp>
        <p:nvSpPr>
          <p:cNvPr id="74" name="Text 72"/>
          <p:cNvSpPr/>
          <p:nvPr/>
        </p:nvSpPr>
        <p:spPr>
          <a:xfrm>
            <a:off x="8778240" y="2651760"/>
            <a:ext cx="301752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16.7%</a:t>
            </a:r>
            <a:endParaRPr lang="en-US" sz="1800" dirty="0"/>
          </a:p>
        </p:txBody>
      </p:sp>
      <p:sp>
        <p:nvSpPr>
          <p:cNvPr id="75" name="Text 73"/>
          <p:cNvSpPr/>
          <p:nvPr/>
        </p:nvSpPr>
        <p:spPr>
          <a:xfrm>
            <a:off x="8778240" y="2926080"/>
            <a:ext cx="3017520" cy="256032"/>
          </a:xfrm>
          <a:prstGeom prst="rect">
            <a:avLst/>
          </a:prstGeom>
          <a:noFill/>
          <a:ln/>
        </p:spPr>
        <p:txBody>
          <a:bodyPr wrap="square" lIns="0" tIns="0" rIns="0" bIns="0" rtlCol="0" anchor="ctr"/>
          <a:lstStyle/>
          <a:p>
            <a:pPr algn="ctr" indent="0" marL="0">
              <a:buNone/>
            </a:pPr>
            <a:r>
              <a:rPr lang="en-US" sz="900" dirty="0">
                <a:solidFill>
                  <a:srgbClr val="FFDDCC"/>
                </a:solidFill>
                <a:latin typeface="Arial" pitchFamily="34" charset="0"/>
                <a:ea typeface="Arial" pitchFamily="34" charset="-122"/>
                <a:cs typeface="Arial" pitchFamily="34" charset="-120"/>
              </a:rPr>
              <a:t>Equity at this price</a:t>
            </a:r>
            <a:endParaRPr lang="en-US" sz="900" dirty="0"/>
          </a:p>
        </p:txBody>
      </p:sp>
      <p:sp>
        <p:nvSpPr>
          <p:cNvPr id="76" name="Text 74"/>
          <p:cNvSpPr/>
          <p:nvPr/>
        </p:nvSpPr>
        <p:spPr>
          <a:xfrm>
            <a:off x="8778240" y="3200400"/>
            <a:ext cx="301752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₹40 Crore</a:t>
            </a:r>
            <a:endParaRPr lang="en-US" sz="1800" dirty="0"/>
          </a:p>
        </p:txBody>
      </p:sp>
      <p:sp>
        <p:nvSpPr>
          <p:cNvPr id="77" name="Text 75"/>
          <p:cNvSpPr/>
          <p:nvPr/>
        </p:nvSpPr>
        <p:spPr>
          <a:xfrm>
            <a:off x="8778240" y="3474720"/>
            <a:ext cx="3017520" cy="256032"/>
          </a:xfrm>
          <a:prstGeom prst="rect">
            <a:avLst/>
          </a:prstGeom>
          <a:noFill/>
          <a:ln/>
        </p:spPr>
        <p:txBody>
          <a:bodyPr wrap="square" lIns="0" tIns="0" rIns="0" bIns="0" rtlCol="0" anchor="ctr"/>
          <a:lstStyle/>
          <a:p>
            <a:pPr algn="ctr" indent="0" marL="0">
              <a:buNone/>
            </a:pPr>
            <a:r>
              <a:rPr lang="en-US" sz="900" dirty="0">
                <a:solidFill>
                  <a:srgbClr val="FFDDCC"/>
                </a:solidFill>
                <a:latin typeface="Arial" pitchFamily="34" charset="0"/>
                <a:ea typeface="Arial" pitchFamily="34" charset="-122"/>
                <a:cs typeface="Arial" pitchFamily="34" charset="-120"/>
              </a:rPr>
              <a:t>Expected Y3 ARR</a:t>
            </a:r>
            <a:endParaRPr lang="en-US" sz="900" dirty="0"/>
          </a:p>
        </p:txBody>
      </p:sp>
      <p:sp>
        <p:nvSpPr>
          <p:cNvPr id="78" name="Text 76"/>
          <p:cNvSpPr/>
          <p:nvPr/>
        </p:nvSpPr>
        <p:spPr>
          <a:xfrm>
            <a:off x="8778240" y="3749040"/>
            <a:ext cx="301752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10–20×</a:t>
            </a:r>
            <a:endParaRPr lang="en-US" sz="1800" dirty="0"/>
          </a:p>
        </p:txBody>
      </p:sp>
      <p:sp>
        <p:nvSpPr>
          <p:cNvPr id="79" name="Text 77"/>
          <p:cNvSpPr/>
          <p:nvPr/>
        </p:nvSpPr>
        <p:spPr>
          <a:xfrm>
            <a:off x="8778240" y="4023360"/>
            <a:ext cx="3017520" cy="256032"/>
          </a:xfrm>
          <a:prstGeom prst="rect">
            <a:avLst/>
          </a:prstGeom>
          <a:noFill/>
          <a:ln/>
        </p:spPr>
        <p:txBody>
          <a:bodyPr wrap="square" lIns="0" tIns="0" rIns="0" bIns="0" rtlCol="0" anchor="ctr"/>
          <a:lstStyle/>
          <a:p>
            <a:pPr algn="ctr" indent="0" marL="0">
              <a:buNone/>
            </a:pPr>
            <a:r>
              <a:rPr lang="en-US" sz="900" dirty="0">
                <a:solidFill>
                  <a:srgbClr val="FFDDCC"/>
                </a:solidFill>
                <a:latin typeface="Arial" pitchFamily="34" charset="0"/>
                <a:ea typeface="Arial" pitchFamily="34" charset="-122"/>
                <a:cs typeface="Arial" pitchFamily="34" charset="-120"/>
              </a:rPr>
              <a:t>Target return (5-year)</a:t>
            </a:r>
            <a:endParaRPr lang="en-US" sz="900" dirty="0"/>
          </a:p>
        </p:txBody>
      </p:sp>
      <p:sp>
        <p:nvSpPr>
          <p:cNvPr id="80" name="Text 78"/>
          <p:cNvSpPr/>
          <p:nvPr/>
        </p:nvSpPr>
        <p:spPr>
          <a:xfrm>
            <a:off x="8778240" y="4297680"/>
            <a:ext cx="301752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₹600Cr+</a:t>
            </a:r>
            <a:endParaRPr lang="en-US" sz="1800" dirty="0"/>
          </a:p>
        </p:txBody>
      </p:sp>
      <p:sp>
        <p:nvSpPr>
          <p:cNvPr id="81" name="Text 79"/>
          <p:cNvSpPr/>
          <p:nvPr/>
        </p:nvSpPr>
        <p:spPr>
          <a:xfrm>
            <a:off x="8778240" y="4572000"/>
            <a:ext cx="3017520" cy="256032"/>
          </a:xfrm>
          <a:prstGeom prst="rect">
            <a:avLst/>
          </a:prstGeom>
          <a:noFill/>
          <a:ln/>
        </p:spPr>
        <p:txBody>
          <a:bodyPr wrap="square" lIns="0" tIns="0" rIns="0" bIns="0" rtlCol="0" anchor="ctr"/>
          <a:lstStyle/>
          <a:p>
            <a:pPr algn="ctr" indent="0" marL="0">
              <a:buNone/>
            </a:pPr>
            <a:r>
              <a:rPr lang="en-US" sz="900" dirty="0">
                <a:solidFill>
                  <a:srgbClr val="FFDDCC"/>
                </a:solidFill>
                <a:latin typeface="Arial" pitchFamily="34" charset="0"/>
                <a:ea typeface="Arial" pitchFamily="34" charset="-122"/>
                <a:cs typeface="Arial" pitchFamily="34" charset="-120"/>
              </a:rPr>
              <a:t>Exit scenario at 15× ARR</a:t>
            </a:r>
            <a:endParaRPr lang="en-US" sz="900" dirty="0"/>
          </a:p>
        </p:txBody>
      </p:sp>
      <p:sp>
        <p:nvSpPr>
          <p:cNvPr id="82" name="Shape 80"/>
          <p:cNvSpPr/>
          <p:nvPr/>
        </p:nvSpPr>
        <p:spPr>
          <a:xfrm>
            <a:off x="8686800" y="5349240"/>
            <a:ext cx="3200400" cy="1371600"/>
          </a:xfrm>
          <a:prstGeom prst="rect">
            <a:avLst/>
          </a:prstGeom>
          <a:solidFill>
            <a:srgbClr val="0A1F3F"/>
          </a:solidFill>
          <a:ln w="12700">
            <a:solidFill>
              <a:srgbClr val="1A3A5C"/>
            </a:solidFill>
            <a:prstDash val="solid"/>
          </a:ln>
        </p:spPr>
      </p:sp>
      <p:sp>
        <p:nvSpPr>
          <p:cNvPr id="83" name="Text 81"/>
          <p:cNvSpPr/>
          <p:nvPr/>
        </p:nvSpPr>
        <p:spPr>
          <a:xfrm>
            <a:off x="8778240" y="5413248"/>
            <a:ext cx="30175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SJ — Santhosh Jecob</a:t>
            </a:r>
            <a:endParaRPr lang="en-US" sz="1300" dirty="0"/>
          </a:p>
        </p:txBody>
      </p:sp>
      <p:sp>
        <p:nvSpPr>
          <p:cNvPr id="84" name="Text 82"/>
          <p:cNvSpPr/>
          <p:nvPr/>
        </p:nvSpPr>
        <p:spPr>
          <a:xfrm>
            <a:off x="8778240" y="5715000"/>
            <a:ext cx="3017520" cy="256032"/>
          </a:xfrm>
          <a:prstGeom prst="rect">
            <a:avLst/>
          </a:prstGeom>
          <a:noFill/>
          <a:ln/>
        </p:spPr>
        <p:txBody>
          <a:bodyPr wrap="square" lIns="0" tIns="0" rIns="0" bIns="0" rtlCol="0" anchor="ctr"/>
          <a:lstStyle/>
          <a:p>
            <a:pPr algn="ctr" indent="0" marL="0">
              <a:buNone/>
            </a:pPr>
            <a:r>
              <a:rPr lang="en-US" sz="1100" dirty="0">
                <a:solidFill>
                  <a:srgbClr val="CC4500"/>
                </a:solidFill>
                <a:latin typeface="Arial" pitchFamily="34" charset="0"/>
                <a:ea typeface="Arial" pitchFamily="34" charset="-122"/>
                <a:cs typeface="Arial" pitchFamily="34" charset="-120"/>
              </a:rPr>
              <a:t>sj@autoera.ai</a:t>
            </a:r>
            <a:endParaRPr lang="en-US" sz="1100" dirty="0"/>
          </a:p>
        </p:txBody>
      </p:sp>
      <p:sp>
        <p:nvSpPr>
          <p:cNvPr id="85" name="Text 83"/>
          <p:cNvSpPr/>
          <p:nvPr/>
        </p:nvSpPr>
        <p:spPr>
          <a:xfrm>
            <a:off x="8778240" y="5961888"/>
            <a:ext cx="3017520" cy="256032"/>
          </a:xfrm>
          <a:prstGeom prst="rect">
            <a:avLst/>
          </a:prstGeom>
          <a:noFill/>
          <a:ln/>
        </p:spPr>
        <p:txBody>
          <a:bodyPr wrap="square" lIns="0" tIns="0" rIns="0" bIns="0" rtlCol="0" anchor="ctr"/>
          <a:lstStyle/>
          <a:p>
            <a:pPr algn="ctr" indent="0" marL="0">
              <a:buNone/>
            </a:pPr>
            <a:r>
              <a:rPr lang="en-US" sz="1100" dirty="0">
                <a:solidFill>
                  <a:srgbClr val="8899BB"/>
                </a:solidFill>
                <a:latin typeface="Arial" pitchFamily="34" charset="0"/>
                <a:ea typeface="Arial" pitchFamily="34" charset="-122"/>
                <a:cs typeface="Arial" pitchFamily="34" charset="-120"/>
              </a:rPr>
              <a:t>+91 [your number]</a:t>
            </a:r>
            <a:endParaRPr lang="en-US" sz="1100" dirty="0"/>
          </a:p>
        </p:txBody>
      </p:sp>
      <p:sp>
        <p:nvSpPr>
          <p:cNvPr id="86" name="Text 84"/>
          <p:cNvSpPr/>
          <p:nvPr/>
        </p:nvSpPr>
        <p:spPr>
          <a:xfrm>
            <a:off x="8778240" y="6199632"/>
            <a:ext cx="3017520" cy="256032"/>
          </a:xfrm>
          <a:prstGeom prst="rect">
            <a:avLst/>
          </a:prstGeom>
          <a:noFill/>
          <a:ln/>
        </p:spPr>
        <p:txBody>
          <a:bodyPr wrap="square" lIns="0" tIns="0" rIns="0" bIns="0" rtlCol="0" anchor="ctr"/>
          <a:lstStyle/>
          <a:p>
            <a:pPr algn="ctr" indent="0" marL="0">
              <a:buNone/>
            </a:pPr>
            <a:r>
              <a:rPr lang="en-US" sz="900" dirty="0">
                <a:solidFill>
                  <a:srgbClr val="8899BB"/>
                </a:solidFill>
                <a:latin typeface="Arial" pitchFamily="34" charset="0"/>
                <a:ea typeface="Arial" pitchFamily="34" charset="-122"/>
                <a:cs typeface="Arial" pitchFamily="34" charset="-120"/>
              </a:rPr>
              <a:t>autoera.ai  ·  Chennai, Tamil Nadu</a:t>
            </a:r>
            <a:endParaRPr lang="en-US" sz="900" dirty="0"/>
          </a:p>
        </p:txBody>
      </p:sp>
      <p:sp>
        <p:nvSpPr>
          <p:cNvPr id="87" name="Shape 85"/>
          <p:cNvSpPr/>
          <p:nvPr/>
        </p:nvSpPr>
        <p:spPr>
          <a:xfrm>
            <a:off x="0" y="6601968"/>
            <a:ext cx="12188952" cy="256032"/>
          </a:xfrm>
          <a:prstGeom prst="rect">
            <a:avLst/>
          </a:prstGeom>
          <a:solidFill>
            <a:srgbClr val="CC4500"/>
          </a:solidFill>
          <a:ln w="12700">
            <a:solidFill>
              <a:srgbClr val="CC4500"/>
            </a:solidFill>
            <a:prstDash val="solid"/>
          </a:ln>
        </p:spPr>
      </p:sp>
      <p:sp>
        <p:nvSpPr>
          <p:cNvPr id="88" name="Text 86"/>
          <p:cNvSpPr/>
          <p:nvPr/>
        </p:nvSpPr>
        <p:spPr>
          <a:xfrm>
            <a:off x="274320" y="6601968"/>
            <a:ext cx="8229600" cy="256032"/>
          </a:xfrm>
          <a:prstGeom prst="rect">
            <a:avLst/>
          </a:prstGeom>
          <a:noFill/>
          <a:ln/>
        </p:spPr>
        <p:txBody>
          <a:bodyPr wrap="square" lIns="0" tIns="0" rIns="0" bIns="0" rtlCol="0" anchor="ctr"/>
          <a:lstStyle/>
          <a:p>
            <a:pPr algn="l" indent="0" marL="0">
              <a:buNone/>
            </a:pPr>
            <a:r>
              <a:rPr lang="en-US" sz="1000" i="1" dirty="0">
                <a:solidFill>
                  <a:srgbClr val="FFFFFF"/>
                </a:solidFill>
                <a:latin typeface="Arial" pitchFamily="34" charset="0"/>
                <a:ea typeface="Arial" pitchFamily="34" charset="-122"/>
                <a:cs typeface="Arial" pitchFamily="34" charset="-120"/>
              </a:rPr>
              <a:t>"The automotive industry has been waiting 30 years for this. AutoEra AI is the answer — built in Chennai, for India, and eventually for the world."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2026-08-05T01:29:13Z</dcterms:created>
  <dcterms:modified xsi:type="dcterms:W3CDTF">2026-08-05T01:29:13Z</dcterms:modified>
</cp:coreProperties>
</file>