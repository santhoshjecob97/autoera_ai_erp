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84048"/>
            <a:ext cx="7406640" cy="5138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4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6928"/>
            <a:ext cx="3474720" cy="868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72768"/>
            <a:ext cx="7406640" cy="23957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02920" y="3785616"/>
            <a:ext cx="7406640" cy="54864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3858768"/>
            <a:ext cx="7406640" cy="36576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096512"/>
            <a:ext cx="4114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0" y="409651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749808" y="482803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spc="3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AUTOMOTIVE PLATFORM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51206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spc="30" kern="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DEALERSHIPS &amp; MOBILITY BUSINESSES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024128" y="5596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9808" y="60899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724912" y="5596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450592" y="60899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425696" y="5596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151376" y="60899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Centric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126480" y="559612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852160" y="608990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45068" y="40690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276588" y="2240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373868" y="6812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471148" y="31546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745468" y="132130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727948" y="15956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190988" y="186994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288268" y="25100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093708" y="287578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362188" y="223570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0739628" y="34244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654028" y="397306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642348" y="43388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545068" y="497890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1105388" y="5253228"/>
            <a:ext cx="100584" cy="100584"/>
          </a:xfrm>
          <a:prstGeom prst="ellipse">
            <a:avLst/>
          </a:prstGeom>
          <a:solidFill>
            <a:srgbClr val="FF5A00">
              <a:alpha val="7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95360" y="457200"/>
            <a:ext cx="731520" cy="-18288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326880" y="274320"/>
            <a:ext cx="1097280" cy="45720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424160" y="731520"/>
            <a:ext cx="1097280" cy="-36576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1521440" y="365760"/>
            <a:ext cx="274320" cy="100584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795760" y="1371600"/>
            <a:ext cx="-457200" cy="118872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338560" y="2560320"/>
            <a:ext cx="-548640" cy="91440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778240" y="1645920"/>
            <a:ext cx="365760" cy="128016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9144000" y="2926080"/>
            <a:ext cx="548640" cy="146304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412480" y="2286000"/>
            <a:ext cx="182880" cy="274320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241280" y="1920240"/>
            <a:ext cx="548640" cy="155448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1704320" y="4023360"/>
            <a:ext cx="-548640" cy="1280160"/>
          </a:xfrm>
          <a:prstGeom prst="line">
            <a:avLst/>
          </a:prstGeom>
          <a:noFill/>
          <a:ln w="10160">
            <a:solidFill>
              <a:srgbClr val="FF5A00">
                <a:alpha val="5000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321040" y="43891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 AI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8321040" y="4718304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EVERY DRIVE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321040" y="55778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 + AI Service Advisor for the next generation of automotive dealerships.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8321040" y="62727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Santhosh Jacob  |  Chennai, Tamil Nadu, India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7863840" y="0"/>
            <a:ext cx="73152" cy="6858000"/>
          </a:xfrm>
          <a:prstGeom prst="rect">
            <a:avLst/>
          </a:prstGeom>
          <a:solidFill>
            <a:srgbClr val="FF5A00"/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051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978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DEALERSHIPS ARE LOSING VALUE IN THE GAP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CUSTOMER DEMAND AND HUMAN RESPONSE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792224"/>
            <a:ext cx="14630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Calls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calls go unanswered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1792224"/>
            <a:ext cx="14630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39112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39112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processes delay customer contact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66744" y="1792224"/>
            <a:ext cx="14630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66744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66744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66744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reminders are inconsistent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94376" y="1792224"/>
            <a:ext cx="14630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4376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94376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Leakage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4376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are missed or forgotten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2008" y="1792224"/>
            <a:ext cx="14630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22008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22008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Overload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22008" y="25968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advisors juggle too many tasks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145536"/>
            <a:ext cx="5029200" cy="53035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3145536"/>
            <a:ext cx="320040" cy="530352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" y="31455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Call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3840480"/>
            <a:ext cx="5413248" cy="53035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4728" y="3840480"/>
            <a:ext cx="320040" cy="530352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840480"/>
            <a:ext cx="5138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Process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11480" y="4535424"/>
            <a:ext cx="5797296" cy="53035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08776" y="4535424"/>
            <a:ext cx="320040" cy="530352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4535424"/>
            <a:ext cx="5522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11480" y="5230368"/>
            <a:ext cx="6181344" cy="53035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92824" y="5230368"/>
            <a:ext cx="320040" cy="530352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" y="5230368"/>
            <a:ext cx="5907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Follow-up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595360" y="1719072"/>
            <a:ext cx="3310128" cy="4572000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0" y="2194560"/>
            <a:ext cx="331012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8595360" y="502920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response depends on manual handling, every delay creates leakage across the service journey.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 AI BRINGS AI DIRECTLY INTO THE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2139696"/>
            <a:ext cx="32918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688336"/>
            <a:ext cx="2926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8163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Inbound &amp; outbound calls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32735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 qualification &amp; booking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7307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 reminders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1879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Appointment scheduling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6451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Tamil + English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51023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CRM integration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55595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escalation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0" y="2139696"/>
            <a:ext cx="3291840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230428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 ADVISOR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005072" y="2688336"/>
            <a:ext cx="292608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05072" y="28163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Customer complaint understanding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005072" y="32735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Vehicle context &amp; history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05072" y="37307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Service recommendations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05072" y="41879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Job-card assistance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05072" y="46451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Estimate generation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005072" y="51023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Follow-up automation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005072" y="55595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Human escalation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213969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15200" y="2633472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14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0" y="2633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42048" y="338328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10144" y="2834640"/>
            <a:ext cx="164592" cy="292608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56448" y="2633472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14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2633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83296" y="338328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 AI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851392" y="2834640"/>
            <a:ext cx="164592" cy="292608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97696" y="2633472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14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97696" y="2633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924544" y="338328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692640" y="2834640"/>
            <a:ext cx="164592" cy="292608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38944" y="2633472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14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38944" y="2633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765792" y="338328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533888" y="2834640"/>
            <a:ext cx="164592" cy="292608"/>
          </a:xfrm>
          <a:prstGeom prst="triangl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680192" y="2633472"/>
            <a:ext cx="694944" cy="69494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014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80192" y="2633472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607040" y="3383280"/>
            <a:ext cx="841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315200" y="3767328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 AI sits in the middle of the dealership workflow, turning customer interactions into structured actions and measurable outcomes.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8288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WORKFLOW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CUSTOMER CONVERSATION TO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chatbot. An action-oriented AI system — every interaction triggers a real dealership workflow.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2359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2414016"/>
            <a:ext cx="365760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5420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25526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| WhatsApp | Web | SMS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06824" y="2359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306824" y="2414016"/>
            <a:ext cx="365760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25420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AGENT + AI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ADVISOR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06824" y="325526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customer interaction layer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02168" y="235915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02168" y="2414016"/>
            <a:ext cx="365760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02168" y="25420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 AI INTELLIGENCE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02168" y="3255264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Context | Vehicle Data |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History | Dealer Knowledge |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| Business Rules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89320" y="373075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1480" y="4315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1480" y="4370832"/>
            <a:ext cx="55778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4988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 SYSTEMS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490118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| DMS | Workshop | Appointment | Notifications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81928" y="4315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281928" y="4370832"/>
            <a:ext cx="5577840" cy="36576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4498848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1928" y="490118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| Follow-up | Update | Notify | Escalate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280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AI FOR AUTOMOTIVE WORKFLOWS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3246120" cy="1042416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0934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CHANNELS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" y="193852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| WhatsApp | Web | SMS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22192" y="1444752"/>
            <a:ext cx="3246120" cy="1042416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6784" y="1609344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86784" y="1938528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| LLM | Text-to-Speech | Multilingual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651760"/>
            <a:ext cx="3246120" cy="1042416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81635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INTELLIGENCE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76072" y="314553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| Vehicle Data | Customer Data | Service History | Dealer Knowledge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822192" y="2651760"/>
            <a:ext cx="3246120" cy="1042416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6784" y="2816352"/>
            <a:ext cx="2916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86784" y="314553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 | Service Advisor | Workflow Engine | Human-in-the-loop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858768"/>
            <a:ext cx="6656832" cy="1042416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4023360"/>
            <a:ext cx="6327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INTEGRATION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76072" y="4352544"/>
            <a:ext cx="6327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| DMS | APIs | Workshop | Notifications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296912" y="1261872"/>
            <a:ext cx="4681728" cy="5138928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17536" y="159105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0496" y="140817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20656" y="177393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83696" y="149961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740896" y="250545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4736" y="287121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546336" y="232257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35056" y="314553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466576" y="378561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991856" y="405993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72016" y="433425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460736" y="470001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649456" y="506577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3376" y="543153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26096" y="4882896"/>
            <a:ext cx="109728" cy="109728"/>
          </a:xfrm>
          <a:prstGeom prst="ellipse">
            <a:avLst/>
          </a:prstGeom>
          <a:solidFill>
            <a:srgbClr val="FF5A00">
              <a:alpha val="80000"/>
            </a:srgbClr>
          </a:solidFill>
          <a:ln w="12700">
            <a:solidFill>
              <a:srgbClr val="FF5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0" y="274320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7200" dirty="0"/>
          </a:p>
        </p:txBody>
      </p:sp>
      <p:sp>
        <p:nvSpPr>
          <p:cNvPr id="38" name="Text 36"/>
          <p:cNvSpPr/>
          <p:nvPr/>
        </p:nvSpPr>
        <p:spPr>
          <a:xfrm>
            <a:off x="7498080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Intelligence Layer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98080" y="5577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• Context • Action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11480" y="513892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UNDERSTAND → REASON → ACT → MEASURE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AUTOMOTIVE SOFTWARE OPPORTUNITY —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CLEAR INITIAL WEDGE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2414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conversion rate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8620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Dealerships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17720" y="28163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17720" y="35661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17720" y="43159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17720" y="506577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633472"/>
            <a:ext cx="731520" cy="3474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816352"/>
            <a:ext cx="731520" cy="3291840"/>
          </a:xfrm>
          <a:prstGeom prst="rect">
            <a:avLst/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Global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673352" y="4279392"/>
            <a:ext cx="731520" cy="1828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73352" y="2816352"/>
            <a:ext cx="731520" cy="3291840"/>
          </a:xfrm>
          <a:prstGeom prst="rect">
            <a:avLst/>
          </a:prstGeom>
          <a:solidFill>
            <a:srgbClr val="FFE8EC"/>
          </a:solidFill>
          <a:ln w="12700">
            <a:solidFill>
              <a:srgbClr val="FF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99032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India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2752344" y="5376672"/>
            <a:ext cx="731520" cy="73152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78024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South In...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831336" y="5879592"/>
            <a:ext cx="731520" cy="228600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6217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— Chennai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783080" y="65471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Segment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828800"/>
            <a:ext cx="18288" cy="493776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93852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 Roadmap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92240" y="232257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3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→ TAMIL NADU → SOUTH INDIA → INDIA → GLOBAL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2706624"/>
            <a:ext cx="539496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0779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SaaS Calculation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92240" y="327355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2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DEALERSHIPS × ARPU × 12 = ANNUAL RECURRING REVENUE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37307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Chennai dealers × ₹15K/month × 12 =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92240" y="4005072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 Cr ARR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492240" y="44256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organised automotive aftermarket is growing at 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66960" y="44256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CAGR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972800" y="44256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[VERIFY SOURCE]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92240" y="4901184"/>
            <a:ext cx="5394960" cy="914400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5065776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All external market figures require verified sources before investor submission.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PRICING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AI SAAS MODEL BUILT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DEALERSHIP ROI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276148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2677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workshops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 / mo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3054096"/>
            <a:ext cx="228600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369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Voice Agent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Service Advisor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41879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Users: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4663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Branches: 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5138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WhatsApp/SMS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Usage: Basic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19272" y="1810512"/>
            <a:ext cx="276148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02152" y="22677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dealerships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02152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₹18,000 / mo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502152" y="3054096"/>
            <a:ext cx="228600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2152" y="32369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Voice Agent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502152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Service Advisor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02152" y="41879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Users: 5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02152" y="4663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Branches: 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02152" y="5138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WhatsApp/SMS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02152" y="5614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Usage: Standard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27064" y="1810512"/>
            <a:ext cx="276148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9944" y="22677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dealerships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09944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₹35,000 / mo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9944" y="3054096"/>
            <a:ext cx="228600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9944" y="32369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Voice 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9944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Service Advisor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09944" y="41879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Users: 15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09944" y="4663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Branches: 5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09944" y="5138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WhatsApp/SMS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409944" y="5614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Usage: Advanced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9134856" y="1810512"/>
            <a:ext cx="2761488" cy="45537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317736" y="195681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317736" y="22677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/ dealer groups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9317736" y="2578608"/>
            <a:ext cx="23957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[Custom]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17736" y="3054096"/>
            <a:ext cx="2286000" cy="16459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17736" y="323697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Voice Agent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9317736" y="371246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Service Advisor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9317736" y="41879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Users: Unlimited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317736" y="4663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Branches: Multi-location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317736" y="5138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WhatsApp/SMS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317736" y="5614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API Usage: Custom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229600" y="18105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8229600" y="22677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Margin: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424160" y="22677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229600" y="277977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Target: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10424160" y="277977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3:1+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229600" y="3291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424160" y="329184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 months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22960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 Levers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229600" y="42611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Model routing + caching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229600" y="46085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Prompt optimization + RAG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229600" y="49560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Usage controls + batching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8229600" y="53035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optimization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VALIDATION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THE MARKET, FOR THE MARKET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993392"/>
            <a:ext cx="50292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176272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87552" y="22128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25603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Dealer interviews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87552" y="28712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Problem validation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87552" y="3182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Feedback loops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360273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87552" y="363931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DEVELOPMENT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87552" y="39867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Product development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87552" y="4297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Prototype testing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87552" y="4608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Feature validation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502920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A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7552" y="5065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54132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[INSERT VERIFIED PILOT DATA]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87552" y="5724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Target: 5–10 Chennai dealers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87552" y="6035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Performance metrics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1664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ROADMAP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1993392"/>
            <a:ext cx="539496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212848"/>
            <a:ext cx="18288" cy="4114800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84848" y="2286000"/>
            <a:ext cx="146304" cy="14630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22311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94192" y="2231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 cluster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84848" y="3108960"/>
            <a:ext cx="146304" cy="14630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9168" y="30540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394192" y="30540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84848" y="3931920"/>
            <a:ext cx="146304" cy="14630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94192" y="38770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84848" y="4754880"/>
            <a:ext cx="146304" cy="14630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470001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94192" y="47000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84848" y="5577840"/>
            <a:ext cx="146304" cy="146304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55229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94192" y="55229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3200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 &amp; GO-TO-MARKET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11430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AUTOMOTIVE-SPECIFIC AI. LOCAL INTELLIGENCE. ACTION-ORIENTED AUTOMATION.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MATRIX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" y="1883664"/>
            <a:ext cx="1499616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" y="1883664"/>
            <a:ext cx="1426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84248" y="1883664"/>
            <a:ext cx="859536" cy="475488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9112" y="1883664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Autoera AI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916936" y="1883664"/>
            <a:ext cx="859536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883664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DMS/CRM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9624" y="1883664"/>
            <a:ext cx="987552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18836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Agents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10328" y="1883664"/>
            <a:ext cx="859536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65192" y="1883664"/>
            <a:ext cx="7863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843016" y="1883664"/>
            <a:ext cx="987552" cy="475488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188366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Auto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2395728"/>
            <a:ext cx="149961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" y="239572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Automotive-Specific AI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84248" y="2395728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39112" y="23957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16936" y="2395728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71800" y="23957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849624" y="2395728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04488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10328" y="2395728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239572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43016" y="2395728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9572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2743200"/>
            <a:ext cx="149961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" y="274320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Capability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84248" y="2743200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39112" y="27432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916936" y="2743200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71800" y="27432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9624" y="2743200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04488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910328" y="2743200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65192" y="274320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43016" y="2743200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274320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11480" y="3090672"/>
            <a:ext cx="149961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" y="309067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Advisor AI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84248" y="3090672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39112" y="30906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916936" y="3090672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30906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849624" y="3090672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04488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10328" y="3090672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65192" y="309067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843016" y="3090672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97880" y="309067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1480" y="3438144"/>
            <a:ext cx="149961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" y="343814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Languages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984248" y="3438144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39112" y="34381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2916936" y="3438144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971800" y="34381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849624" y="3438144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04488" y="3438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910328" y="3438144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65192" y="343814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43016" y="3438144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897880" y="343814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11480" y="3785616"/>
            <a:ext cx="149961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" y="37856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Knowledge Base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1984248" y="3785616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039112" y="3785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916936" y="3785616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71800" y="3785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849624" y="3785616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904488" y="378561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910328" y="3785616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65192" y="37856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843016" y="3785616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97880" y="378561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411480" y="4133088"/>
            <a:ext cx="149961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6344" y="4133088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Automation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984248" y="4133088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039112" y="41330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916936" y="4133088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71800" y="41330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849624" y="4133088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04488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910328" y="4133088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965192" y="4133088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843016" y="4133088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897880" y="41330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11480" y="4480560"/>
            <a:ext cx="149961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66344" y="448056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CRM/DMS Integration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1984248" y="4480560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039112" y="44805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916936" y="4480560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71800" y="44805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3849624" y="4480560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904488" y="44805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4910328" y="4480560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65192" y="4480560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5843016" y="4480560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897880" y="448056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411480" y="4828032"/>
            <a:ext cx="149961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66344" y="482803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 Context Understanding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1984248" y="4828032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039112" y="48280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2916936" y="4828032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971800" y="48280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3849624" y="4828032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04488" y="48280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4910328" y="4828032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965192" y="4828032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5843016" y="4828032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897880" y="48280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411480" y="5175504"/>
            <a:ext cx="149961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66344" y="517550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Pricing Model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1984248" y="5175504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039112" y="51755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2916936" y="5175504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971800" y="51755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3849624" y="5175504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3904488" y="51755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4910328" y="5175504"/>
            <a:ext cx="859536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965192" y="517550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5843016" y="5175504"/>
            <a:ext cx="9875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897880" y="517550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411480" y="5522976"/>
            <a:ext cx="149961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466344" y="552297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 AI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1984248" y="5522976"/>
            <a:ext cx="859536" cy="329184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039112" y="55229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2916936" y="5522976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2971800" y="55229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3849624" y="5522976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904488" y="55229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35" name="Shape 133"/>
          <p:cNvSpPr/>
          <p:nvPr/>
        </p:nvSpPr>
        <p:spPr>
          <a:xfrm>
            <a:off x="4910328" y="5522976"/>
            <a:ext cx="859536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965192" y="552297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37" name="Shape 135"/>
          <p:cNvSpPr/>
          <p:nvPr/>
        </p:nvSpPr>
        <p:spPr>
          <a:xfrm>
            <a:off x="5843016" y="5522976"/>
            <a:ext cx="987552" cy="329184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897880" y="552297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50" dirty="0"/>
          </a:p>
        </p:txBody>
      </p:sp>
      <p:sp>
        <p:nvSpPr>
          <p:cNvPr id="139" name="Text 137"/>
          <p:cNvSpPr/>
          <p:nvPr/>
        </p:nvSpPr>
        <p:spPr>
          <a:xfrm>
            <a:off x="6876288" y="15727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UNFAIR ADVANTAGES</a:t>
            </a:r>
            <a:endParaRPr lang="en-US" sz="1050" dirty="0"/>
          </a:p>
        </p:txBody>
      </p:sp>
      <p:sp>
        <p:nvSpPr>
          <p:cNvPr id="140" name="Shape 138"/>
          <p:cNvSpPr/>
          <p:nvPr/>
        </p:nvSpPr>
        <p:spPr>
          <a:xfrm>
            <a:off x="6876288" y="1883664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876288" y="1883664"/>
            <a:ext cx="50292" cy="89611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059168" y="19751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AUTOMOTIVE-SPECIFIC AI</a:t>
            </a:r>
            <a:endParaRPr lang="en-US" sz="1050" dirty="0"/>
          </a:p>
        </p:txBody>
      </p:sp>
      <p:sp>
        <p:nvSpPr>
          <p:cNvPr id="143" name="Text 141"/>
          <p:cNvSpPr/>
          <p:nvPr/>
        </p:nvSpPr>
        <p:spPr>
          <a:xfrm>
            <a:off x="7059168" y="23042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dealers — not adapted from generic tools.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6876288" y="2907792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6876288" y="2907792"/>
            <a:ext cx="50292" cy="89611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059168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MARKET INTELLIGENCE</a:t>
            </a:r>
            <a:endParaRPr lang="en-US" sz="1050" dirty="0"/>
          </a:p>
        </p:txBody>
      </p:sp>
      <p:sp>
        <p:nvSpPr>
          <p:cNvPr id="147" name="Text 145"/>
          <p:cNvSpPr/>
          <p:nvPr/>
        </p:nvSpPr>
        <p:spPr>
          <a:xfrm>
            <a:off x="7059168" y="332841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+ English. Chennai-first. Dealer-context RAG.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6876288" y="3931920"/>
            <a:ext cx="4937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876288" y="3931920"/>
            <a:ext cx="50292" cy="896112"/>
          </a:xfrm>
          <a:prstGeom prst="rect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059168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 AUTOMATION</a:t>
            </a:r>
            <a:endParaRPr lang="en-US" sz="1050" dirty="0"/>
          </a:p>
        </p:txBody>
      </p:sp>
      <p:sp>
        <p:nvSpPr>
          <p:cNvPr id="151" name="Text 149"/>
          <p:cNvSpPr/>
          <p:nvPr/>
        </p:nvSpPr>
        <p:spPr>
          <a:xfrm>
            <a:off x="7059168" y="43525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triggers a real workflow — not just a reply.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411480" y="4974336"/>
            <a:ext cx="11430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11480" y="510235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PHASES</a:t>
            </a:r>
            <a:endParaRPr lang="en-US" sz="1050" dirty="0"/>
          </a:p>
        </p:txBody>
      </p:sp>
      <p:sp>
        <p:nvSpPr>
          <p:cNvPr id="154" name="Shape 152"/>
          <p:cNvSpPr/>
          <p:nvPr/>
        </p:nvSpPr>
        <p:spPr>
          <a:xfrm>
            <a:off x="411480" y="5742432"/>
            <a:ext cx="114300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97280" y="5687568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94360" y="5907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57" name="Text 155"/>
          <p:cNvSpPr/>
          <p:nvPr/>
        </p:nvSpPr>
        <p:spPr>
          <a:xfrm>
            <a:off x="594360" y="6163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3474720" y="5687568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971800" y="5907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60" name="Text 158"/>
          <p:cNvSpPr/>
          <p:nvPr/>
        </p:nvSpPr>
        <p:spPr>
          <a:xfrm>
            <a:off x="2971800" y="6163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5852160" y="5687568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49240" y="5907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5349240" y="6163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8229600" y="5687568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7726680" y="5907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</p:txBody>
      </p:sp>
      <p:sp>
        <p:nvSpPr>
          <p:cNvPr id="166" name="Text 164"/>
          <p:cNvSpPr/>
          <p:nvPr/>
        </p:nvSpPr>
        <p:spPr>
          <a:xfrm>
            <a:off x="7726680" y="6163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10607040" y="5687568"/>
            <a:ext cx="182880" cy="182880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0104120" y="59070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50" dirty="0"/>
          </a:p>
        </p:txBody>
      </p:sp>
      <p:sp>
        <p:nvSpPr>
          <p:cNvPr id="169" name="Text 167"/>
          <p:cNvSpPr/>
          <p:nvPr/>
        </p:nvSpPr>
        <p:spPr>
          <a:xfrm>
            <a:off x="10104120" y="61630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900" dirty="0"/>
          </a:p>
        </p:txBody>
      </p:sp>
      <p:sp>
        <p:nvSpPr>
          <p:cNvPr id="170" name="Text 168"/>
          <p:cNvSpPr/>
          <p:nvPr/>
        </p:nvSpPr>
        <p:spPr>
          <a:xfrm>
            <a:off x="411480" y="649224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   •  Founder-led sales  •  Dealer demos  •  Industry associations  •  Automotive consultants</a:t>
            </a:r>
            <a:endParaRPr lang="en-US" sz="950" dirty="0"/>
          </a:p>
        </p:txBody>
      </p:sp>
      <p:sp>
        <p:nvSpPr>
          <p:cNvPr id="171" name="Text 169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92608"/>
            <a:ext cx="1737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4632" y="29260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11480" y="603504"/>
            <a:ext cx="9144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AUTOMOTIVE IS INTELLIGENT.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IS AUTOERA AI.</a:t>
            </a:r>
            <a:endParaRPr lang="en-US" sz="2200" dirty="0"/>
          </a:p>
        </p:txBody>
      </p:sp>
      <p:pic>
        <p:nvPicPr>
          <p:cNvPr id="7" name="Image 0" descr="/home/claude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56032"/>
            <a:ext cx="2103120" cy="896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847088"/>
            <a:ext cx="11430000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19933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2677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AI intelligence layer for automotive dealerships and service centers.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1148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ASK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2907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01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VERIFIED FUNDING ASK]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1148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11480" y="3621024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" y="36210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172200" y="3621024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36792" y="362102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11480" y="4151376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6072" y="41513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172200" y="4151376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36792" y="415137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11480" y="4681728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76072" y="46817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172200" y="4681728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36792" y="46817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5212080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6072" y="52120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172200" y="5212080"/>
            <a:ext cx="5486400" cy="329184"/>
          </a:xfrm>
          <a:prstGeom prst="rect">
            <a:avLst/>
          </a:prstGeom>
          <a:solidFill>
            <a:srgbClr val="FFE8EC"/>
          </a:solidFill>
          <a:ln w="12700">
            <a:solidFill>
              <a:srgbClr val="E8A0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36792" y="52120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11480" y="57058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0711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11480" y="6071616"/>
            <a:ext cx="114300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214884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0020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Dealers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11480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56616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10–25 Paying Dealers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612648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7784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Dealers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795528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0664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950976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96112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1078992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24128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1887200" y="6016752"/>
            <a:ext cx="164592" cy="164592"/>
          </a:xfrm>
          <a:prstGeom prst="ellipse">
            <a:avLst/>
          </a:prstGeom>
          <a:solidFill>
            <a:srgbClr val="C0143C"/>
          </a:solidFill>
          <a:ln w="12700">
            <a:solidFill>
              <a:srgbClr val="C0143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1338560" y="6217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11521440" y="66751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2026-08-10T03:24:46Z</dcterms:created>
  <dcterms:modified xsi:type="dcterms:W3CDTF">2026-08-10T03:24:46Z</dcterms:modified>
</cp:coreProperties>
</file>