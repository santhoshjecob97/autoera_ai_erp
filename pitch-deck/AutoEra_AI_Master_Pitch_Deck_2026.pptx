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3716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722"/>
                </a:solidFill>
              </a:rPr>
              <a:t>CONFIDENTIAL INVESTOR PRESENTATION · 2026
</a:t>
            </a:r>
          </a:p>
          <a:p>
            <a:r>
              <a:rPr b="1" sz="3200">
                <a:solidFill>
                  <a:srgbClr val="060B18"/>
                </a:solidFill>
              </a:rPr>
              <a:t>AI-NATIVE </a:t>
            </a:r>
            <a:r>
              <a:rPr b="1" sz="3200">
                <a:solidFill>
                  <a:srgbClr val="FF5722"/>
                </a:solidFill>
              </a:rPr>
              <a:t>DEALERSHIP OPERATING SYSTEM
</a:t>
            </a:r>
          </a:p>
          <a:p>
            <a:pPr>
              <a:defRPr sz="1300" b="1">
                <a:solidFill>
                  <a:srgbClr val="F97316"/>
                </a:solidFill>
              </a:defRPr>
            </a:pPr>
            <a:r>
              <a:t>Unifying Sales · Service · Parts · Finance · Insurance — with built-in AI Intelligence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6766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 sz="1100">
                <a:solidFill>
                  <a:srgbClr val="334155"/>
                </a:solidFill>
              </a:defRPr>
            </a:pPr>
            <a:r>
              <a:t>"AutoEra AI will become the global operating system for the automotive industry — the single platform that every dealership, OEM, fleet operator, insurer, finance company, and vehicle owner depends on as the system of record for their automotive world."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94959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₹720 Cr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Year 5 ARR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303520"/>
            <a:ext cx="1554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394959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85%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Gross Margins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303520"/>
            <a:ext cx="1554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5394959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15+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Signed Dealer LOIs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303520"/>
            <a:ext cx="1554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394959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4.8 Mo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CAC Payback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583680"/>
            <a:ext cx="6766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6751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0B18"/>
                </a:solidFill>
              </a:defRPr>
            </a:pPr>
            <a:r>
              <a:t>Santhosh — Founder &amp; CEO | AutoEra AI Solutions</a:t>
            </a:r>
          </a:p>
          <a:p>
            <a:pPr>
              <a:defRPr sz="1050">
                <a:solidFill>
                  <a:srgbClr val="FF5722"/>
                </a:solidFill>
              </a:defRPr>
            </a:pPr>
            <a:r>
              <a:t>💎 Institutional Seed Round · Growth Investment Opportunity | 🏎️ Vision-AI Telemetry Active</a:t>
            </a:r>
          </a:p>
        </p:txBody>
      </p:sp>
      <p:pic>
        <p:nvPicPr>
          <p:cNvPr id="17" name="Picture 16" descr="clean_cover_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5212080" cy="41148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772400" y="502920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5120640"/>
            <a:ext cx="2295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🤖 Multi-Agent RAG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7 Specialist agents query live ERP PostgreSQL data with zero hallucinations.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69880" y="502920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79607" y="5120640"/>
            <a:ext cx="2295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⚡ ServicePulse OCR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Number plate scanner creates complete digital job cards in under 90 seconds.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649224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6583679"/>
            <a:ext cx="2295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📦 B2B Spares Engine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Predictive inventory replenishment linked directly to aftermarket distributors.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649224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79607" y="6583679"/>
            <a:ext cx="2295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💬 Voice AI (Tamil/Eng)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Automated service booking, follow-up calls, and WhatsApp invoice delivery.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DRIVING THE FUTURE OF AUTOMOTIVE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16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11 RBAC Roles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₹720 Cr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02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EVERY INDIAN DEALERSHIP RUNS ON </a:t>
            </a:r>
            <a:r>
              <a:rPr b="1" sz="2400">
                <a:solidFill>
                  <a:srgbClr val="FF5722"/>
                </a:solidFill>
              </a:rPr>
              <a:t>FRAGMENTED, DISCONNECTED SYSTEMS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30,000+ Indian dealer rooftops suffer massive lead leakage, operational blindspots, and silent margin erosion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766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6547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📊 5–7 Disconnected Software Systems [₹14.4L/yr Waste]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DMS + CRM + Excel + WhatsApp Web + Tally + OEM Portal — data is trapped in silos with zero bi-directional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6766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6547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📉 30–40% Lead Leakage Across Channels [₹8.5L Lost/Mo]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Leads from CarWale, walk-ins, phone calls, and Facebook ads arrive unassigned; salespeople cherry-pick while 40% go uncontacted.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6766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6547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🔧 Paper Job Cards &amp; Manual Service Bays [3.2 Hrs Idle/Day]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Technicians use paper clipboards; service advisors yell status across bays; vehicle delivery delays cause massive customer dissatisfaction.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6766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623560"/>
            <a:ext cx="6547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🧊 Management Blindness &amp; Batch Reporting [30-Day Lag]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General Managers and Dealer Principals rely on end-of-month accountant summaries — zero live visibility into gross profit by bay or rep.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812280"/>
            <a:ext cx="6766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903720"/>
            <a:ext cx="6547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🤖 Zero Autonomous AI Intelligence [100% Manual]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No legacy DMS in India offers AI agents that proactively query ERP records, draft WhatsApp follow-ups, or propose parts stock reorders.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9164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1783080"/>
            <a:ext cx="4992624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⚠️ ANNUAL FINANCIAL DRAIN (₹32L+ TOTAL LOSS)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₹12–18L Annual Fragmented SaaS Spend (5–8 tools)</a:t>
            </a:r>
            <a:br/>
            <a:r>
              <a:t>• 35% Customer Churn after initial warranty expires</a:t>
            </a:r>
            <a:br/>
            <a:r>
              <a:t>• 2.5 Hours Daily Manual Data Re-entry per rep across CRM &amp; billing</a:t>
            </a:r>
            <a:br/>
            <a:r>
              <a:t>• ₹3.2L/month Lost Unbilled Service Bay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0690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4160520"/>
            <a:ext cx="499262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TODAY'S FRAGMENTED REALITY (6 SILOED APPS)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🖥️ Legacy DMS (CDK / Orbitsys) · 📱 WhatsApp Web · 📑 Tally / Zoho Books</a:t>
            </a:r>
            <a:br/>
            <a:r>
              <a:t>📊 Excel Tracking Sheets · 🌐 OEM Ordering Portal · 📞 Call Center Dialer</a:t>
            </a:r>
            <a:br/>
            <a:br/>
            <a:r>
              <a:t>Result: 0% Cross-Department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6080760"/>
            <a:ext cx="5212080" cy="201168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6172200"/>
            <a:ext cx="499262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THE ROOT CAUSE: ARCHITECTURAL OBSOLESCENCE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Legacy DMS systems were engineered 15–20 years ago as monolithic SQL databases. They lack modern REST/JSON endpoints, semantic vector embeddings, and real-time webhook architectures required for AI agent automation.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CRITICAL BOTTLENECK: ₹32L+ ANNUAL REVENUE EROSION PER DEALERSHIP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5-7 Siloed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40% Lead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Zero Real-Time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03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ONE PLATFORM. EVERY DEPARTMENT. </a:t>
            </a:r>
            <a:r>
              <a:rPr b="1" sz="2400">
                <a:solidFill>
                  <a:srgbClr val="FF5722"/>
                </a:solidFill>
              </a:rPr>
              <a:t>AI-NATIVE INTELLIGENCE.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16 integrated modules and 7 specialist AI agents engineered natively on a unified real-time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325526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🚗 Showroom &amp; Sales CRM [LIVE]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AI Lead Scoring &amp; Omnichannel Routing</a:t>
            </a:r>
            <a:br/>
            <a:r>
              <a:t>• WhatsApp Auto-Follow-ups (Tamil/Eng)</a:t>
            </a:r>
            <a:br/>
            <a:r>
              <a:t>• Digital Test Drive GPS Tracking</a:t>
            </a:r>
            <a:br/>
            <a:r>
              <a:t>• Customer 360 Timeline (15 Event Types)</a:t>
            </a:r>
            <a:br/>
            <a:r>
              <a:t>• Real-Time Quotation &amp; Booking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783080"/>
            <a:ext cx="325526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🔧 ServicePulse Workshop OS [LIVE]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90-Sec Number Plate Scanner OCR</a:t>
            </a:r>
            <a:br/>
            <a:r>
              <a:t>• Visual Bay Scheduler &amp; Tech Allocation</a:t>
            </a:r>
            <a:br/>
            <a:r>
              <a:t>• Real-time WhatsApp Video Repair Approval</a:t>
            </a:r>
            <a:br/>
            <a:r>
              <a:t>• Vehicle 360 VIN Lifecycle Record</a:t>
            </a:r>
            <a:br/>
            <a:r>
              <a:t>• Post-Service Feedback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325526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📦 Parts &amp; Multi-Warehouse [LIVE]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Fast/Slow Moving Stock Analytics</a:t>
            </a:r>
            <a:br/>
            <a:r>
              <a:t>• Automated Low-Stock Purchase Orders</a:t>
            </a:r>
            <a:br/>
            <a:r>
              <a:t>• Regional Distributor B2B Catalog Sync</a:t>
            </a:r>
            <a:br/>
            <a:r>
              <a:t>• Inter-Branch Warehouse Balancing</a:t>
            </a:r>
            <a:br/>
            <a:r>
              <a:t>• Barcode &amp; Bin Location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5074920"/>
            <a:ext cx="325526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💰 Finance, GST &amp; Insurance [LIVE]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1-Click GST E-Invoicing &amp; E-Way Bill</a:t>
            </a:r>
            <a:br/>
            <a:r>
              <a:t>• Automated Razorpay/Bank Reconciliation</a:t>
            </a:r>
            <a:br/>
            <a:r>
              <a:t>• Policy Expiry Renewal Churn Predictor</a:t>
            </a:r>
            <a:br/>
            <a:r>
              <a:t>• Real-time Profit &amp; Loss by Rooftop / Bay</a:t>
            </a:r>
            <a:br/>
            <a:r>
              <a:t>• Multi-Location Group Accounting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4937760" cy="384048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83080"/>
            <a:ext cx="471830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7 SPECIALIST AUTONOMOUS AI AGENTS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🎯 SalesAI: 24/7 lead qualification &amp; test drive booking</a:t>
            </a:r>
            <a:br/>
            <a:r>
              <a:t>• 🛠️ ServiceAI: 90-sec repair estimation &amp; bay planning</a:t>
            </a:r>
            <a:br/>
            <a:r>
              <a:t>• 📦 PartsAI: Predictive demand forecasting &amp; auto-POs</a:t>
            </a:r>
            <a:br/>
            <a:r>
              <a:t>• 💵 FinanceAI: Automated payment reconciliation &amp; ledger</a:t>
            </a:r>
            <a:br/>
            <a:r>
              <a:t>• 📋 ComplianceAI: GST e-invoice verification &amp; warranty claims</a:t>
            </a:r>
            <a:br/>
            <a:r>
              <a:t>• 👔 GMCopilot: Natural language query of live dealership KPIs</a:t>
            </a:r>
            <a:br/>
            <a:r>
              <a:t>• 💬 SupportAI: Tamil, Tanglish &amp; English WhatsApp voice 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715000"/>
            <a:ext cx="4937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5806440"/>
            <a:ext cx="47183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ACTIONPROPOSAL TWO-TIER SAFETY PROTOCOL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Tier 1 (Autonomous Read): Scans ERP, computes margins, drafts messages, flags stockouts.</a:t>
            </a:r>
            <a:br/>
            <a:br/>
            <a:r>
              <a:t>Tier 2 (Human Approval): Price alterations, large parts orders, discounts generate an ActionProposal requiring Manager sign-off before mutation.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ENTERPRISE SAFETY: ZERO UNCHECKED MUTATIONS · 100% AUDIT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7 Agents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Gemini 3.6 Flash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11 RBAC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04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AUTOMOTIVE AFTERMARKET &amp; RETAIL: </a:t>
            </a:r>
            <a:r>
              <a:rPr b="1" sz="2400">
                <a:solidFill>
                  <a:srgbClr val="FF5722"/>
                </a:solidFill>
              </a:rPr>
              <a:t>GLOBAL SCALE ($48.5B) + INDIA (₹1.08L CR)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Capitalizing on the seismic shift from rigid on-premise software to intelligent cloud operating platforms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9319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3712463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TAM · GLOBAL &amp; INDIA [14.2% CAGR]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$48.5B / ₹1,08,000 Cr</a:t>
            </a:r>
            <a:br/>
            <a:br/>
            <a:r>
              <a:t>Global automotive DMS software + Indian automotive aftermarket operations across 45,000+ authorized and independent centers.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91640"/>
            <a:ext cx="39319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783080"/>
            <a:ext cx="3712463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SAM · TARGET SEGMENT [12,000 HUBS]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₹14,400 Crores</a:t>
            </a:r>
            <a:br/>
            <a:br/>
            <a:r>
              <a:t>12,000 organized multi-brand 3S dealerships, authorized OEM dealer groups, and premium multi-bay workshop chains in India.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91640"/>
            <a:ext cx="3931920" cy="228600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783080"/>
            <a:ext cx="3712463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SOM · YEAR 5 GOAL [₹720 CR ARR]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₹720 Crores ARR</a:t>
            </a:r>
            <a:br/>
            <a:br/>
            <a:r>
              <a:t>Capturing 1,200 Dealerships and 25,000 Workshop nodes generating ₹60L blended annual platform value via SaaS + Spares fees.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51959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🇮🇳 India — 3rd Largest Auto Market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30,000+ FADA dealer outlets employing 5M+ people.</a:t>
            </a:r>
            <a:br/>
            <a:r>
              <a:t>• 82% of dealers actively seeking modern DMS replacements.</a:t>
            </a:r>
            <a:br/>
            <a:r>
              <a:t>• GST e-invoicing mandates forcing compliance digitization.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16052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4251959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🏭 TN Base — 'Detroit of Asia'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70% of India's electric 2W, 40% of electric 4W produced here.</a:t>
            </a:r>
            <a:br/>
            <a:r>
              <a:t>• 1,200+ major dealerships within a 300km corridor.</a:t>
            </a:r>
            <a:br/>
            <a:r>
              <a:t>• Unrivaled ecosystem for hyper-rapid pilot iteration.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416052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4251959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🌐 High-Margin Global Corridors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Southeast Asia (Indonesia, Thailand, Vietnam) &amp; GCC.</a:t>
            </a:r>
            <a:br/>
            <a:r>
              <a:t>• Same fragmented dealership pain with 3x higher SaaS ARPU.</a:t>
            </a:r>
            <a:br/>
            <a:r>
              <a:t>• Cloud-native multi-currency &amp; multilingual architecture ready.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6355080"/>
          <a:ext cx="122529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560320"/>
                <a:gridCol w="2560320"/>
                <a:gridCol w="2194560"/>
              </a:tblGrid>
              <a:tr h="356616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Revenue Layer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Node Volume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Average Blended Pricing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Annual Platform GMV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Year 5 ARR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 Dealerships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1,200 Dealerships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₹1,00,000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Core SaaS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722"/>
                          </a:solidFill>
                        </a:defRPr>
                      </a:pPr>
                      <a:r>
                        <a:t>₹144.0 Crores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Starter Workshops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25,000 Workshops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₹10,000–₹50,000 / mo blended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Job Cards &amp; Invoicing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722"/>
                          </a:solidFill>
                        </a:defRPr>
                      </a:pPr>
                      <a:r>
                        <a:t>₹356.0 Crores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B2B Spares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39,000 Nodes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2.5% Transaction Take-Rate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₹4,800 Cr Spare Parts GMV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722"/>
                          </a:solidFill>
                        </a:defRPr>
                      </a:pPr>
                      <a:r>
                        <a:t>₹120.0 Crores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Enterprise &amp; OEM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 OEM &amp;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Licensing + Telematics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Fleet Intelligence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722"/>
                          </a:solidFill>
                        </a:defRPr>
                      </a:pPr>
                      <a:r>
                        <a:t>₹100.0 Crores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BOTTOM-UP MATH: 1,200 DEALERS + 25K WORKSHOPS + SPARES TAKE-RATE = ₹720 CR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45,000+ Rooftops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12,000 SAM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₹720 Cr SOM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05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ENTERPRISE-GRADE PRICING + MULTI-LAYER MONETIZATION: </a:t>
            </a:r>
            <a:r>
              <a:rPr b="1" sz="2400">
                <a:solidFill>
                  <a:srgbClr val="FF5722"/>
                </a:solidFill>
              </a:rPr>
              <a:t>₹720 CR ARR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Scaling from high-ACV subscription tiers into B2B spare parts GMV take-rates and OEM network licensing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3255263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STARTER WORKSHOP</a:t>
            </a:r>
            <a:br/>
            <a:r>
              <a:t>₹50,000 / mo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For workshops &amp; independent service centers (1–5 bays)</a:t>
            </a:r>
            <a:br/>
            <a:br/>
            <a:r>
              <a:t>• ServicePulse 90-sec Job Card OCR</a:t>
            </a:r>
            <a:br/>
            <a:r>
              <a:t>• Number Plate Scanner &amp; ANPR</a:t>
            </a:r>
            <a:br/>
            <a:r>
              <a:t>• Basic Parts Inventory Tracking</a:t>
            </a:r>
            <a:br/>
            <a:r>
              <a:t>• Tamil &amp; English WhatsApp Updates</a:t>
            </a:r>
            <a:br/>
            <a:r>
              <a:t>• GST Invoicing &amp; 5 User Accounts</a:t>
            </a:r>
            <a:br/>
            <a:br/>
            <a:r>
              <a:t>ACV: ₹6 Lakhs /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9319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783080"/>
            <a:ext cx="3712463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PRO DEALERSHIP ★ SWEET SPOT</a:t>
            </a:r>
            <a:br/>
            <a:r>
              <a:t>₹1,00,000 / mo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For authorized single dealerships &amp; multi-brand 3S hubs (≤12 bays)</a:t>
            </a:r>
            <a:br/>
            <a:br/>
            <a:r>
              <a:t>• Full Sales CRM + Service Engine</a:t>
            </a:r>
            <a:br/>
            <a:r>
              <a:t>• AI Voice Follow-up Agent (Tamil/English)</a:t>
            </a:r>
            <a:br/>
            <a:r>
              <a:t>• Predictive Parts Replenishment Engine</a:t>
            </a:r>
            <a:br/>
            <a:r>
              <a:t>• Insurance Renewal &amp; Claims Module</a:t>
            </a:r>
            <a:br/>
            <a:r>
              <a:t>• 15 Users &amp; Advanced BI Analytics</a:t>
            </a:r>
            <a:br/>
            <a:br/>
            <a:r>
              <a:t>ACV: ₹12 Lakhs /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91640"/>
            <a:ext cx="4480560" cy="438912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3648" y="1783080"/>
            <a:ext cx="4261104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YEAR 5 REVENUE WATERFALL (₹720 CR)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SaaS Subscriptions (69%): ₹500 Cr</a:t>
            </a:r>
            <a:br/>
            <a:r>
              <a:t>  12k dealerships &amp; 25k workshops</a:t>
            </a:r>
            <a:br/>
            <a:br/>
            <a:r>
              <a:t>• Spares Marketplace Take-Rate (17%): ₹120 Cr</a:t>
            </a:r>
            <a:br/>
            <a:r>
              <a:t>  2.5% take-rate on ₹4,800 Cr GMV</a:t>
            </a:r>
            <a:br/>
            <a:br/>
            <a:r>
              <a:t>• Enterprise &amp; OEM Contracts (11%): ₹80 Cr</a:t>
            </a:r>
            <a:br/>
            <a:r>
              <a:t>  White-label &amp; fleet network contracts</a:t>
            </a:r>
            <a:br/>
            <a:br/>
            <a:r>
              <a:t>• AI Usage &amp; Telemetry Fees (3%): ₹20 Cr</a:t>
            </a:r>
            <a:br/>
            <a:r>
              <a:t>  Per-minute voice AI &amp; vision tokens</a:t>
            </a:r>
            <a:br/>
            <a:br/>
            <a:r>
              <a:t>TOTAL ANNUAL RECURRING REVENUE: ₹720 CR 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263640"/>
            <a:ext cx="12252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6355079"/>
            <a:ext cx="120335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INSTITUTIONAL SAAS UNIT ECONOMICS (YEAR 3–5 METRICS)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85% Software Gross Margins | 8.6x LTV:CAC Ratio | 4.8 Months CAC Payback Period | 135% Net Revenue Retention (NRR)</a:t>
            </a:r>
            <a:br/>
            <a:r>
              <a:t>• Operating EBITDA at Maturity: ₹340 Crores (47% Margin) | Total Year 5 Operating Expenses: ₹380 Crores</a:t>
            </a:r>
            <a:br/>
            <a:r>
              <a:t>• B2B Spares Engine locks in high switching costs and compounds dealership lifetime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HIGH CAPITAL EFFICIENCY: 85% SOFTWARE GROSS MARGINS · MULTI-LAYER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₹50k Starter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₹1L Pro (Core)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₹2.5L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06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PRODUCT-COMPLETE. </a:t>
            </a:r>
            <a:r>
              <a:rPr b="1" sz="2400">
                <a:solidFill>
                  <a:srgbClr val="FF5722"/>
                </a:solidFill>
              </a:rPr>
              <a:t>READY FOR PILOT DEPLOYMENT.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Multi-tenant production architecture fully built, battle-tested with adversarial defense, and staged for commercial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737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44+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691640"/>
            <a:ext cx="1737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7830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7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AI Specialists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1737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15+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Domain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1737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7830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11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RBAC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73609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108960"/>
            <a:ext cx="71414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VERIFIED PRODUCTION CAPABILITIES (LIVE ENVIRONMENT)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✓ Full-stack deployed live — Vercel (FE) + Render (BE)</a:t>
            </a:r>
            <a:br/>
            <a:r>
              <a:t>• ✓ Gemini AI integration with live API tool calling</a:t>
            </a:r>
            <a:br/>
            <a:r>
              <a:t>• ✓ Semantic RAG with anti-hallucination guardrails</a:t>
            </a:r>
            <a:br/>
            <a:r>
              <a:t>• ✓ ActionProposal human-in-the-loop governance</a:t>
            </a:r>
            <a:br/>
            <a:r>
              <a:t>• ✓ Multi-tenant data isolation &amp; 11 RBAC enterprise roles</a:t>
            </a:r>
            <a:br/>
            <a:r>
              <a:t>• ✓ Auto-generated OpenAPI / Swagger API specifications</a:t>
            </a:r>
            <a:br/>
            <a:r>
              <a:t>• ✓ 12-vector prompt injection defense tested</a:t>
            </a:r>
            <a:br/>
            <a:r>
              <a:t>• ✓ Full mutation audit logging engine for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537960"/>
            <a:ext cx="7360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629400"/>
            <a:ext cx="7141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SIMULATED DEALERSHIP ROI BENCHMARK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+28% Service Bay Throughput | -45% Customer Lead Response Latency</a:t>
            </a:r>
            <a:br/>
            <a:r>
              <a:t>• ₹3.5L/mo Additional Spare Parts Gross Margin via automated replenishment</a:t>
            </a:r>
            <a:br/>
            <a:r>
              <a:t>• 90-sec Job Card generation vs. 15-minute manual paper entry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691640"/>
            <a:ext cx="47091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783080"/>
            <a:ext cx="448970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15+ SIGNED DEALERSHIP LOIS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Secured across major automotive dealer networks in:</a:t>
            </a:r>
            <a:br/>
            <a:r>
              <a:t>• Coimbatore (6 rooftops)</a:t>
            </a:r>
            <a:br/>
            <a:r>
              <a:t>• Chennai (5 rooftops)</a:t>
            </a:r>
            <a:br/>
            <a:r>
              <a:t>• Bangalore (4 rooftops)</a:t>
            </a:r>
            <a:br/>
            <a:r>
              <a:t>Representing Maruti, Tata, Hyundai, and large multi-brand 3S centers.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343400"/>
            <a:ext cx="4709160" cy="3749039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434840"/>
            <a:ext cx="4489704" cy="3566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RAPID 30-DAY TURNKEY BLUEPRINT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Day 1–7: Master Data Migration &amp; GST Setup</a:t>
            </a:r>
            <a:br/>
            <a:r>
              <a:t>• Day 8–14: Core ERP Live Deployment</a:t>
            </a:r>
            <a:br/>
            <a:r>
              <a:t>• Day 15–21: AI Copilot, WhatsApp &amp; Voice Bots</a:t>
            </a:r>
            <a:br/>
            <a:r>
              <a:t>• Day 22–30: Full Operations &amp; Initial ROI Audit</a:t>
            </a:r>
            <a:br/>
            <a:br/>
            <a:r>
              <a:t>Modern Stack: React 19 · Vite 6 · Django 4.2+ · PostgreSQL 16 · Gemini 3.6 Flash · JWT 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COMMERCIAL READINESS: 15+ SIGNED LOIS · 30-DAY TURNKEY BLUEPRINT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44+ APIs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7 Agents 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100% Multi-Tenant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07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AI-NATIVE VS. AI-BOLTED: </a:t>
            </a:r>
            <a:r>
              <a:rPr b="1" sz="2400">
                <a:solidFill>
                  <a:srgbClr val="FF5722"/>
                </a:solidFill>
              </a:rPr>
              <a:t>A GENERATIONAL DIFFERENCE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Architectural moat: Legacy DMS providers cannot easily bolt AI onto 15-year-old monolithic database architectures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77724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097280"/>
                <a:gridCol w="960120"/>
                <a:gridCol w="960120"/>
                <a:gridCol w="960120"/>
                <a:gridCol w="96012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Capability Matrix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AutoEra AI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Orbitsys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AutoFacets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DealerSocket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Zoho CRM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Full ERP (Sales+Service+Parts+Fin)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Customer 360 (15 Event Types)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Vehicle 360 (VIN-Centric)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AI Copilot (Live ERP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7 Specialist AI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RAG Knowledge Base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ActionProposal (Human-in-Loop)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Multi-Tenant Dealer Group 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Tamil / Tanglish Regional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Modern Stack (2026 Standard)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GST-Compliant E-Invoicing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778240" y="1691640"/>
            <a:ext cx="4206240" cy="310896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7" y="1783080"/>
            <a:ext cx="398678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WHY LEGACY DMS CANNOT JUST 'ADD AI'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AI-native means the data model natively supports vector embeddings, the API supports LLM tool-calling, and the workflow supports ActionProposals.</a:t>
            </a:r>
            <a:br/>
            <a:br/>
            <a:r>
              <a:t>This is deep foundational architecture — it cannot be bolted onto a 15-year-old on-premise relational monolith.</a:t>
            </a:r>
            <a:br/>
            <a:br/>
            <a:r>
              <a:t>AutoEra AI was engineered AI-native from Day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983480"/>
            <a:ext cx="42062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7" y="5074920"/>
            <a:ext cx="3986783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VERNACULAR AI &amp; IOT EDGE MOAT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Vernacular AI: Service advisors in Tier 2/3 cities speak Tamil, Telugu, Hindi &amp; Tanglish. AutoEra's localized voice agent handles customer follow-ups natively.</a:t>
            </a:r>
            <a:br/>
            <a:br/>
            <a:r>
              <a:t>• Hardware Telemetry: Plug-and-play OBD-II telematics &amp; ANPR cameras stream live data directly into Vehicle 360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UNMATCHED ARCHITECTURAL MOAT: EMBEDDINGS + TOOL CALLING + ACTIONPROPOSALS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Only Live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Regional Voice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100% GST Native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08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MASTER PLAN EXECUTION TIMELINE: </a:t>
            </a:r>
            <a:r>
              <a:rPr b="1" sz="2400">
                <a:solidFill>
                  <a:srgbClr val="FF5722"/>
                </a:solidFill>
              </a:rPr>
              <a:t>CHENNAI BEACHHEAD TO ₹720 CR ARR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Aggressive geographic and technological scaling from South India's automotive capital to global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83464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61518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YEAR 1 (2026)</a:t>
            </a:r>
            <a:br/>
            <a:r>
              <a:t>₹10 Cr ARR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200 Dealers · 300 Workshops</a:t>
            </a:r>
            <a:br/>
            <a:br/>
            <a:r>
              <a:t>Chennai &amp; Coimbatore launch. Deploy ServicePulse + Tamil Voice. 50 dealer beachhead in 10km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91640"/>
            <a:ext cx="28346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783080"/>
            <a:ext cx="261518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YEAR 2 (2027)</a:t>
            </a:r>
            <a:br/>
            <a:r>
              <a:t>₹30 Cr ARR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800 Dealers · 1,500 Workshops</a:t>
            </a:r>
            <a:br/>
            <a:br/>
            <a:r>
              <a:t>Pan-South expansion (TN, Karnataka, AP, MH). Launch B2B automated parts replenishment with distributors.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91640"/>
            <a:ext cx="28346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783080"/>
            <a:ext cx="261518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YEAR 3 (2028)</a:t>
            </a:r>
            <a:br/>
            <a:r>
              <a:t>₹96 Cr ARR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2,000 Dealers · 4,000 Workshops</a:t>
            </a:r>
            <a:br/>
            <a:br/>
            <a:r>
              <a:t>National expansion via FADA dealer networks (Maruti, Tata, Hyundai). OEM fleet &amp; warranty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691640"/>
            <a:ext cx="2926080" cy="292608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1783080"/>
            <a:ext cx="270662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YEAR 4–5 (2029–30)</a:t>
            </a:r>
            <a:br/>
            <a:r>
              <a:t>₹720 Cr ARR ★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12k Dealers · 25k Workshops</a:t>
            </a:r>
            <a:br/>
            <a:br/>
            <a:r>
              <a:t>Pan-India + SE Asia (ASEAN) &amp; GCC expansion. 39,000 nodes generating ₹340 Cr operating EBITDA.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92040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🤝 Distributor &amp; Parts Flywheel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Aftermarket spare parts distributors co-sponsor AutoEra licenses to secure recurring workshop parts supply.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80060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4892040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🏭 FADA &amp; OEM Network Adoption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Bulk dealer association onboarding for automated GST e-invoicing compliance and unified service quality benchmarks.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80060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4892040"/>
            <a:ext cx="3712463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📲 Grassroots Workshop Virality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Free-tier mobile job card scanner app converts unorganized garages into paid Starter subscribers within 60 days.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995160"/>
            <a:ext cx="12252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7086600"/>
            <a:ext cx="120335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GEOGRAPHIC CLUSTER PROGRESSION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2026: Chennai, Coimbatore, Salem, Madurai (200 Dealers) | 2027: Bengaluru, Hyderabad, Pune, Mumbai (800 Dealers)</a:t>
            </a:r>
            <a:br/>
            <a:r>
              <a:t>• 2028: Delhi-NCR, Ahmedabad, Kolkata, Pan-India (2,000 Dealers) | 2029–30: Jakarta, Bangkok, Dubai, Riyadh (12,000 Dealers)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SCALING VELOCITY: 200 ROOFTOPS IN Y1 ➔ 39,000 AUTOMOTIVE NODES IN 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Year 1: ₹10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Year 3: ₹96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Year 5: ₹720 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09 </a:t>
            </a:r>
            <a:r>
              <a:rPr b="1" sz="1050">
                <a:solidFill>
                  <a:srgbClr val="F8FAFC"/>
                </a:solidFill>
              </a:rPr>
              <a:t>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5-YEAR GROWTH PATH TO ₹720 CRORE ARR: </a:t>
            </a:r>
            <a:r>
              <a:rPr b="1" sz="2400">
                <a:solidFill>
                  <a:srgbClr val="FF5722"/>
                </a:solidFill>
              </a:rPr>
              <a:t>₹340 CR EBITDA (47%)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 operating leverage software model producing exceptional free cash flow and institutional profitability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8346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₹720 Crores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Year 5 ARR (Table 56)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91640"/>
            <a:ext cx="2834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783080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₹340 Crores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Operating EBITDA (47%)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91640"/>
            <a:ext cx="2834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783080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₹380 Crores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Year 5 Total Expenses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691640"/>
            <a:ext cx="2926080" cy="118872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1783080"/>
            <a:ext cx="270662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₹7,200 Cr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Unicorn Value (~$870M)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06324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371600"/>
                <a:gridCol w="10972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Year 5 Amount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SaaS Subscriptions (Starter/Pro/Ent)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₹500 Crores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Transaction Fees (Spares &amp; Ins.)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₹120 Crores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Enterprise Contracts (OEMs &amp; Fleets)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₹80 Crores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AI Usage Fees (Voice &amp; Vision)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₹20 Crores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TOTAL ANNUAL RECURRING REVENUE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₹720 Crores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100% 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49440" y="3063240"/>
          <a:ext cx="6035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18872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Dealers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Workshops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060B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Year 1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₹40 Lakhs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₹10.0 Cr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Year 2 (2027)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₹2.50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₹30.0 Cr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Year 3 (2028)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₹8.00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₹96.0 Cr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Year 4 (2029)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₹25.00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₹300.0 Cr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Year 5 (2030)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₹60.00 Cr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5722"/>
                          </a:solidFill>
                        </a:defRPr>
                      </a:pPr>
                      <a:r>
                        <a:t>₹720.0 Cr ★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31520" y="6537960"/>
            <a:ext cx="12252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629400"/>
            <a:ext cx="1203350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UNICORN VALUATION MATH (MASTER PLAN TABLE 127)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₹720 Crores ARR × 10x Revenue Multiple = ₹7,200 Crores (~$870 Million Enterprise Valuation) upon national dominance and ASEAN/GCC expansion.</a:t>
            </a:r>
            <a:br/>
            <a:r>
              <a:t>Cash Flow Positive from Year 3 onwards with a steady-state 47% Operating EBITDA margin.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FINANCIAL DISCIPLINE: PROFITABLE FROM YEAR 3 ONWARDS · 47% OPERATING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₹340 Cr EBITDA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47%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8.6x LTV:CAC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era_logo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1005840" cy="502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521440" y="182880"/>
            <a:ext cx="2194560" cy="68580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011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800">
                <a:solidFill>
                  <a:srgbClr val="FF5722"/>
                </a:solidFill>
              </a:rPr>
              <a:t>10 </a:t>
            </a:r>
            <a:r>
              <a:rPr b="1" sz="1050">
                <a:solidFill>
                  <a:srgbClr val="F8FAFC"/>
                </a:solidFill>
              </a:rPr>
              <a:t>FINAL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2252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60B18"/>
                </a:solidFill>
              </a:rPr>
              <a:t>SEED ROUND INVESTMENT ASK &amp; ALLOCATION: </a:t>
            </a:r>
            <a:r>
              <a:rPr b="1" sz="2400">
                <a:solidFill>
                  <a:srgbClr val="FF5722"/>
                </a:solidFill>
              </a:rPr>
              <a:t>CATALYZING YEAR 1 (₹10 CR ARR)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Funding the 18-month beachhead expansion, AI mobile technician apps, and B2B spare parts marketplace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931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3712463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STRATEGIC CAPITAL ALLOCATION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40% (₹2.0 Cr) — Mobile App &amp; AI Engineering</a:t>
            </a:r>
            <a:br/>
            <a:r>
              <a:t>• 25% (₹1.25 Cr) — GTM, Dealer Onboarding &amp; Hardware</a:t>
            </a:r>
            <a:br/>
            <a:r>
              <a:t>• 15% (₹0.75 Cr) — Cloud Infra, Security &amp; SLA</a:t>
            </a:r>
            <a:br/>
            <a:r>
              <a:t>• 10% (₹0.50 Cr) — B2B Parts Catalog Integration</a:t>
            </a:r>
            <a:br/>
            <a:r>
              <a:t>• 10% (₹0.50 Cr) — Working Capital &amp; 18-Mo Runway</a:t>
            </a:r>
            <a:br/>
            <a:br/>
            <a:r>
              <a:t>Total Ask: Seed Growth Capital (₹5.0 Cr 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91640"/>
            <a:ext cx="39319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783080"/>
            <a:ext cx="3712463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F5722"/>
                </a:solidFill>
              </a:defRPr>
            </a:pPr>
            <a:r>
              <a:t>WHAT THIS SEED ROUND IGNITES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50 paid flagship dealerships onboarded with verified 4x ROI case study metrics.</a:t>
            </a:r>
            <a:br/>
            <a:br/>
            <a:r>
              <a:t>• B2B Spare Parts Marketplace engine connected to regional aftermarket distributors.</a:t>
            </a:r>
            <a:br/>
            <a:br/>
            <a:r>
              <a:t>• Rapid acceleration to 400 active dealerships generating ₹10 Crore ARR in Year 1.</a:t>
            </a:r>
            <a:br/>
            <a:br/>
            <a:r>
              <a:t>• Institutional Series A readiness ($5M–$8M round) for pan-India expansion.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91640"/>
            <a:ext cx="3931920" cy="493776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783080"/>
            <a:ext cx="3712463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18-MONTH EXECUTION MILESTONES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M1–M3: Commercial Launch &amp; Flagship Deployments</a:t>
            </a:r>
            <a:br/>
            <a:r>
              <a:t>  Deploy first 15 paid dealerships in Coimbatore &amp; Chennai. Mobile tech app live.</a:t>
            </a:r>
            <a:br/>
            <a:br/>
            <a:r>
              <a:t>• M4–M6: 50 Dealerships &amp; Parts Marketplace Beta</a:t>
            </a:r>
            <a:br/>
            <a:r>
              <a:t>  50 paid dealerships operational. Launch automated B2B parts ordering with distributors.</a:t>
            </a:r>
            <a:br/>
            <a:br/>
            <a:r>
              <a:t>• M7–M12: Year 1 Milestone — 400 Dealers</a:t>
            </a:r>
            <a:br/>
            <a:r>
              <a:t>  Scale across TN, Karnataka, Maharashtra. Hit ₹10 Cr ARR.</a:t>
            </a:r>
            <a:br/>
            <a:br/>
            <a:r>
              <a:t>• M13–M18: Series A Readiness ($5M–$8M Round)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812280"/>
            <a:ext cx="12252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6903720"/>
            <a:ext cx="1203350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60B18"/>
                </a:solidFill>
              </a:defRPr>
            </a:pPr>
            <a:r>
              <a:t>SANTHOSH — FOUNDER &amp; CEO | AUTOERA AI SOLUTIONS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AutoEra AI Cloud Platform · Chennai &amp; Coimbatore, Tamil Nadu, India | Email: santhosh@autoera.ai | Web: www.autoera.ai</a:t>
            </a:r>
            <a:br/>
            <a:r>
              <a:t>Join us in building the global operating system for the automotive world.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8275320"/>
            <a:ext cx="12252960" cy="594360"/>
          </a:xfrm>
          <a:prstGeom prst="round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83027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1100">
                <a:solidFill>
                  <a:srgbClr val="F8FAFC"/>
                </a:solidFill>
              </a:rPr>
              <a:t>⚡ JOIN US IN BUILDING THE GLOBAL OPERATING SYSTEM FOR THE AUTOMOTIVE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18-Mo Runway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₹10 Cr Y1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19" y="8302752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050">
                <a:solidFill>
                  <a:srgbClr val="FF5722"/>
                </a:solidFill>
              </a:rPr>
              <a:t>✓ 400 Flagship Dealers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